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3"/>
  </p:notesMasterIdLst>
  <p:sldIdLst>
    <p:sldId id="256" r:id="rId2"/>
    <p:sldId id="316" r:id="rId3"/>
    <p:sldId id="313" r:id="rId4"/>
    <p:sldId id="314" r:id="rId5"/>
    <p:sldId id="315" r:id="rId6"/>
    <p:sldId id="307" r:id="rId7"/>
    <p:sldId id="260" r:id="rId8"/>
    <p:sldId id="261" r:id="rId9"/>
    <p:sldId id="262" r:id="rId10"/>
    <p:sldId id="317" r:id="rId11"/>
    <p:sldId id="259" r:id="rId12"/>
    <p:sldId id="257" r:id="rId13"/>
    <p:sldId id="258" r:id="rId14"/>
    <p:sldId id="308" r:id="rId15"/>
    <p:sldId id="263" r:id="rId16"/>
    <p:sldId id="264" r:id="rId17"/>
    <p:sldId id="267" r:id="rId18"/>
    <p:sldId id="268" r:id="rId19"/>
    <p:sldId id="269" r:id="rId20"/>
    <p:sldId id="309" r:id="rId21"/>
    <p:sldId id="270" r:id="rId22"/>
    <p:sldId id="271" r:id="rId23"/>
    <p:sldId id="272" r:id="rId24"/>
    <p:sldId id="273" r:id="rId25"/>
    <p:sldId id="274" r:id="rId26"/>
    <p:sldId id="278" r:id="rId27"/>
    <p:sldId id="279" r:id="rId28"/>
    <p:sldId id="280" r:id="rId29"/>
    <p:sldId id="281" r:id="rId30"/>
    <p:sldId id="282" r:id="rId31"/>
    <p:sldId id="275" r:id="rId32"/>
    <p:sldId id="276" r:id="rId33"/>
    <p:sldId id="319" r:id="rId34"/>
    <p:sldId id="320" r:id="rId35"/>
    <p:sldId id="321" r:id="rId36"/>
    <p:sldId id="322" r:id="rId37"/>
    <p:sldId id="323" r:id="rId38"/>
    <p:sldId id="324" r:id="rId39"/>
    <p:sldId id="310"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6" r:id="rId53"/>
    <p:sldId id="297" r:id="rId54"/>
    <p:sldId id="300" r:id="rId55"/>
    <p:sldId id="311" r:id="rId56"/>
    <p:sldId id="302" r:id="rId57"/>
    <p:sldId id="303" r:id="rId58"/>
    <p:sldId id="304" r:id="rId59"/>
    <p:sldId id="312" r:id="rId60"/>
    <p:sldId id="305" r:id="rId61"/>
    <p:sldId id="306" r:id="rId6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86" userDrawn="1">
          <p15:clr>
            <a:srgbClr val="A4A3A4"/>
          </p15:clr>
        </p15:guide>
        <p15:guide id="2" pos="2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9DC6"/>
    <a:srgbClr val="A72735"/>
    <a:srgbClr val="1B2F47"/>
    <a:srgbClr val="9A1E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66" d="100"/>
          <a:sy n="66" d="100"/>
        </p:scale>
        <p:origin x="-1389" y="354"/>
      </p:cViewPr>
      <p:guideLst>
        <p:guide orient="horz" pos="686"/>
        <p:guide pos="2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45B455-D479-4BA4-9447-CB56D2F21E2F}" type="datetimeFigureOut">
              <a:rPr lang="zh-CN" altLang="en-US" smtClean="0"/>
              <a:t>2025/11/10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9BD2C2-E355-4E27-90B5-F2B149EC4123}" type="slidenum">
              <a:rPr lang="zh-CN" altLang="en-US" smtClean="0"/>
              <a:t>‹#›</a:t>
            </a:fld>
            <a:endParaRPr lang="zh-CN" altLang="en-US"/>
          </a:p>
        </p:txBody>
      </p:sp>
    </p:spTree>
    <p:extLst>
      <p:ext uri="{BB962C8B-B14F-4D97-AF65-F5344CB8AC3E}">
        <p14:creationId xmlns:p14="http://schemas.microsoft.com/office/powerpoint/2010/main" val="4133492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“golden rescue window” for cardiac arrest lasts only minutes, yet traditional ground transportation faces significant challenges in congested or remote areas.</a:t>
            </a:r>
            <a:endParaRPr lang="zh-CN" altLang="en-US" dirty="0"/>
          </a:p>
        </p:txBody>
      </p:sp>
      <p:sp>
        <p:nvSpPr>
          <p:cNvPr id="4" name="灯片编号占位符 3"/>
          <p:cNvSpPr>
            <a:spLocks noGrp="1"/>
          </p:cNvSpPr>
          <p:nvPr>
            <p:ph type="sldNum" sz="quarter" idx="5"/>
          </p:nvPr>
        </p:nvSpPr>
        <p:spPr/>
        <p:txBody>
          <a:bodyPr/>
          <a:lstStyle/>
          <a:p>
            <a:fld id="{64323D83-711B-4090-9EEF-983B29D1A6F8}" type="slidenum">
              <a:rPr lang="zh-CN" altLang="en-US" smtClean="0"/>
              <a:t>3</a:t>
            </a:fld>
            <a:endParaRPr lang="zh-CN" altLang="en-US"/>
          </a:p>
        </p:txBody>
      </p:sp>
    </p:spTree>
    <p:extLst>
      <p:ext uri="{BB962C8B-B14F-4D97-AF65-F5344CB8AC3E}">
        <p14:creationId xmlns:p14="http://schemas.microsoft.com/office/powerpoint/2010/main" val="3165456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DBBABFB-1322-4E2A-9E97-93D56A4E66C9}" type="datetime1">
              <a:rPr lang="en-GB" altLang="zh-CN" smtClean="0"/>
              <a:t>10/11/2025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p:cNvGrpSpPr/>
          <p:nvPr userDrawn="1"/>
        </p:nvGrpSpPr>
        <p:grpSpPr>
          <a:xfrm>
            <a:off x="464459" y="324756"/>
            <a:ext cx="11099572" cy="377372"/>
            <a:chOff x="464457" y="362856"/>
            <a:chExt cx="11099571" cy="377372"/>
          </a:xfrm>
        </p:grpSpPr>
        <p:sp>
          <p:nvSpPr>
            <p:cNvPr id="8" name="箭头: V 形 21"/>
            <p:cNvSpPr/>
            <p:nvPr/>
          </p:nvSpPr>
          <p:spPr>
            <a:xfrm>
              <a:off x="464457" y="3628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9" name="箭头: V 形 22"/>
            <p:cNvSpPr/>
            <p:nvPr/>
          </p:nvSpPr>
          <p:spPr>
            <a:xfrm>
              <a:off x="745335" y="3628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nvGrpSpPr>
            <p:cNvPr id="11" name="组合 10"/>
            <p:cNvGrpSpPr/>
            <p:nvPr/>
          </p:nvGrpSpPr>
          <p:grpSpPr>
            <a:xfrm>
              <a:off x="11239724" y="468469"/>
              <a:ext cx="324304" cy="187323"/>
              <a:chOff x="9419771" y="-562044"/>
              <a:chExt cx="551543" cy="187323"/>
            </a:xfrm>
          </p:grpSpPr>
          <p:cxnSp>
            <p:nvCxnSpPr>
              <p:cNvPr id="13" name="直接连接符 12"/>
              <p:cNvCxnSpPr/>
              <p:nvPr/>
            </p:nvCxnSpPr>
            <p:spPr>
              <a:xfrm>
                <a:off x="9419771" y="-562044"/>
                <a:ext cx="551543"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9419771" y="-468382"/>
                <a:ext cx="551543"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19771" y="-374721"/>
                <a:ext cx="551543"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AE13A14-DD44-4664-AC28-72B2503AC23C}" type="datetime1">
              <a:rPr lang="en-GB" altLang="zh-CN" smtClean="0"/>
              <a:t>10/11/2025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47863C9-FA05-4EA3-BA27-49B1B05CA8C7}" type="datetime1">
              <a:rPr lang="en-GB" altLang="zh-CN" smtClean="0"/>
              <a:t>10/11/2025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C9BE99F-66B9-4095-9D32-DA30A9EA2243}" type="datetime1">
              <a:rPr lang="en-GB" altLang="zh-CN" smtClean="0"/>
              <a:t>10/11/2025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788C4BD-5C4E-43E6-86DF-8A6C9289936F}" type="datetime1">
              <a:rPr lang="en-GB" altLang="zh-CN" smtClean="0"/>
              <a:t>10/11/2025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10181C6-A30A-44D5-A8C4-4C3847E1502E}" type="datetime1">
              <a:rPr lang="en-GB" altLang="zh-CN" smtClean="0"/>
              <a:t>10/11/2025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8663BE6-22E7-4AA5-B3A8-F14FC56FEC41}" type="datetime1">
              <a:rPr lang="en-GB" altLang="zh-CN" smtClean="0"/>
              <a:t>10/11/2025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C96CF71-6F96-4744-8223-53D5E2E50915}" type="datetime1">
              <a:rPr lang="en-GB" altLang="zh-CN" smtClean="0"/>
              <a:t>10/11/2025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B678008-EF6E-4E80-9B68-A343B8C690FF}" type="datetime1">
              <a:rPr lang="en-GB" altLang="zh-CN" smtClean="0"/>
              <a:t>10/11/2025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706C076-2CD9-4099-826E-E738EA6C07C5}" type="datetime1">
              <a:rPr lang="en-GB" altLang="zh-CN" smtClean="0"/>
              <a:t>10/11/2025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149395-64CA-40FF-BB36-98BBA0C2B276}" type="datetime1">
              <a:rPr lang="en-GB" altLang="zh-CN" smtClean="0"/>
              <a:t>10/11/2025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C93F5F78-5D86-0652-8EE2-60C94ABA0896}"/>
              </a:ext>
            </a:extLst>
          </p:cNvPr>
          <p:cNvGrpSpPr/>
          <p:nvPr userDrawn="1"/>
        </p:nvGrpSpPr>
        <p:grpSpPr>
          <a:xfrm>
            <a:off x="464459" y="324756"/>
            <a:ext cx="11099572" cy="377372"/>
            <a:chOff x="464457" y="362856"/>
            <a:chExt cx="11099571" cy="377372"/>
          </a:xfrm>
        </p:grpSpPr>
        <p:sp>
          <p:nvSpPr>
            <p:cNvPr id="8" name="箭头: V 形 21">
              <a:extLst>
                <a:ext uri="{FF2B5EF4-FFF2-40B4-BE49-F238E27FC236}">
                  <a16:creationId xmlns:a16="http://schemas.microsoft.com/office/drawing/2014/main" id="{4F7D47B8-D52B-F3A6-808A-3723AEB8177F}"/>
                </a:ext>
              </a:extLst>
            </p:cNvPr>
            <p:cNvSpPr/>
            <p:nvPr/>
          </p:nvSpPr>
          <p:spPr>
            <a:xfrm>
              <a:off x="464457" y="3628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9" name="箭头: V 形 22">
              <a:extLst>
                <a:ext uri="{FF2B5EF4-FFF2-40B4-BE49-F238E27FC236}">
                  <a16:creationId xmlns:a16="http://schemas.microsoft.com/office/drawing/2014/main" id="{D2EFFC43-763F-0E85-E505-57A4E00A7EF8}"/>
                </a:ext>
              </a:extLst>
            </p:cNvPr>
            <p:cNvSpPr/>
            <p:nvPr/>
          </p:nvSpPr>
          <p:spPr>
            <a:xfrm>
              <a:off x="745335" y="3628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nvGrpSpPr>
            <p:cNvPr id="11" name="组合 10">
              <a:extLst>
                <a:ext uri="{FF2B5EF4-FFF2-40B4-BE49-F238E27FC236}">
                  <a16:creationId xmlns:a16="http://schemas.microsoft.com/office/drawing/2014/main" id="{BF81334D-127B-3C31-2D07-445C31F8BB32}"/>
                </a:ext>
              </a:extLst>
            </p:cNvPr>
            <p:cNvGrpSpPr/>
            <p:nvPr/>
          </p:nvGrpSpPr>
          <p:grpSpPr>
            <a:xfrm>
              <a:off x="11239724" y="468469"/>
              <a:ext cx="324304" cy="187323"/>
              <a:chOff x="9419771" y="-562044"/>
              <a:chExt cx="551543" cy="187323"/>
            </a:xfrm>
          </p:grpSpPr>
          <p:cxnSp>
            <p:nvCxnSpPr>
              <p:cNvPr id="13" name="直接连接符 12">
                <a:extLst>
                  <a:ext uri="{FF2B5EF4-FFF2-40B4-BE49-F238E27FC236}">
                    <a16:creationId xmlns:a16="http://schemas.microsoft.com/office/drawing/2014/main" id="{2F789B8A-AD30-5FA9-754D-0BBD4989F464}"/>
                  </a:ext>
                </a:extLst>
              </p:cNvPr>
              <p:cNvCxnSpPr/>
              <p:nvPr/>
            </p:nvCxnSpPr>
            <p:spPr>
              <a:xfrm>
                <a:off x="9419771" y="-562044"/>
                <a:ext cx="551543"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8324004-DAA2-1E50-57FD-27EDC2959C4E}"/>
                  </a:ext>
                </a:extLst>
              </p:cNvPr>
              <p:cNvCxnSpPr/>
              <p:nvPr/>
            </p:nvCxnSpPr>
            <p:spPr>
              <a:xfrm>
                <a:off x="9419771" y="-468382"/>
                <a:ext cx="551543"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F447D3F-777B-44F4-2118-B297E7F9C5A3}"/>
                  </a:ext>
                </a:extLst>
              </p:cNvPr>
              <p:cNvCxnSpPr/>
              <p:nvPr/>
            </p:nvCxnSpPr>
            <p:spPr>
              <a:xfrm>
                <a:off x="9419771" y="-374721"/>
                <a:ext cx="551543" cy="0"/>
              </a:xfrm>
              <a:prstGeom prst="line">
                <a:avLst/>
              </a:prstGeom>
              <a:ln w="28575" cap="rnd">
                <a:solidFill>
                  <a:schemeClr val="tx1">
                    <a:lumMod val="50000"/>
                    <a:lumOff val="50000"/>
                  </a:schemeClr>
                </a:solidFill>
                <a:roun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692422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0CEE1A-6EF4-4C93-91A4-1259E2FAE3FE}" type="datetime1">
              <a:rPr lang="en-GB" altLang="zh-CN" smtClean="0"/>
              <a:t>10/11/2025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8.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9E7A60EC-AF3C-2D7D-5E7C-C2827C74C5ED}"/>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t="7813" b="7813"/>
          <a:stretch/>
        </p:blipFill>
        <p:spPr>
          <a:xfrm>
            <a:off x="0" y="0"/>
            <a:ext cx="12192000" cy="6858000"/>
          </a:xfrm>
          <a:prstGeom prst="rect">
            <a:avLst/>
          </a:prstGeom>
        </p:spPr>
      </p:pic>
      <p:sp>
        <p:nvSpPr>
          <p:cNvPr id="11" name="矩形 10">
            <a:extLst>
              <a:ext uri="{FF2B5EF4-FFF2-40B4-BE49-F238E27FC236}">
                <a16:creationId xmlns:a16="http://schemas.microsoft.com/office/drawing/2014/main" id="{31D41624-B77E-BADE-6FEE-5ACAFAA2927C}"/>
              </a:ext>
            </a:extLst>
          </p:cNvPr>
          <p:cNvSpPr/>
          <p:nvPr/>
        </p:nvSpPr>
        <p:spPr>
          <a:xfrm>
            <a:off x="0" y="0"/>
            <a:ext cx="12191999" cy="6858000"/>
          </a:xfrm>
          <a:prstGeom prst="rect">
            <a:avLst/>
          </a:prstGeom>
          <a:gradFill flip="none" rotWithShape="1">
            <a:gsLst>
              <a:gs pos="0">
                <a:schemeClr val="bg1"/>
              </a:gs>
              <a:gs pos="100000">
                <a:schemeClr val="bg1">
                  <a:alpha val="16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p:cNvSpPr>
            <a:spLocks noGrp="1"/>
          </p:cNvSpPr>
          <p:nvPr>
            <p:ph type="ctrTitle"/>
          </p:nvPr>
        </p:nvSpPr>
        <p:spPr>
          <a:xfrm>
            <a:off x="-1" y="2964139"/>
            <a:ext cx="12192000" cy="929722"/>
          </a:xfrm>
        </p:spPr>
        <p:txBody>
          <a:bodyPr>
            <a:noAutofit/>
          </a:bodyPr>
          <a:lstStyle/>
          <a:p>
            <a:pPr>
              <a:lnSpc>
                <a:spcPct val="150000"/>
              </a:lnSpc>
            </a:pPr>
            <a:r>
              <a:rPr lang="en-US" altLang="zh-CN" sz="2400" b="1" kern="0" dirty="0">
                <a:solidFill>
                  <a:schemeClr val="tx1">
                    <a:lumMod val="95000"/>
                    <a:lumOff val="5000"/>
                  </a:schemeClr>
                </a:solidFill>
                <a:effectLst/>
                <a:latin typeface="+mj-ea"/>
                <a:cs typeface="Arial" panose="020B0604020202020204" pitchFamily="34" charset="0"/>
              </a:rPr>
              <a:t>SORA 2.5 for Emergency BVLOS SUA Operations between </a:t>
            </a:r>
            <a:br>
              <a:rPr lang="en-US" altLang="zh-CN" sz="2400" b="1" kern="0" dirty="0">
                <a:solidFill>
                  <a:schemeClr val="tx1">
                    <a:lumMod val="95000"/>
                    <a:lumOff val="5000"/>
                  </a:schemeClr>
                </a:solidFill>
                <a:effectLst/>
                <a:latin typeface="+mj-ea"/>
                <a:cs typeface="Arial" panose="020B0604020202020204" pitchFamily="34" charset="0"/>
              </a:rPr>
            </a:br>
            <a:r>
              <a:rPr lang="en-US" altLang="zh-CN" sz="2400" b="1" kern="0" dirty="0">
                <a:solidFill>
                  <a:schemeClr val="tx1">
                    <a:lumMod val="95000"/>
                    <a:lumOff val="5000"/>
                  </a:schemeClr>
                </a:solidFill>
                <a:effectLst/>
                <a:latin typeface="+mj-ea"/>
                <a:cs typeface="Arial" panose="020B0604020202020204" pitchFamily="34" charset="0"/>
              </a:rPr>
              <a:t>Tseung Kwun O Hospital and Sai Kung Area</a:t>
            </a:r>
            <a:endParaRPr lang="zh-CN" altLang="en-US" dirty="0">
              <a:solidFill>
                <a:schemeClr val="tx1">
                  <a:lumMod val="95000"/>
                  <a:lumOff val="5000"/>
                </a:schemeClr>
              </a:solidFill>
              <a:latin typeface="+mj-ea"/>
            </a:endParaRPr>
          </a:p>
        </p:txBody>
      </p:sp>
      <p:sp>
        <p:nvSpPr>
          <p:cNvPr id="5" name="文本框 4">
            <a:extLst>
              <a:ext uri="{FF2B5EF4-FFF2-40B4-BE49-F238E27FC236}">
                <a16:creationId xmlns:a16="http://schemas.microsoft.com/office/drawing/2014/main" id="{E744C1BB-AAAF-8D2A-C7D1-3C474E8E47F7}"/>
              </a:ext>
            </a:extLst>
          </p:cNvPr>
          <p:cNvSpPr txBox="1"/>
          <p:nvPr/>
        </p:nvSpPr>
        <p:spPr>
          <a:xfrm>
            <a:off x="9201752" y="4017351"/>
            <a:ext cx="2990248" cy="2840649"/>
          </a:xfrm>
          <a:prstGeom prst="rect">
            <a:avLst/>
          </a:prstGeom>
          <a:noFill/>
        </p:spPr>
        <p:txBody>
          <a:bodyPr wrap="square" rtlCol="0">
            <a:spAutoFit/>
          </a:bodyPr>
          <a:lstStyle/>
          <a:p>
            <a:pPr algn="r">
              <a:lnSpc>
                <a:spcPts val="1800"/>
              </a:lnSpc>
            </a:pPr>
            <a:r>
              <a:rPr lang="en-US" altLang="zh-CN" sz="1200" b="1" dirty="0">
                <a:latin typeface="Times New Roman" panose="02020603050405020304" pitchFamily="18" charset="0"/>
                <a:cs typeface="Times New Roman" panose="02020603050405020304" pitchFamily="18" charset="0"/>
              </a:rPr>
              <a:t>Group 4</a:t>
            </a:r>
          </a:p>
          <a:p>
            <a:pPr algn="r">
              <a:lnSpc>
                <a:spcPts val="1800"/>
              </a:lnSpc>
            </a:pPr>
            <a:r>
              <a:rPr lang="en-US" altLang="zh-CN" sz="1200" b="1" dirty="0" err="1">
                <a:latin typeface="Times New Roman" panose="02020603050405020304" pitchFamily="18" charset="0"/>
                <a:cs typeface="Times New Roman" panose="02020603050405020304" pitchFamily="18" charset="0"/>
              </a:rPr>
              <a:t>Ziyi</a:t>
            </a:r>
            <a:r>
              <a:rPr lang="en-US" altLang="zh-CN" sz="1200" b="1" dirty="0">
                <a:latin typeface="Times New Roman" panose="02020603050405020304" pitchFamily="18" charset="0"/>
                <a:cs typeface="Times New Roman" panose="02020603050405020304" pitchFamily="18" charset="0"/>
              </a:rPr>
              <a:t> Huang  25052005g</a:t>
            </a:r>
          </a:p>
          <a:p>
            <a:pPr algn="r">
              <a:lnSpc>
                <a:spcPts val="1800"/>
              </a:lnSpc>
            </a:pPr>
            <a:r>
              <a:rPr lang="en-US" altLang="zh-CN" sz="1200" b="1" dirty="0" err="1">
                <a:latin typeface="Times New Roman" panose="02020603050405020304" pitchFamily="18" charset="0"/>
                <a:cs typeface="Times New Roman" panose="02020603050405020304" pitchFamily="18" charset="0"/>
              </a:rPr>
              <a:t>Peijun</a:t>
            </a:r>
            <a:r>
              <a:rPr lang="en-US" altLang="zh-CN" sz="1200" b="1" dirty="0">
                <a:latin typeface="Times New Roman" panose="02020603050405020304" pitchFamily="18" charset="0"/>
                <a:cs typeface="Times New Roman" panose="02020603050405020304" pitchFamily="18" charset="0"/>
              </a:rPr>
              <a:t> Zhao 25093525g</a:t>
            </a:r>
          </a:p>
          <a:p>
            <a:pPr algn="r">
              <a:lnSpc>
                <a:spcPts val="1800"/>
              </a:lnSpc>
            </a:pPr>
            <a:r>
              <a:rPr lang="en-US" altLang="zh-CN" sz="1200" b="1" dirty="0" err="1">
                <a:latin typeface="Times New Roman" panose="02020603050405020304" pitchFamily="18" charset="0"/>
                <a:cs typeface="Times New Roman" panose="02020603050405020304" pitchFamily="18" charset="0"/>
              </a:rPr>
              <a:t>Zongru</a:t>
            </a:r>
            <a:r>
              <a:rPr lang="en-US" altLang="zh-CN" sz="1200" b="1" dirty="0">
                <a:latin typeface="Times New Roman" panose="02020603050405020304" pitchFamily="18" charset="0"/>
                <a:cs typeface="Times New Roman" panose="02020603050405020304" pitchFamily="18" charset="0"/>
              </a:rPr>
              <a:t> Fu 25098984g</a:t>
            </a:r>
          </a:p>
          <a:p>
            <a:pPr algn="r">
              <a:lnSpc>
                <a:spcPts val="1800"/>
              </a:lnSpc>
            </a:pPr>
            <a:r>
              <a:rPr lang="en-US" altLang="zh-CN" sz="1200" b="1" dirty="0" err="1">
                <a:latin typeface="Times New Roman" panose="02020603050405020304" pitchFamily="18" charset="0"/>
                <a:cs typeface="Times New Roman" panose="02020603050405020304" pitchFamily="18" charset="0"/>
              </a:rPr>
              <a:t>Xiaohan</a:t>
            </a:r>
            <a:r>
              <a:rPr lang="en-US" altLang="zh-CN" sz="1200" b="1" dirty="0">
                <a:latin typeface="Times New Roman" panose="02020603050405020304" pitchFamily="18" charset="0"/>
                <a:cs typeface="Times New Roman" panose="02020603050405020304" pitchFamily="18" charset="0"/>
              </a:rPr>
              <a:t> Wang 25047428g</a:t>
            </a:r>
          </a:p>
          <a:p>
            <a:pPr algn="r">
              <a:lnSpc>
                <a:spcPts val="1800"/>
              </a:lnSpc>
            </a:pPr>
            <a:r>
              <a:rPr lang="en-US" altLang="zh-CN" sz="1200" b="1" dirty="0" err="1">
                <a:latin typeface="Times New Roman" panose="02020603050405020304" pitchFamily="18" charset="0"/>
                <a:cs typeface="Times New Roman" panose="02020603050405020304" pitchFamily="18" charset="0"/>
              </a:rPr>
              <a:t>Daizhe</a:t>
            </a:r>
            <a:r>
              <a:rPr lang="en-US" altLang="zh-CN" sz="1200" b="1" dirty="0">
                <a:latin typeface="Times New Roman" panose="02020603050405020304" pitchFamily="18" charset="0"/>
                <a:cs typeface="Times New Roman" panose="02020603050405020304" pitchFamily="18" charset="0"/>
              </a:rPr>
              <a:t> Wu 25039582g</a:t>
            </a:r>
          </a:p>
          <a:p>
            <a:pPr algn="r">
              <a:lnSpc>
                <a:spcPts val="1800"/>
              </a:lnSpc>
            </a:pPr>
            <a:r>
              <a:rPr lang="en-US" altLang="zh-CN" sz="1200" b="1" dirty="0">
                <a:latin typeface="Times New Roman" panose="02020603050405020304" pitchFamily="18" charset="0"/>
                <a:cs typeface="Times New Roman" panose="02020603050405020304" pitchFamily="18" charset="0"/>
              </a:rPr>
              <a:t>Hao Wang 25117594g</a:t>
            </a:r>
          </a:p>
          <a:p>
            <a:pPr algn="r">
              <a:lnSpc>
                <a:spcPts val="1800"/>
              </a:lnSpc>
            </a:pPr>
            <a:r>
              <a:rPr lang="en-US" altLang="zh-CN" sz="1200" b="1" dirty="0">
                <a:latin typeface="Times New Roman" panose="02020603050405020304" pitchFamily="18" charset="0"/>
                <a:cs typeface="Times New Roman" panose="02020603050405020304" pitchFamily="18" charset="0"/>
              </a:rPr>
              <a:t>Jiaming Sun 25043507g</a:t>
            </a:r>
          </a:p>
          <a:p>
            <a:pPr algn="r">
              <a:lnSpc>
                <a:spcPts val="1800"/>
              </a:lnSpc>
            </a:pPr>
            <a:r>
              <a:rPr lang="en-US" altLang="zh-CN" sz="1200" b="1" dirty="0" err="1">
                <a:latin typeface="Times New Roman" panose="02020603050405020304" pitchFamily="18" charset="0"/>
                <a:cs typeface="Times New Roman" panose="02020603050405020304" pitchFamily="18" charset="0"/>
              </a:rPr>
              <a:t>Zhongtian</a:t>
            </a:r>
            <a:r>
              <a:rPr lang="en-US" altLang="zh-CN" sz="1200" b="1" dirty="0">
                <a:latin typeface="Times New Roman" panose="02020603050405020304" pitchFamily="18" charset="0"/>
                <a:cs typeface="Times New Roman" panose="02020603050405020304" pitchFamily="18" charset="0"/>
              </a:rPr>
              <a:t> Xie 25041039g</a:t>
            </a:r>
          </a:p>
          <a:p>
            <a:pPr algn="r">
              <a:lnSpc>
                <a:spcPts val="1800"/>
              </a:lnSpc>
            </a:pPr>
            <a:r>
              <a:rPr lang="en-US" altLang="zh-CN" sz="1200" b="1" dirty="0" err="1">
                <a:latin typeface="Times New Roman" panose="02020603050405020304" pitchFamily="18" charset="0"/>
                <a:cs typeface="Times New Roman" panose="02020603050405020304" pitchFamily="18" charset="0"/>
              </a:rPr>
              <a:t>Yixuan</a:t>
            </a:r>
            <a:r>
              <a:rPr lang="en-US" altLang="zh-CN" sz="1200" b="1" dirty="0">
                <a:latin typeface="Times New Roman" panose="02020603050405020304" pitchFamily="18" charset="0"/>
                <a:cs typeface="Times New Roman" panose="02020603050405020304" pitchFamily="18" charset="0"/>
              </a:rPr>
              <a:t> Yan 25107505g</a:t>
            </a:r>
          </a:p>
          <a:p>
            <a:pPr algn="r">
              <a:lnSpc>
                <a:spcPts val="1800"/>
              </a:lnSpc>
            </a:pPr>
            <a:r>
              <a:rPr lang="en-US" altLang="zh-CN" sz="1200" b="1" dirty="0" err="1">
                <a:latin typeface="Times New Roman" panose="02020603050405020304" pitchFamily="18" charset="0"/>
                <a:cs typeface="Times New Roman" panose="02020603050405020304" pitchFamily="18" charset="0"/>
              </a:rPr>
              <a:t>Yuwen</a:t>
            </a:r>
            <a:r>
              <a:rPr lang="en-US" altLang="zh-CN" sz="1200" b="1" dirty="0">
                <a:latin typeface="Times New Roman" panose="02020603050405020304" pitchFamily="18" charset="0"/>
                <a:cs typeface="Times New Roman" panose="02020603050405020304" pitchFamily="18" charset="0"/>
              </a:rPr>
              <a:t> Zeng 25050497g</a:t>
            </a:r>
          </a:p>
          <a:p>
            <a:pPr algn="r">
              <a:lnSpc>
                <a:spcPts val="1800"/>
              </a:lnSpc>
            </a:pPr>
            <a:r>
              <a:rPr lang="en-US" altLang="zh-CN" sz="1200" b="1" dirty="0">
                <a:latin typeface="Times New Roman" panose="02020603050405020304" pitchFamily="18" charset="0"/>
                <a:cs typeface="Times New Roman" panose="02020603050405020304" pitchFamily="18" charset="0"/>
              </a:rPr>
              <a:t>(Arranged in order of presentation)</a:t>
            </a:r>
            <a:endParaRPr lang="zh-CN" altLang="en-US" sz="1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8864DCF-51AF-4FC8-468A-8E5BFD7D6FA6}"/>
              </a:ext>
            </a:extLst>
          </p:cNvPr>
          <p:cNvGrpSpPr/>
          <p:nvPr/>
        </p:nvGrpSpPr>
        <p:grpSpPr>
          <a:xfrm>
            <a:off x="7603197" y="3519982"/>
            <a:ext cx="642484" cy="377372"/>
            <a:chOff x="464459" y="324756"/>
            <a:chExt cx="642484" cy="377372"/>
          </a:xfrm>
        </p:grpSpPr>
        <p:sp>
          <p:nvSpPr>
            <p:cNvPr id="3" name="箭头: V 形 21">
              <a:extLst>
                <a:ext uri="{FF2B5EF4-FFF2-40B4-BE49-F238E27FC236}">
                  <a16:creationId xmlns:a16="http://schemas.microsoft.com/office/drawing/2014/main" id="{50D6E525-28AB-733A-C42C-899E995183A9}"/>
                </a:ext>
              </a:extLst>
            </p:cNvPr>
            <p:cNvSpPr/>
            <p:nvPr/>
          </p:nvSpPr>
          <p:spPr>
            <a:xfrm>
              <a:off x="464459" y="3247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5" name="箭头: V 形 22">
              <a:extLst>
                <a:ext uri="{FF2B5EF4-FFF2-40B4-BE49-F238E27FC236}">
                  <a16:creationId xmlns:a16="http://schemas.microsoft.com/office/drawing/2014/main" id="{A9B4810C-A721-96DB-43BD-1D8006FFF3A2}"/>
                </a:ext>
              </a:extLst>
            </p:cNvPr>
            <p:cNvSpPr/>
            <p:nvPr/>
          </p:nvSpPr>
          <p:spPr>
            <a:xfrm>
              <a:off x="745337" y="3247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sp>
        <p:nvSpPr>
          <p:cNvPr id="6" name="标题 1">
            <a:extLst>
              <a:ext uri="{FF2B5EF4-FFF2-40B4-BE49-F238E27FC236}">
                <a16:creationId xmlns:a16="http://schemas.microsoft.com/office/drawing/2014/main" id="{F0A3F244-D478-C45C-124C-D8E5BF4B51D3}"/>
              </a:ext>
            </a:extLst>
          </p:cNvPr>
          <p:cNvSpPr txBox="1">
            <a:spLocks/>
          </p:cNvSpPr>
          <p:nvPr/>
        </p:nvSpPr>
        <p:spPr>
          <a:xfrm>
            <a:off x="8367319" y="3429000"/>
            <a:ext cx="3824681" cy="5448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Project Background</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7" name="TextBox 7">
            <a:extLst>
              <a:ext uri="{FF2B5EF4-FFF2-40B4-BE49-F238E27FC236}">
                <a16:creationId xmlns:a16="http://schemas.microsoft.com/office/drawing/2014/main" id="{275D4338-B817-920E-ACD0-AF7B7A8DF9C9}"/>
              </a:ext>
            </a:extLst>
          </p:cNvPr>
          <p:cNvSpPr txBox="1"/>
          <p:nvPr/>
        </p:nvSpPr>
        <p:spPr>
          <a:xfrm>
            <a:off x="8770109" y="3897354"/>
            <a:ext cx="2396810" cy="348813"/>
          </a:xfrm>
          <a:prstGeom prst="rect">
            <a:avLst/>
          </a:prstGeom>
          <a:noFill/>
        </p:spPr>
        <p:txBody>
          <a:bodyPr wrap="none" rtlCol="0">
            <a:spAutoFit/>
          </a:bodyPr>
          <a:lstStyle/>
          <a:p>
            <a:pPr algn="r">
              <a:lnSpc>
                <a:spcPts val="2000"/>
              </a:lnSpc>
            </a:pPr>
            <a:r>
              <a:rPr lang="en-US" altLang="zh-CN" dirty="0" err="1">
                <a:latin typeface="Times New Roman" panose="02020603050405020304" pitchFamily="18" charset="0"/>
                <a:cs typeface="Times New Roman" panose="02020603050405020304" pitchFamily="18" charset="0"/>
              </a:rPr>
              <a:t>Ziyi</a:t>
            </a:r>
            <a:r>
              <a:rPr lang="en-US" altLang="zh-CN" dirty="0">
                <a:latin typeface="Times New Roman" panose="02020603050405020304" pitchFamily="18" charset="0"/>
                <a:cs typeface="Times New Roman" panose="02020603050405020304" pitchFamily="18" charset="0"/>
              </a:rPr>
              <a:t> Huang  25052005g</a:t>
            </a:r>
          </a:p>
        </p:txBody>
      </p:sp>
      <p:sp>
        <p:nvSpPr>
          <p:cNvPr id="8" name="标题 1">
            <a:extLst>
              <a:ext uri="{FF2B5EF4-FFF2-40B4-BE49-F238E27FC236}">
                <a16:creationId xmlns:a16="http://schemas.microsoft.com/office/drawing/2014/main" id="{359A6594-8F6A-3C43-8177-43C2803724A6}"/>
              </a:ext>
            </a:extLst>
          </p:cNvPr>
          <p:cNvSpPr txBox="1">
            <a:spLocks/>
          </p:cNvSpPr>
          <p:nvPr/>
        </p:nvSpPr>
        <p:spPr>
          <a:xfrm>
            <a:off x="6573795" y="3461714"/>
            <a:ext cx="1075544" cy="512125"/>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Part I</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450845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B6AC3E5E-94F1-17F4-BA1A-810997C69DDB}"/>
              </a:ext>
            </a:extLst>
          </p:cNvPr>
          <p:cNvSpPr txBox="1">
            <a:spLocks/>
          </p:cNvSpPr>
          <p:nvPr/>
        </p:nvSpPr>
        <p:spPr>
          <a:xfrm>
            <a:off x="1091756" y="206128"/>
            <a:ext cx="2941597"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Value of the project</a:t>
            </a:r>
            <a:endParaRPr lang="en-GB" dirty="0"/>
          </a:p>
        </p:txBody>
      </p:sp>
      <p:sp>
        <p:nvSpPr>
          <p:cNvPr id="6" name="文本框 5">
            <a:extLst>
              <a:ext uri="{FF2B5EF4-FFF2-40B4-BE49-F238E27FC236}">
                <a16:creationId xmlns:a16="http://schemas.microsoft.com/office/drawing/2014/main" id="{152DB24C-C781-AF04-44CB-B24CCE4C4281}"/>
              </a:ext>
            </a:extLst>
          </p:cNvPr>
          <p:cNvSpPr txBox="1"/>
          <p:nvPr/>
        </p:nvSpPr>
        <p:spPr>
          <a:xfrm>
            <a:off x="567068" y="978780"/>
            <a:ext cx="8913815" cy="400110"/>
          </a:xfrm>
          <a:prstGeom prst="rect">
            <a:avLst/>
          </a:prstGeom>
          <a:noFill/>
        </p:spPr>
        <p:txBody>
          <a:bodyPr wrap="square">
            <a:spAutoFit/>
          </a:bodyPr>
          <a:lstStyle/>
          <a:p>
            <a:r>
              <a:rPr lang="en-US" altLang="zh-CN" sz="2000" b="1" i="0" dirty="0">
                <a:effectLst/>
                <a:latin typeface="Times New Roman" panose="02020603050405020304" pitchFamily="18" charset="0"/>
                <a:cs typeface="Times New Roman" panose="02020603050405020304" pitchFamily="18" charset="0"/>
              </a:rPr>
              <a:t>Saving Lives with Drones:  A Next-Gen Emergency Response Solution</a:t>
            </a:r>
            <a:endParaRPr lang="zh-CN" altLang="en-US" sz="2000" dirty="0">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8F09F496-5141-E22D-B975-B5500CCBA4DE}"/>
              </a:ext>
            </a:extLst>
          </p:cNvPr>
          <p:cNvPicPr>
            <a:picLocks noChangeAspect="1"/>
          </p:cNvPicPr>
          <p:nvPr/>
        </p:nvPicPr>
        <p:blipFill>
          <a:blip r:embed="rId3"/>
          <a:stretch>
            <a:fillRect/>
          </a:stretch>
        </p:blipFill>
        <p:spPr>
          <a:xfrm>
            <a:off x="972677" y="3374405"/>
            <a:ext cx="4097554" cy="2774601"/>
          </a:xfrm>
          <a:prstGeom prst="rect">
            <a:avLst/>
          </a:prstGeom>
        </p:spPr>
      </p:pic>
      <p:pic>
        <p:nvPicPr>
          <p:cNvPr id="11" name="图片 10">
            <a:extLst>
              <a:ext uri="{FF2B5EF4-FFF2-40B4-BE49-F238E27FC236}">
                <a16:creationId xmlns:a16="http://schemas.microsoft.com/office/drawing/2014/main" id="{8BFF62C9-88FF-59B5-C225-E13DD0A3E542}"/>
              </a:ext>
            </a:extLst>
          </p:cNvPr>
          <p:cNvPicPr>
            <a:picLocks noChangeAspect="1"/>
          </p:cNvPicPr>
          <p:nvPr/>
        </p:nvPicPr>
        <p:blipFill>
          <a:blip r:embed="rId4"/>
          <a:stretch>
            <a:fillRect/>
          </a:stretch>
        </p:blipFill>
        <p:spPr>
          <a:xfrm>
            <a:off x="6866189" y="3374405"/>
            <a:ext cx="4261642" cy="2774601"/>
          </a:xfrm>
          <a:prstGeom prst="rect">
            <a:avLst/>
          </a:prstGeom>
        </p:spPr>
      </p:pic>
      <p:sp>
        <p:nvSpPr>
          <p:cNvPr id="14" name="文本框 13">
            <a:extLst>
              <a:ext uri="{FF2B5EF4-FFF2-40B4-BE49-F238E27FC236}">
                <a16:creationId xmlns:a16="http://schemas.microsoft.com/office/drawing/2014/main" id="{613E4D94-73AA-3628-6799-4BDB7A2AE267}"/>
              </a:ext>
            </a:extLst>
          </p:cNvPr>
          <p:cNvSpPr txBox="1"/>
          <p:nvPr/>
        </p:nvSpPr>
        <p:spPr>
          <a:xfrm>
            <a:off x="6866190" y="6149006"/>
            <a:ext cx="4261641" cy="584775"/>
          </a:xfrm>
          <a:prstGeom prst="rect">
            <a:avLst/>
          </a:prstGeom>
          <a:noFill/>
        </p:spPr>
        <p:txBody>
          <a:bodyPr wrap="square">
            <a:spAutoFit/>
          </a:bodyPr>
          <a:lstStyle/>
          <a:p>
            <a:r>
              <a:rPr lang="en-US" altLang="zh-CN" sz="1600" i="0" dirty="0">
                <a:effectLst/>
                <a:latin typeface="+mn-ea"/>
              </a:rPr>
              <a:t>Drone carrying AED create an emergency air corridor </a:t>
            </a:r>
            <a:r>
              <a:rPr lang="en-US" altLang="zh-CN" sz="1600" dirty="0">
                <a:latin typeface="+mn-ea"/>
              </a:rPr>
              <a:t>in</a:t>
            </a:r>
            <a:r>
              <a:rPr lang="zh-CN" altLang="en-US" sz="1600" dirty="0">
                <a:latin typeface="+mn-ea"/>
              </a:rPr>
              <a:t> </a:t>
            </a:r>
            <a:r>
              <a:rPr lang="en-US" altLang="zh-CN" sz="1600" i="0" dirty="0">
                <a:effectLst/>
                <a:latin typeface="+mn-ea"/>
              </a:rPr>
              <a:t>Zhejiang </a:t>
            </a:r>
            <a:endParaRPr lang="zh-CN" altLang="en-US" sz="1600" dirty="0">
              <a:latin typeface="+mn-ea"/>
            </a:endParaRPr>
          </a:p>
        </p:txBody>
      </p:sp>
      <p:sp>
        <p:nvSpPr>
          <p:cNvPr id="15" name="文本框 14">
            <a:extLst>
              <a:ext uri="{FF2B5EF4-FFF2-40B4-BE49-F238E27FC236}">
                <a16:creationId xmlns:a16="http://schemas.microsoft.com/office/drawing/2014/main" id="{34824BBD-9B62-2FD6-CD19-29C9C4704CC4}"/>
              </a:ext>
            </a:extLst>
          </p:cNvPr>
          <p:cNvSpPr txBox="1"/>
          <p:nvPr/>
        </p:nvSpPr>
        <p:spPr>
          <a:xfrm>
            <a:off x="730043" y="6223526"/>
            <a:ext cx="4927462" cy="369332"/>
          </a:xfrm>
          <a:prstGeom prst="rect">
            <a:avLst/>
          </a:prstGeom>
          <a:noFill/>
        </p:spPr>
        <p:txBody>
          <a:bodyPr wrap="square">
            <a:spAutoFit/>
          </a:bodyPr>
          <a:lstStyle/>
          <a:p>
            <a:r>
              <a:rPr lang="en-US" altLang="zh-CN" dirty="0">
                <a:latin typeface="quote-cjk-patch"/>
              </a:rPr>
              <a:t>Drone delivery of medical supplies in Wulumuqi</a:t>
            </a:r>
            <a:endParaRPr lang="zh-CN" altLang="en-US" dirty="0"/>
          </a:p>
        </p:txBody>
      </p:sp>
      <p:sp>
        <p:nvSpPr>
          <p:cNvPr id="17" name="文本框 16">
            <a:extLst>
              <a:ext uri="{FF2B5EF4-FFF2-40B4-BE49-F238E27FC236}">
                <a16:creationId xmlns:a16="http://schemas.microsoft.com/office/drawing/2014/main" id="{70FC815D-DC97-ED1C-7C9F-3C91F4CDAD78}"/>
              </a:ext>
            </a:extLst>
          </p:cNvPr>
          <p:cNvSpPr txBox="1"/>
          <p:nvPr/>
        </p:nvSpPr>
        <p:spPr>
          <a:xfrm>
            <a:off x="567069" y="1638889"/>
            <a:ext cx="6096000" cy="369332"/>
          </a:xfrm>
          <a:prstGeom prst="rect">
            <a:avLst/>
          </a:prstGeom>
          <a:noFill/>
        </p:spPr>
        <p:txBody>
          <a:bodyPr wrap="square">
            <a:spAutoFit/>
          </a:bodyPr>
          <a:lstStyle/>
          <a:p>
            <a:r>
              <a:rPr lang="zh-CN" altLang="en-US" dirty="0"/>
              <a:t>Challenge</a:t>
            </a:r>
            <a:r>
              <a:rPr lang="en-US" altLang="zh-CN" dirty="0"/>
              <a:t>: </a:t>
            </a:r>
            <a:r>
              <a:rPr lang="en-US" altLang="zh-CN" b="1" dirty="0"/>
              <a:t>“Golden rescue window” </a:t>
            </a:r>
            <a:r>
              <a:rPr lang="en-US" altLang="zh-CN" dirty="0"/>
              <a:t>for cardiac arrest</a:t>
            </a:r>
            <a:endParaRPr lang="zh-CN" altLang="en-US" dirty="0"/>
          </a:p>
        </p:txBody>
      </p:sp>
      <p:sp>
        <p:nvSpPr>
          <p:cNvPr id="19" name="文本框 18">
            <a:extLst>
              <a:ext uri="{FF2B5EF4-FFF2-40B4-BE49-F238E27FC236}">
                <a16:creationId xmlns:a16="http://schemas.microsoft.com/office/drawing/2014/main" id="{8F7F7149-E0D6-C10D-33FD-7998EB6A1AC9}"/>
              </a:ext>
            </a:extLst>
          </p:cNvPr>
          <p:cNvSpPr txBox="1"/>
          <p:nvPr/>
        </p:nvSpPr>
        <p:spPr>
          <a:xfrm>
            <a:off x="567069" y="2082741"/>
            <a:ext cx="6096000" cy="369332"/>
          </a:xfrm>
          <a:prstGeom prst="rect">
            <a:avLst/>
          </a:prstGeom>
          <a:noFill/>
        </p:spPr>
        <p:txBody>
          <a:bodyPr wrap="square">
            <a:spAutoFit/>
          </a:bodyPr>
          <a:lstStyle/>
          <a:p>
            <a:r>
              <a:rPr lang="zh-CN" altLang="en-US" dirty="0"/>
              <a:t>Solution: Utilizing </a:t>
            </a:r>
            <a:r>
              <a:rPr lang="en-US" altLang="zh-CN" dirty="0"/>
              <a:t>drone</a:t>
            </a:r>
            <a:r>
              <a:rPr lang="zh-CN" altLang="en-US" dirty="0"/>
              <a:t> drones for emergency AED delivery.</a:t>
            </a:r>
          </a:p>
        </p:txBody>
      </p:sp>
      <p:sp>
        <p:nvSpPr>
          <p:cNvPr id="21" name="文本框 20">
            <a:extLst>
              <a:ext uri="{FF2B5EF4-FFF2-40B4-BE49-F238E27FC236}">
                <a16:creationId xmlns:a16="http://schemas.microsoft.com/office/drawing/2014/main" id="{C9511DCD-C001-9E11-F04D-F6EC5B6DE848}"/>
              </a:ext>
            </a:extLst>
          </p:cNvPr>
          <p:cNvSpPr txBox="1"/>
          <p:nvPr/>
        </p:nvSpPr>
        <p:spPr>
          <a:xfrm>
            <a:off x="567068" y="2495525"/>
            <a:ext cx="9713581" cy="369332"/>
          </a:xfrm>
          <a:prstGeom prst="rect">
            <a:avLst/>
          </a:prstGeom>
          <a:noFill/>
        </p:spPr>
        <p:txBody>
          <a:bodyPr wrap="square">
            <a:spAutoFit/>
          </a:bodyPr>
          <a:lstStyle/>
          <a:p>
            <a:r>
              <a:rPr lang="en-US" altLang="zh-CN" dirty="0"/>
              <a:t>Core Value: Reducing delivery time from “tens of minutes” to “approximately 10 minutes”</a:t>
            </a:r>
            <a:endParaRPr lang="zh-CN" altLang="en-US" dirty="0"/>
          </a:p>
        </p:txBody>
      </p:sp>
      <p:pic>
        <p:nvPicPr>
          <p:cNvPr id="23" name="图形 22" descr="上升趋势 纯色填充">
            <a:extLst>
              <a:ext uri="{FF2B5EF4-FFF2-40B4-BE49-F238E27FC236}">
                <a16:creationId xmlns:a16="http://schemas.microsoft.com/office/drawing/2014/main" id="{C1C94832-1B8D-CC12-4578-7AE2893BC06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320860" y="1634160"/>
            <a:ext cx="1264590" cy="1264590"/>
          </a:xfrm>
          <a:prstGeom prst="rect">
            <a:avLst/>
          </a:prstGeom>
        </p:spPr>
      </p:pic>
    </p:spTree>
    <p:extLst>
      <p:ext uri="{BB962C8B-B14F-4D97-AF65-F5344CB8AC3E}">
        <p14:creationId xmlns:p14="http://schemas.microsoft.com/office/powerpoint/2010/main" val="16077408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22ED1CEE-719E-4036-892E-1D10A0F75D48}"/>
              </a:ext>
            </a:extLst>
          </p:cNvPr>
          <p:cNvSpPr txBox="1">
            <a:spLocks/>
          </p:cNvSpPr>
          <p:nvPr/>
        </p:nvSpPr>
        <p:spPr>
          <a:xfrm>
            <a:off x="1091756" y="206128"/>
            <a:ext cx="2941597"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What &amp; How </a:t>
            </a:r>
            <a:endParaRPr lang="en-GB" dirty="0"/>
          </a:p>
        </p:txBody>
      </p:sp>
      <p:grpSp>
        <p:nvGrpSpPr>
          <p:cNvPr id="7" name="组合 6">
            <a:extLst>
              <a:ext uri="{FF2B5EF4-FFF2-40B4-BE49-F238E27FC236}">
                <a16:creationId xmlns:a16="http://schemas.microsoft.com/office/drawing/2014/main" id="{D5B15B09-AAEA-6B78-3158-C6D3D1869815}"/>
              </a:ext>
            </a:extLst>
          </p:cNvPr>
          <p:cNvGrpSpPr/>
          <p:nvPr/>
        </p:nvGrpSpPr>
        <p:grpSpPr>
          <a:xfrm>
            <a:off x="2957475" y="1359491"/>
            <a:ext cx="6753594" cy="457200"/>
            <a:chOff x="2406650" y="2178050"/>
            <a:chExt cx="6826250" cy="457200"/>
          </a:xfrm>
        </p:grpSpPr>
        <p:sp>
          <p:nvSpPr>
            <p:cNvPr id="4" name="矩形 3">
              <a:extLst>
                <a:ext uri="{FF2B5EF4-FFF2-40B4-BE49-F238E27FC236}">
                  <a16:creationId xmlns:a16="http://schemas.microsoft.com/office/drawing/2014/main" id="{932D0D8C-05C7-1B24-971D-F199CFBE6C41}"/>
                </a:ext>
              </a:extLst>
            </p:cNvPr>
            <p:cNvSpPr/>
            <p:nvPr/>
          </p:nvSpPr>
          <p:spPr>
            <a:xfrm>
              <a:off x="2406650" y="2178050"/>
              <a:ext cx="6324600" cy="457200"/>
            </a:xfrm>
            <a:prstGeom prst="rect">
              <a:avLst/>
            </a:prstGeom>
            <a:solidFill>
              <a:srgbClr val="9A1E2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C001EF74-18F7-4920-C0D0-C82329E88CC1}"/>
                </a:ext>
              </a:extLst>
            </p:cNvPr>
            <p:cNvSpPr txBox="1"/>
            <p:nvPr/>
          </p:nvSpPr>
          <p:spPr>
            <a:xfrm>
              <a:off x="3136900" y="2221984"/>
              <a:ext cx="6096000" cy="369332"/>
            </a:xfrm>
            <a:prstGeom prst="rect">
              <a:avLst/>
            </a:prstGeom>
            <a:noFill/>
          </p:spPr>
          <p:txBody>
            <a:bodyPr wrap="square">
              <a:spAutoFit/>
            </a:bodyPr>
            <a:lstStyle/>
            <a:p>
              <a:r>
                <a:rPr lang="en-US" altLang="zh-CN" dirty="0">
                  <a:solidFill>
                    <a:schemeClr val="bg1"/>
                  </a:solidFill>
                </a:rPr>
                <a:t>Understand the basic background (no-fly zone etc.)</a:t>
              </a:r>
            </a:p>
          </p:txBody>
        </p:sp>
      </p:grpSp>
      <p:grpSp>
        <p:nvGrpSpPr>
          <p:cNvPr id="10" name="组合 9">
            <a:extLst>
              <a:ext uri="{FF2B5EF4-FFF2-40B4-BE49-F238E27FC236}">
                <a16:creationId xmlns:a16="http://schemas.microsoft.com/office/drawing/2014/main" id="{D96106F0-1DDF-3C79-5799-1F29E5711E0D}"/>
              </a:ext>
            </a:extLst>
          </p:cNvPr>
          <p:cNvGrpSpPr/>
          <p:nvPr/>
        </p:nvGrpSpPr>
        <p:grpSpPr>
          <a:xfrm>
            <a:off x="2957475" y="2502491"/>
            <a:ext cx="6257283" cy="457200"/>
            <a:chOff x="2406650" y="2489200"/>
            <a:chExt cx="6257283" cy="457200"/>
          </a:xfrm>
        </p:grpSpPr>
        <p:sp>
          <p:nvSpPr>
            <p:cNvPr id="11" name="矩形 10">
              <a:extLst>
                <a:ext uri="{FF2B5EF4-FFF2-40B4-BE49-F238E27FC236}">
                  <a16:creationId xmlns:a16="http://schemas.microsoft.com/office/drawing/2014/main" id="{29D18B8D-D150-6D7E-C5D1-4C0F0E727E98}"/>
                </a:ext>
              </a:extLst>
            </p:cNvPr>
            <p:cNvSpPr/>
            <p:nvPr/>
          </p:nvSpPr>
          <p:spPr>
            <a:xfrm>
              <a:off x="2406650" y="2489200"/>
              <a:ext cx="6257283" cy="457200"/>
            </a:xfrm>
            <a:prstGeom prst="rect">
              <a:avLst/>
            </a:prstGeom>
            <a:solidFill>
              <a:srgbClr val="9A1E2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44530A68-16E9-6ED4-52F0-BE2680CBE076}"/>
                </a:ext>
              </a:extLst>
            </p:cNvPr>
            <p:cNvSpPr txBox="1"/>
            <p:nvPr/>
          </p:nvSpPr>
          <p:spPr>
            <a:xfrm>
              <a:off x="4083050" y="2511167"/>
              <a:ext cx="2705100" cy="369332"/>
            </a:xfrm>
            <a:prstGeom prst="rect">
              <a:avLst/>
            </a:prstGeom>
            <a:noFill/>
          </p:spPr>
          <p:txBody>
            <a:bodyPr wrap="square">
              <a:spAutoFit/>
            </a:bodyPr>
            <a:lstStyle/>
            <a:p>
              <a:r>
                <a:rPr lang="en-US" altLang="zh-CN" dirty="0">
                  <a:solidFill>
                    <a:schemeClr val="bg1"/>
                  </a:solidFill>
                </a:rPr>
                <a:t>Determine the drone type</a:t>
              </a:r>
            </a:p>
          </p:txBody>
        </p:sp>
      </p:grpSp>
      <p:sp>
        <p:nvSpPr>
          <p:cNvPr id="13" name="箭头: 下 12">
            <a:extLst>
              <a:ext uri="{FF2B5EF4-FFF2-40B4-BE49-F238E27FC236}">
                <a16:creationId xmlns:a16="http://schemas.microsoft.com/office/drawing/2014/main" id="{A545DFCE-D57E-7397-E816-9784F4684185}"/>
              </a:ext>
            </a:extLst>
          </p:cNvPr>
          <p:cNvSpPr/>
          <p:nvPr/>
        </p:nvSpPr>
        <p:spPr>
          <a:xfrm>
            <a:off x="5808625" y="1954843"/>
            <a:ext cx="177800" cy="369332"/>
          </a:xfrm>
          <a:prstGeom prst="downArrow">
            <a:avLst>
              <a:gd name="adj1" fmla="val 50000"/>
              <a:gd name="adj2" fmla="val 92857"/>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EAC70AAB-06D2-D908-B132-F400397EADC0}"/>
              </a:ext>
            </a:extLst>
          </p:cNvPr>
          <p:cNvGrpSpPr/>
          <p:nvPr/>
        </p:nvGrpSpPr>
        <p:grpSpPr>
          <a:xfrm>
            <a:off x="2957475" y="3645491"/>
            <a:ext cx="6257283" cy="457200"/>
            <a:chOff x="2406650" y="2489200"/>
            <a:chExt cx="6257283" cy="457200"/>
          </a:xfrm>
        </p:grpSpPr>
        <p:sp>
          <p:nvSpPr>
            <p:cNvPr id="15" name="矩形 14">
              <a:extLst>
                <a:ext uri="{FF2B5EF4-FFF2-40B4-BE49-F238E27FC236}">
                  <a16:creationId xmlns:a16="http://schemas.microsoft.com/office/drawing/2014/main" id="{9DEF8FF8-479E-A1B6-C101-CF641338644C}"/>
                </a:ext>
              </a:extLst>
            </p:cNvPr>
            <p:cNvSpPr/>
            <p:nvPr/>
          </p:nvSpPr>
          <p:spPr>
            <a:xfrm>
              <a:off x="2406650" y="2489200"/>
              <a:ext cx="6257283" cy="457200"/>
            </a:xfrm>
            <a:prstGeom prst="rect">
              <a:avLst/>
            </a:prstGeom>
            <a:solidFill>
              <a:srgbClr val="9A1E2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791677A8-37B5-C016-D73F-6EA1F1D1A39F}"/>
                </a:ext>
              </a:extLst>
            </p:cNvPr>
            <p:cNvSpPr txBox="1"/>
            <p:nvPr/>
          </p:nvSpPr>
          <p:spPr>
            <a:xfrm>
              <a:off x="4083050" y="2529662"/>
              <a:ext cx="2705100" cy="369332"/>
            </a:xfrm>
            <a:prstGeom prst="rect">
              <a:avLst/>
            </a:prstGeom>
            <a:noFill/>
          </p:spPr>
          <p:txBody>
            <a:bodyPr wrap="square">
              <a:spAutoFit/>
            </a:bodyPr>
            <a:lstStyle/>
            <a:p>
              <a:r>
                <a:rPr lang="en-US" altLang="zh-CN" dirty="0">
                  <a:solidFill>
                    <a:schemeClr val="bg1"/>
                  </a:solidFill>
                </a:rPr>
                <a:t>Confirm the flying route</a:t>
              </a:r>
            </a:p>
          </p:txBody>
        </p:sp>
      </p:grpSp>
      <p:sp>
        <p:nvSpPr>
          <p:cNvPr id="17" name="箭头: 下 16">
            <a:extLst>
              <a:ext uri="{FF2B5EF4-FFF2-40B4-BE49-F238E27FC236}">
                <a16:creationId xmlns:a16="http://schemas.microsoft.com/office/drawing/2014/main" id="{790F95AF-9D05-BAED-B2C6-BB614550788B}"/>
              </a:ext>
            </a:extLst>
          </p:cNvPr>
          <p:cNvSpPr/>
          <p:nvPr/>
        </p:nvSpPr>
        <p:spPr>
          <a:xfrm>
            <a:off x="5808625" y="3121542"/>
            <a:ext cx="177800" cy="369332"/>
          </a:xfrm>
          <a:prstGeom prst="downArrow">
            <a:avLst>
              <a:gd name="adj1" fmla="val 50000"/>
              <a:gd name="adj2" fmla="val 92857"/>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EC001422-BD11-6ED6-B78F-335422FF3D17}"/>
              </a:ext>
            </a:extLst>
          </p:cNvPr>
          <p:cNvGrpSpPr/>
          <p:nvPr/>
        </p:nvGrpSpPr>
        <p:grpSpPr>
          <a:xfrm>
            <a:off x="2957475" y="4788491"/>
            <a:ext cx="6257283" cy="457200"/>
            <a:chOff x="2406650" y="2489200"/>
            <a:chExt cx="6257283" cy="457200"/>
          </a:xfrm>
        </p:grpSpPr>
        <p:sp>
          <p:nvSpPr>
            <p:cNvPr id="19" name="矩形 18">
              <a:extLst>
                <a:ext uri="{FF2B5EF4-FFF2-40B4-BE49-F238E27FC236}">
                  <a16:creationId xmlns:a16="http://schemas.microsoft.com/office/drawing/2014/main" id="{CF82E356-CAF8-603C-7C63-5F34EC42B110}"/>
                </a:ext>
              </a:extLst>
            </p:cNvPr>
            <p:cNvSpPr/>
            <p:nvPr/>
          </p:nvSpPr>
          <p:spPr>
            <a:xfrm>
              <a:off x="2406650" y="2489200"/>
              <a:ext cx="6257283" cy="457200"/>
            </a:xfrm>
            <a:prstGeom prst="rect">
              <a:avLst/>
            </a:prstGeom>
            <a:solidFill>
              <a:srgbClr val="9A1E2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E9009A6-0C98-199F-1808-236261B96FD7}"/>
                </a:ext>
              </a:extLst>
            </p:cNvPr>
            <p:cNvSpPr txBox="1"/>
            <p:nvPr/>
          </p:nvSpPr>
          <p:spPr>
            <a:xfrm>
              <a:off x="4083050" y="2529662"/>
              <a:ext cx="3702050" cy="369332"/>
            </a:xfrm>
            <a:prstGeom prst="rect">
              <a:avLst/>
            </a:prstGeom>
            <a:noFill/>
          </p:spPr>
          <p:txBody>
            <a:bodyPr wrap="square">
              <a:spAutoFit/>
            </a:bodyPr>
            <a:lstStyle/>
            <a:p>
              <a:r>
                <a:rPr lang="en-US" altLang="zh-CN" dirty="0">
                  <a:solidFill>
                    <a:schemeClr val="bg1"/>
                  </a:solidFill>
                </a:rPr>
                <a:t>Follow the SORA procedure</a:t>
              </a:r>
            </a:p>
          </p:txBody>
        </p:sp>
      </p:grpSp>
      <p:sp>
        <p:nvSpPr>
          <p:cNvPr id="21" name="箭头: 下 20">
            <a:extLst>
              <a:ext uri="{FF2B5EF4-FFF2-40B4-BE49-F238E27FC236}">
                <a16:creationId xmlns:a16="http://schemas.microsoft.com/office/drawing/2014/main" id="{01AA4FA5-5A77-CC8D-F676-7BB6BE6690B2}"/>
              </a:ext>
            </a:extLst>
          </p:cNvPr>
          <p:cNvSpPr/>
          <p:nvPr/>
        </p:nvSpPr>
        <p:spPr>
          <a:xfrm>
            <a:off x="5808625" y="4257308"/>
            <a:ext cx="177800" cy="369332"/>
          </a:xfrm>
          <a:prstGeom prst="downArrow">
            <a:avLst>
              <a:gd name="adj1" fmla="val 50000"/>
              <a:gd name="adj2" fmla="val 92857"/>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05112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59B9EF25-78A1-532F-E2A5-77C4F39B2142}"/>
              </a:ext>
            </a:extLst>
          </p:cNvPr>
          <p:cNvSpPr txBox="1">
            <a:spLocks/>
          </p:cNvSpPr>
          <p:nvPr/>
        </p:nvSpPr>
        <p:spPr>
          <a:xfrm>
            <a:off x="1091756" y="206128"/>
            <a:ext cx="2941597"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Outcome</a:t>
            </a:r>
            <a:endParaRPr lang="en-GB" dirty="0"/>
          </a:p>
        </p:txBody>
      </p:sp>
      <p:sp>
        <p:nvSpPr>
          <p:cNvPr id="4" name="文本框 3">
            <a:extLst>
              <a:ext uri="{FF2B5EF4-FFF2-40B4-BE49-F238E27FC236}">
                <a16:creationId xmlns:a16="http://schemas.microsoft.com/office/drawing/2014/main" id="{F74A554A-E880-16F1-B1AF-2FA1820FECB8}"/>
              </a:ext>
            </a:extLst>
          </p:cNvPr>
          <p:cNvSpPr txBox="1"/>
          <p:nvPr/>
        </p:nvSpPr>
        <p:spPr>
          <a:xfrm>
            <a:off x="567069" y="1013638"/>
            <a:ext cx="9980429" cy="1938992"/>
          </a:xfrm>
          <a:prstGeom prst="rect">
            <a:avLst/>
          </a:prstGeom>
          <a:noFill/>
        </p:spPr>
        <p:txBody>
          <a:bodyPr wrap="square" rtlCol="0">
            <a:spAutoFit/>
          </a:bodyPr>
          <a:lstStyle/>
          <a:p>
            <a:r>
              <a:rPr lang="en-US" altLang="zh-CN" sz="2400" dirty="0"/>
              <a:t>SORA:</a:t>
            </a:r>
          </a:p>
          <a:p>
            <a:pPr marL="285750" indent="-285750">
              <a:buFont typeface="Wingdings" panose="05000000000000000000" pitchFamily="2" charset="2"/>
              <a:buChar char="ü"/>
            </a:pPr>
            <a:r>
              <a:rPr lang="en-US" altLang="zh-CN" sz="2400" dirty="0"/>
              <a:t>Define operational scenarios</a:t>
            </a:r>
          </a:p>
          <a:p>
            <a:pPr marL="285750" indent="-285750">
              <a:buFont typeface="Wingdings" panose="05000000000000000000" pitchFamily="2" charset="2"/>
              <a:buChar char="ü"/>
            </a:pPr>
            <a:r>
              <a:rPr lang="en-US" altLang="zh-CN" sz="2400" dirty="0"/>
              <a:t>Assess inherent risks on the ground and in the air</a:t>
            </a:r>
          </a:p>
          <a:p>
            <a:pPr marL="285750" indent="-285750">
              <a:buFont typeface="Wingdings" panose="05000000000000000000" pitchFamily="2" charset="2"/>
              <a:buChar char="ü"/>
            </a:pPr>
            <a:r>
              <a:rPr lang="en-US" altLang="zh-CN" sz="2400" dirty="0"/>
              <a:t>Apply mitigation measures to reduce risk levels</a:t>
            </a:r>
          </a:p>
          <a:p>
            <a:pPr marL="285750" indent="-285750">
              <a:buFont typeface="Wingdings" panose="05000000000000000000" pitchFamily="2" charset="2"/>
              <a:buChar char="ü"/>
            </a:pPr>
            <a:r>
              <a:rPr lang="en-US" altLang="zh-CN" sz="2400" dirty="0"/>
              <a:t>Determine the final safety assurance level</a:t>
            </a:r>
            <a:endParaRPr lang="zh-CN" altLang="en-US" sz="2400" dirty="0"/>
          </a:p>
        </p:txBody>
      </p:sp>
      <p:sp>
        <p:nvSpPr>
          <p:cNvPr id="7" name="文本框 6">
            <a:extLst>
              <a:ext uri="{FF2B5EF4-FFF2-40B4-BE49-F238E27FC236}">
                <a16:creationId xmlns:a16="http://schemas.microsoft.com/office/drawing/2014/main" id="{485A3ED2-3338-8DD7-C28C-14798281DC3C}"/>
              </a:ext>
            </a:extLst>
          </p:cNvPr>
          <p:cNvSpPr txBox="1"/>
          <p:nvPr/>
        </p:nvSpPr>
        <p:spPr>
          <a:xfrm>
            <a:off x="567069" y="3905371"/>
            <a:ext cx="8813800" cy="1569660"/>
          </a:xfrm>
          <a:prstGeom prst="rect">
            <a:avLst/>
          </a:prstGeom>
          <a:noFill/>
        </p:spPr>
        <p:txBody>
          <a:bodyPr wrap="square">
            <a:spAutoFit/>
          </a:bodyPr>
          <a:lstStyle/>
          <a:p>
            <a:r>
              <a:rPr lang="en-US" altLang="zh-CN" sz="2400" dirty="0"/>
              <a:t>Ground Risk Class(GRC) = 2</a:t>
            </a:r>
          </a:p>
          <a:p>
            <a:r>
              <a:rPr lang="en-US" altLang="zh-CN" sz="2400" dirty="0"/>
              <a:t>Air Risk Class(ARC) = B</a:t>
            </a:r>
          </a:p>
          <a:p>
            <a:r>
              <a:rPr lang="en-US" altLang="zh-CN" sz="2400" dirty="0"/>
              <a:t>Specific Assurance and Integrity Levels(SAIL) = II</a:t>
            </a:r>
          </a:p>
          <a:p>
            <a:endParaRPr lang="en-US" altLang="zh-CN" sz="2400" dirty="0">
              <a:latin typeface="+mn-ea"/>
            </a:endParaRPr>
          </a:p>
        </p:txBody>
      </p:sp>
    </p:spTree>
    <p:extLst>
      <p:ext uri="{BB962C8B-B14F-4D97-AF65-F5344CB8AC3E}">
        <p14:creationId xmlns:p14="http://schemas.microsoft.com/office/powerpoint/2010/main" val="1171297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98864DCF-51AF-4FC8-468A-8E5BFD7D6FA6}"/>
              </a:ext>
            </a:extLst>
          </p:cNvPr>
          <p:cNvGrpSpPr/>
          <p:nvPr/>
        </p:nvGrpSpPr>
        <p:grpSpPr>
          <a:xfrm>
            <a:off x="7603197" y="3519982"/>
            <a:ext cx="642484" cy="377372"/>
            <a:chOff x="464459" y="324756"/>
            <a:chExt cx="642484" cy="377372"/>
          </a:xfrm>
        </p:grpSpPr>
        <p:sp>
          <p:nvSpPr>
            <p:cNvPr id="3" name="箭头: V 形 21">
              <a:extLst>
                <a:ext uri="{FF2B5EF4-FFF2-40B4-BE49-F238E27FC236}">
                  <a16:creationId xmlns:a16="http://schemas.microsoft.com/office/drawing/2014/main" id="{50D6E525-28AB-733A-C42C-899E995183A9}"/>
                </a:ext>
              </a:extLst>
            </p:cNvPr>
            <p:cNvSpPr/>
            <p:nvPr/>
          </p:nvSpPr>
          <p:spPr>
            <a:xfrm>
              <a:off x="464459" y="3247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5" name="箭头: V 形 22">
              <a:extLst>
                <a:ext uri="{FF2B5EF4-FFF2-40B4-BE49-F238E27FC236}">
                  <a16:creationId xmlns:a16="http://schemas.microsoft.com/office/drawing/2014/main" id="{A9B4810C-A721-96DB-43BD-1D8006FFF3A2}"/>
                </a:ext>
              </a:extLst>
            </p:cNvPr>
            <p:cNvSpPr/>
            <p:nvPr/>
          </p:nvSpPr>
          <p:spPr>
            <a:xfrm>
              <a:off x="745337" y="3247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sp>
        <p:nvSpPr>
          <p:cNvPr id="6" name="标题 1">
            <a:extLst>
              <a:ext uri="{FF2B5EF4-FFF2-40B4-BE49-F238E27FC236}">
                <a16:creationId xmlns:a16="http://schemas.microsoft.com/office/drawing/2014/main" id="{F0A3F244-D478-C45C-124C-D8E5BF4B51D3}"/>
              </a:ext>
            </a:extLst>
          </p:cNvPr>
          <p:cNvSpPr txBox="1">
            <a:spLocks/>
          </p:cNvSpPr>
          <p:nvPr/>
        </p:nvSpPr>
        <p:spPr>
          <a:xfrm>
            <a:off x="8367319" y="3429000"/>
            <a:ext cx="3824681" cy="5448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Operation Concept</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7" name="TextBox 7">
            <a:extLst>
              <a:ext uri="{FF2B5EF4-FFF2-40B4-BE49-F238E27FC236}">
                <a16:creationId xmlns:a16="http://schemas.microsoft.com/office/drawing/2014/main" id="{275D4338-B817-920E-ACD0-AF7B7A8DF9C9}"/>
              </a:ext>
            </a:extLst>
          </p:cNvPr>
          <p:cNvSpPr txBox="1"/>
          <p:nvPr/>
        </p:nvSpPr>
        <p:spPr>
          <a:xfrm>
            <a:off x="8648197" y="3897354"/>
            <a:ext cx="2403222" cy="605294"/>
          </a:xfrm>
          <a:prstGeom prst="rect">
            <a:avLst/>
          </a:prstGeom>
          <a:noFill/>
        </p:spPr>
        <p:txBody>
          <a:bodyPr wrap="none" rtlCol="0">
            <a:spAutoFit/>
          </a:bodyPr>
          <a:lstStyle/>
          <a:p>
            <a:pPr algn="r">
              <a:lnSpc>
                <a:spcPts val="2000"/>
              </a:lnSpc>
            </a:pPr>
            <a:r>
              <a:rPr lang="en-US" altLang="zh-CN" dirty="0" err="1">
                <a:latin typeface="Times New Roman" panose="02020603050405020304" pitchFamily="18" charset="0"/>
                <a:cs typeface="Times New Roman" panose="02020603050405020304" pitchFamily="18" charset="0"/>
              </a:rPr>
              <a:t>Peijun</a:t>
            </a:r>
            <a:r>
              <a:rPr lang="en-US" altLang="zh-CN" dirty="0">
                <a:latin typeface="Times New Roman" panose="02020603050405020304" pitchFamily="18" charset="0"/>
                <a:cs typeface="Times New Roman" panose="02020603050405020304" pitchFamily="18" charset="0"/>
              </a:rPr>
              <a:t> Zhao 25093525g</a:t>
            </a:r>
          </a:p>
          <a:p>
            <a:pPr algn="r">
              <a:lnSpc>
                <a:spcPts val="2000"/>
              </a:lnSpc>
            </a:pPr>
            <a:r>
              <a:rPr lang="en-US" altLang="zh-CN" dirty="0" err="1">
                <a:latin typeface="Times New Roman" panose="02020603050405020304" pitchFamily="18" charset="0"/>
                <a:cs typeface="Times New Roman" panose="02020603050405020304" pitchFamily="18" charset="0"/>
              </a:rPr>
              <a:t>Zongru</a:t>
            </a:r>
            <a:r>
              <a:rPr lang="en-US" altLang="zh-CN" dirty="0">
                <a:latin typeface="Times New Roman" panose="02020603050405020304" pitchFamily="18" charset="0"/>
                <a:cs typeface="Times New Roman" panose="02020603050405020304" pitchFamily="18" charset="0"/>
              </a:rPr>
              <a:t> Fu 25098984g</a:t>
            </a:r>
          </a:p>
        </p:txBody>
      </p:sp>
      <p:sp>
        <p:nvSpPr>
          <p:cNvPr id="8" name="标题 1">
            <a:extLst>
              <a:ext uri="{FF2B5EF4-FFF2-40B4-BE49-F238E27FC236}">
                <a16:creationId xmlns:a16="http://schemas.microsoft.com/office/drawing/2014/main" id="{359A6594-8F6A-3C43-8177-43C2803724A6}"/>
              </a:ext>
            </a:extLst>
          </p:cNvPr>
          <p:cNvSpPr txBox="1">
            <a:spLocks/>
          </p:cNvSpPr>
          <p:nvPr/>
        </p:nvSpPr>
        <p:spPr>
          <a:xfrm>
            <a:off x="6573795" y="3461714"/>
            <a:ext cx="1075544" cy="512125"/>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Part II</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1185181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8DF6B85-F52D-32C4-B5DC-4BDE91F91CC2}"/>
              </a:ext>
            </a:extLst>
          </p:cNvPr>
          <p:cNvSpPr>
            <a:spLocks noGrp="1"/>
          </p:cNvSpPr>
          <p:nvPr>
            <p:ph idx="4294967295"/>
          </p:nvPr>
        </p:nvSpPr>
        <p:spPr>
          <a:xfrm>
            <a:off x="2093081" y="1391706"/>
            <a:ext cx="7000120" cy="436504"/>
          </a:xfrm>
        </p:spPr>
        <p:txBody>
          <a:bodyPr/>
          <a:lstStyle/>
          <a:p>
            <a:pPr marL="0" indent="0">
              <a:buNone/>
            </a:pPr>
            <a:r>
              <a:rPr lang="en-US" altLang="zh-CN" sz="2000" b="1" dirty="0">
                <a:latin typeface="Times New Roman" panose="02020603050405020304" pitchFamily="18" charset="0"/>
                <a:cs typeface="Times New Roman" panose="02020603050405020304" pitchFamily="18" charset="0"/>
              </a:rPr>
              <a:t>Receive emergency request and launch SUA from hospital</a:t>
            </a:r>
          </a:p>
          <a:p>
            <a:endParaRPr lang="en-US" altLang="zh-CN" sz="2000" b="1" dirty="0">
              <a:latin typeface="Times New Roman" panose="02020603050405020304" pitchFamily="18" charset="0"/>
              <a:cs typeface="Times New Roman" panose="02020603050405020304" pitchFamily="18" charset="0"/>
            </a:endParaRPr>
          </a:p>
          <a:p>
            <a:pPr marL="0" indent="0">
              <a:buNone/>
            </a:pPr>
            <a:endParaRPr lang="en-US" altLang="zh-CN" sz="2000" b="1" dirty="0">
              <a:latin typeface="Times New Roman" panose="02020603050405020304" pitchFamily="18" charset="0"/>
              <a:cs typeface="Times New Roman" panose="02020603050405020304" pitchFamily="18" charset="0"/>
            </a:endParaRPr>
          </a:p>
          <a:p>
            <a:endParaRPr lang="zh-CN" altLang="en-US" dirty="0"/>
          </a:p>
        </p:txBody>
      </p:sp>
      <p:sp>
        <p:nvSpPr>
          <p:cNvPr id="5" name="标题 1">
            <a:extLst>
              <a:ext uri="{FF2B5EF4-FFF2-40B4-BE49-F238E27FC236}">
                <a16:creationId xmlns:a16="http://schemas.microsoft.com/office/drawing/2014/main" id="{958FA713-7341-94BE-649A-59BCF899EDBA}"/>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1.1 Mission Workflow </a:t>
            </a:r>
            <a:endParaRPr lang="en-GB" altLang="zh-CN" dirty="0"/>
          </a:p>
        </p:txBody>
      </p:sp>
      <p:sp>
        <p:nvSpPr>
          <p:cNvPr id="6" name="平行四边形 5">
            <a:extLst>
              <a:ext uri="{FF2B5EF4-FFF2-40B4-BE49-F238E27FC236}">
                <a16:creationId xmlns:a16="http://schemas.microsoft.com/office/drawing/2014/main" id="{E55A9739-C402-EEDE-3F14-73B56107C437}"/>
              </a:ext>
            </a:extLst>
          </p:cNvPr>
          <p:cNvSpPr/>
          <p:nvPr/>
        </p:nvSpPr>
        <p:spPr>
          <a:xfrm>
            <a:off x="442913" y="2521978"/>
            <a:ext cx="1351173" cy="619355"/>
          </a:xfrm>
          <a:prstGeom prst="parallelogram">
            <a:avLst>
              <a:gd name="adj" fmla="val 48207"/>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02</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7" name="平行四边形 6">
            <a:extLst>
              <a:ext uri="{FF2B5EF4-FFF2-40B4-BE49-F238E27FC236}">
                <a16:creationId xmlns:a16="http://schemas.microsoft.com/office/drawing/2014/main" id="{5F7B4215-53C5-CEC7-F119-BDBB25242E13}"/>
              </a:ext>
            </a:extLst>
          </p:cNvPr>
          <p:cNvSpPr/>
          <p:nvPr/>
        </p:nvSpPr>
        <p:spPr>
          <a:xfrm>
            <a:off x="442913" y="1268413"/>
            <a:ext cx="1351173" cy="619355"/>
          </a:xfrm>
          <a:prstGeom prst="parallelogram">
            <a:avLst>
              <a:gd name="adj" fmla="val 48207"/>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01</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1" name="平行四边形 10">
            <a:extLst>
              <a:ext uri="{FF2B5EF4-FFF2-40B4-BE49-F238E27FC236}">
                <a16:creationId xmlns:a16="http://schemas.microsoft.com/office/drawing/2014/main" id="{69CF27CB-09AE-7F67-AEFC-674501D767ED}"/>
              </a:ext>
            </a:extLst>
          </p:cNvPr>
          <p:cNvSpPr/>
          <p:nvPr/>
        </p:nvSpPr>
        <p:spPr>
          <a:xfrm>
            <a:off x="442912" y="4876210"/>
            <a:ext cx="1351173" cy="619355"/>
          </a:xfrm>
          <a:prstGeom prst="parallelogram">
            <a:avLst>
              <a:gd name="adj" fmla="val 48207"/>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04</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2" name="平行四边形 11">
            <a:extLst>
              <a:ext uri="{FF2B5EF4-FFF2-40B4-BE49-F238E27FC236}">
                <a16:creationId xmlns:a16="http://schemas.microsoft.com/office/drawing/2014/main" id="{BD8A8E68-4DC5-0A80-9F17-59FBEB7A94DE}"/>
              </a:ext>
            </a:extLst>
          </p:cNvPr>
          <p:cNvSpPr/>
          <p:nvPr/>
        </p:nvSpPr>
        <p:spPr>
          <a:xfrm>
            <a:off x="442913" y="3666125"/>
            <a:ext cx="1351173" cy="619355"/>
          </a:xfrm>
          <a:prstGeom prst="parallelogram">
            <a:avLst>
              <a:gd name="adj" fmla="val 48207"/>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03</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4" name="内容占位符 1">
            <a:extLst>
              <a:ext uri="{FF2B5EF4-FFF2-40B4-BE49-F238E27FC236}">
                <a16:creationId xmlns:a16="http://schemas.microsoft.com/office/drawing/2014/main" id="{352FC9D8-ED52-BD36-B820-F5EFDE4B78D9}"/>
              </a:ext>
            </a:extLst>
          </p:cNvPr>
          <p:cNvSpPr txBox="1">
            <a:spLocks/>
          </p:cNvSpPr>
          <p:nvPr/>
        </p:nvSpPr>
        <p:spPr>
          <a:xfrm>
            <a:off x="2093081" y="2669966"/>
            <a:ext cx="7000120" cy="4365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Transport AED in BVLOS mode to incident site</a:t>
            </a:r>
          </a:p>
          <a:p>
            <a:pPr marL="0" indent="0">
              <a:buNone/>
            </a:pPr>
            <a:endParaRPr lang="en-US" altLang="zh-CN" sz="20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CN" sz="2000" b="1" dirty="0">
              <a:latin typeface="Times New Roman" panose="02020603050405020304" pitchFamily="18" charset="0"/>
              <a:cs typeface="Times New Roman" panose="02020603050405020304" pitchFamily="18" charset="0"/>
            </a:endParaRPr>
          </a:p>
          <a:p>
            <a:endParaRPr lang="zh-CN" altLang="en-US" dirty="0"/>
          </a:p>
        </p:txBody>
      </p:sp>
      <p:sp>
        <p:nvSpPr>
          <p:cNvPr id="15" name="内容占位符 1">
            <a:extLst>
              <a:ext uri="{FF2B5EF4-FFF2-40B4-BE49-F238E27FC236}">
                <a16:creationId xmlns:a16="http://schemas.microsoft.com/office/drawing/2014/main" id="{6F4D1F12-9B08-F415-0F23-4C6BC9A60308}"/>
              </a:ext>
            </a:extLst>
          </p:cNvPr>
          <p:cNvSpPr txBox="1">
            <a:spLocks/>
          </p:cNvSpPr>
          <p:nvPr/>
        </p:nvSpPr>
        <p:spPr>
          <a:xfrm>
            <a:off x="2093081" y="3781776"/>
            <a:ext cx="7000120" cy="4365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Land and deploy AED for retrieval by ground personnel</a:t>
            </a:r>
          </a:p>
          <a:p>
            <a:pPr marL="0" indent="0">
              <a:buNone/>
            </a:pPr>
            <a:endParaRPr lang="en-US" altLang="zh-CN" sz="20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CN" sz="2000" b="1" dirty="0">
              <a:latin typeface="Times New Roman" panose="02020603050405020304" pitchFamily="18" charset="0"/>
              <a:cs typeface="Times New Roman" panose="02020603050405020304" pitchFamily="18" charset="0"/>
            </a:endParaRPr>
          </a:p>
          <a:p>
            <a:endParaRPr lang="zh-CN" altLang="en-US" dirty="0"/>
          </a:p>
        </p:txBody>
      </p:sp>
      <p:sp>
        <p:nvSpPr>
          <p:cNvPr id="16" name="内容占位符 1">
            <a:extLst>
              <a:ext uri="{FF2B5EF4-FFF2-40B4-BE49-F238E27FC236}">
                <a16:creationId xmlns:a16="http://schemas.microsoft.com/office/drawing/2014/main" id="{FAD91246-765E-8DDC-8890-9439F299C6AB}"/>
              </a:ext>
            </a:extLst>
          </p:cNvPr>
          <p:cNvSpPr txBox="1">
            <a:spLocks/>
          </p:cNvSpPr>
          <p:nvPr/>
        </p:nvSpPr>
        <p:spPr>
          <a:xfrm>
            <a:off x="2093081" y="4992212"/>
            <a:ext cx="7000120" cy="4365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000" b="1" dirty="0">
                <a:latin typeface="Times New Roman" panose="02020603050405020304" pitchFamily="18" charset="0"/>
                <a:cs typeface="Times New Roman" panose="02020603050405020304" pitchFamily="18" charset="0"/>
              </a:rPr>
              <a:t>Return SUA to hospital after delivery</a:t>
            </a:r>
          </a:p>
          <a:p>
            <a:pPr marL="0" indent="0">
              <a:buNone/>
            </a:pPr>
            <a:endParaRPr lang="en-US" altLang="zh-CN" sz="2000" b="1"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CN" sz="2000" b="1" dirty="0">
              <a:latin typeface="Times New Roman" panose="02020603050405020304" pitchFamily="18"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378548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478D6941-DC50-D3BE-D982-D70D70B2B636}"/>
              </a:ext>
            </a:extLst>
          </p:cNvPr>
          <p:cNvPicPr>
            <a:picLocks noChangeAspect="1"/>
          </p:cNvPicPr>
          <p:nvPr/>
        </p:nvPicPr>
        <p:blipFill>
          <a:blip r:embed="rId2"/>
          <a:stretch>
            <a:fillRect/>
          </a:stretch>
        </p:blipFill>
        <p:spPr>
          <a:xfrm>
            <a:off x="8398923" y="962499"/>
            <a:ext cx="3702292" cy="2002365"/>
          </a:xfrm>
          <a:prstGeom prst="rect">
            <a:avLst/>
          </a:prstGeom>
        </p:spPr>
      </p:pic>
      <p:pic>
        <p:nvPicPr>
          <p:cNvPr id="7" name="图片 6">
            <a:extLst>
              <a:ext uri="{FF2B5EF4-FFF2-40B4-BE49-F238E27FC236}">
                <a16:creationId xmlns:a16="http://schemas.microsoft.com/office/drawing/2014/main" id="{8BC2BD4D-27CC-067B-8777-195966A47159}"/>
              </a:ext>
            </a:extLst>
          </p:cNvPr>
          <p:cNvPicPr>
            <a:picLocks noChangeAspect="1"/>
          </p:cNvPicPr>
          <p:nvPr/>
        </p:nvPicPr>
        <p:blipFill>
          <a:blip r:embed="rId3"/>
          <a:stretch>
            <a:fillRect/>
          </a:stretch>
        </p:blipFill>
        <p:spPr>
          <a:xfrm>
            <a:off x="8574986" y="3037239"/>
            <a:ext cx="3350165" cy="2087504"/>
          </a:xfrm>
          <a:prstGeom prst="rect">
            <a:avLst/>
          </a:prstGeom>
        </p:spPr>
      </p:pic>
      <p:sp>
        <p:nvSpPr>
          <p:cNvPr id="10" name="标题 1">
            <a:extLst>
              <a:ext uri="{FF2B5EF4-FFF2-40B4-BE49-F238E27FC236}">
                <a16:creationId xmlns:a16="http://schemas.microsoft.com/office/drawing/2014/main" id="{ACED9138-4072-05BC-826D-4C214A41B7AC}"/>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sz="2400" dirty="0"/>
              <a:t>1.2 SUA Selection &amp; Payload</a:t>
            </a:r>
            <a:endParaRPr lang="en-GB" altLang="zh-CN" sz="2400" dirty="0"/>
          </a:p>
        </p:txBody>
      </p:sp>
      <p:sp>
        <p:nvSpPr>
          <p:cNvPr id="3" name="文本框 2">
            <a:extLst>
              <a:ext uri="{FF2B5EF4-FFF2-40B4-BE49-F238E27FC236}">
                <a16:creationId xmlns:a16="http://schemas.microsoft.com/office/drawing/2014/main" id="{12C6F8E8-B2FB-66C0-2ACD-D577785A1B65}"/>
              </a:ext>
            </a:extLst>
          </p:cNvPr>
          <p:cNvSpPr txBox="1"/>
          <p:nvPr/>
        </p:nvSpPr>
        <p:spPr>
          <a:xfrm>
            <a:off x="795867" y="1016000"/>
            <a:ext cx="9234487" cy="5016758"/>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Selected Model: </a:t>
            </a:r>
            <a:r>
              <a:rPr lang="en-US" altLang="zh-CN" sz="2000" b="1" dirty="0" err="1">
                <a:latin typeface="Times New Roman" panose="02020603050405020304" pitchFamily="18" charset="0"/>
                <a:cs typeface="Times New Roman" panose="02020603050405020304" pitchFamily="18" charset="0"/>
              </a:rPr>
              <a:t>Antwork</a:t>
            </a:r>
            <a:r>
              <a:rPr lang="en-US" altLang="zh-CN" sz="2000" b="1" dirty="0">
                <a:latin typeface="Times New Roman" panose="02020603050405020304" pitchFamily="18" charset="0"/>
                <a:cs typeface="Times New Roman" panose="02020603050405020304" pitchFamily="18" charset="0"/>
              </a:rPr>
              <a:t> RA3</a:t>
            </a:r>
          </a:p>
          <a:p>
            <a:endParaRPr lang="en-US" altLang="zh-CN"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Flight Performance</a:t>
            </a:r>
            <a:endParaRPr lang="en-US" altLang="zh-CN" sz="2000" dirty="0">
              <a:latin typeface="Times New Roman" panose="02020603050405020304" pitchFamily="18" charset="0"/>
              <a:cs typeface="Times New Roman" panose="02020603050405020304" pitchFamily="18" charset="0"/>
            </a:endParaRPr>
          </a:p>
          <a:p>
            <a:pPr lvl="1"/>
            <a:r>
              <a:rPr lang="en-US" altLang="zh-CN" sz="2000" dirty="0">
                <a:latin typeface="Times New Roman" panose="02020603050405020304" pitchFamily="18" charset="0"/>
                <a:cs typeface="Times New Roman" panose="02020603050405020304" pitchFamily="18" charset="0"/>
              </a:rPr>
              <a:t>Max Range: 18 km</a:t>
            </a:r>
          </a:p>
          <a:p>
            <a:pPr lvl="1"/>
            <a:r>
              <a:rPr lang="en-US" altLang="zh-CN" sz="2000" dirty="0">
                <a:latin typeface="Times New Roman" panose="02020603050405020304" pitchFamily="18" charset="0"/>
                <a:cs typeface="Times New Roman" panose="02020603050405020304" pitchFamily="18" charset="0"/>
              </a:rPr>
              <a:t>Cruise Speed: 60–72 km/h</a:t>
            </a:r>
          </a:p>
          <a:p>
            <a:pPr lvl="1"/>
            <a:r>
              <a:rPr lang="en-US" altLang="zh-CN" sz="2000" dirty="0">
                <a:latin typeface="Times New Roman" panose="02020603050405020304" pitchFamily="18" charset="0"/>
                <a:cs typeface="Times New Roman" panose="02020603050405020304" pitchFamily="18" charset="0"/>
              </a:rPr>
              <a:t>One-Way Delivery: ~10 minutes</a:t>
            </a:r>
          </a:p>
          <a:p>
            <a:pPr lvl="1"/>
            <a:endParaRPr lang="en-US" altLang="zh-CN"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Payload Capacity</a:t>
            </a:r>
            <a:endParaRPr lang="en-US" altLang="zh-CN" sz="2000" dirty="0">
              <a:latin typeface="Times New Roman" panose="02020603050405020304" pitchFamily="18" charset="0"/>
              <a:cs typeface="Times New Roman" panose="02020603050405020304" pitchFamily="18" charset="0"/>
            </a:endParaRPr>
          </a:p>
          <a:p>
            <a:pPr lvl="1"/>
            <a:r>
              <a:rPr lang="en-US" altLang="zh-CN" sz="2000" dirty="0">
                <a:latin typeface="Times New Roman" panose="02020603050405020304" pitchFamily="18" charset="0"/>
                <a:cs typeface="Times New Roman" panose="02020603050405020304" pitchFamily="18" charset="0"/>
              </a:rPr>
              <a:t>4 kg payload capacity</a:t>
            </a:r>
          </a:p>
          <a:p>
            <a:pPr lvl="1"/>
            <a:r>
              <a:rPr lang="en-US" altLang="zh-CN" sz="2000" dirty="0">
                <a:latin typeface="Times New Roman" panose="02020603050405020304" pitchFamily="18" charset="0"/>
                <a:cs typeface="Times New Roman" panose="02020603050405020304" pitchFamily="18" charset="0"/>
              </a:rPr>
              <a:t>Standard AED: 1.5–2.5 kg</a:t>
            </a:r>
          </a:p>
          <a:p>
            <a:pPr lvl="1"/>
            <a:r>
              <a:rPr lang="en-US" altLang="zh-CN" sz="2000" dirty="0">
                <a:latin typeface="Times New Roman" panose="02020603050405020304" pitchFamily="18" charset="0"/>
                <a:cs typeface="Times New Roman" panose="02020603050405020304" pitchFamily="18" charset="0"/>
              </a:rPr>
              <a:t>Vibration damping &amp; warning light included</a:t>
            </a:r>
          </a:p>
          <a:p>
            <a:pPr lvl="1"/>
            <a:endParaRPr lang="en-US" altLang="zh-CN"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Proven Medical Experience</a:t>
            </a:r>
            <a:endParaRPr lang="en-US" altLang="zh-CN" sz="2000" dirty="0">
              <a:latin typeface="Times New Roman" panose="02020603050405020304" pitchFamily="18" charset="0"/>
              <a:cs typeface="Times New Roman" panose="02020603050405020304" pitchFamily="18" charset="0"/>
            </a:endParaRPr>
          </a:p>
          <a:p>
            <a:pPr lvl="1"/>
            <a:r>
              <a:rPr lang="en-US" altLang="zh-CN" sz="2000" dirty="0">
                <a:latin typeface="Times New Roman" panose="02020603050405020304" pitchFamily="18" charset="0"/>
                <a:cs typeface="Times New Roman" panose="02020603050405020304" pitchFamily="18" charset="0"/>
              </a:rPr>
              <a:t>Successfully deployed in emergency blood delivery operations in Hangzhou</a:t>
            </a:r>
          </a:p>
          <a:p>
            <a:pPr lvl="1"/>
            <a:r>
              <a:rPr lang="en-US" altLang="zh-CN" sz="2000" dirty="0">
                <a:latin typeface="Times New Roman" panose="02020603050405020304" pitchFamily="18" charset="0"/>
                <a:cs typeface="Times New Roman" panose="02020603050405020304" pitchFamily="18" charset="0"/>
              </a:rPr>
              <a:t>Provides valuable real-world reference for AED transport missions</a:t>
            </a:r>
          </a:p>
          <a:p>
            <a:endParaRPr lang="zh-CN" altLang="en-US" sz="2000" dirty="0"/>
          </a:p>
        </p:txBody>
      </p:sp>
      <p:sp>
        <p:nvSpPr>
          <p:cNvPr id="9" name="标题 1">
            <a:extLst>
              <a:ext uri="{FF2B5EF4-FFF2-40B4-BE49-F238E27FC236}">
                <a16:creationId xmlns:a16="http://schemas.microsoft.com/office/drawing/2014/main" id="{A09E5926-116F-5476-C2FF-2F25EDDAD042}"/>
              </a:ext>
            </a:extLst>
          </p:cNvPr>
          <p:cNvSpPr txBox="1">
            <a:spLocks/>
          </p:cNvSpPr>
          <p:nvPr/>
        </p:nvSpPr>
        <p:spPr>
          <a:xfrm>
            <a:off x="9161743" y="5259010"/>
            <a:ext cx="2458757" cy="644882"/>
          </a:xfrm>
          <a:prstGeom prst="rect">
            <a:avLst/>
          </a:prstGeom>
        </p:spPr>
        <p:txBody>
          <a:bodyPr vert="horz" lIns="91440" tIns="45721" rIns="91440" bIns="45721" rtlCol="0" anchor="ctr">
            <a:normAutofit fontScale="92500" lnSpcReduction="10000"/>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algn="ctr"/>
            <a:r>
              <a:rPr lang="en-US" altLang="zh-CN" sz="1600" b="0" dirty="0">
                <a:solidFill>
                  <a:schemeClr val="tx1"/>
                </a:solidFill>
                <a:latin typeface="Times New Roman" panose="02020603050405020304" pitchFamily="18" charset="0"/>
                <a:cs typeface="Times New Roman" panose="02020603050405020304" pitchFamily="18" charset="0"/>
              </a:rPr>
              <a:t>Figure 1 </a:t>
            </a:r>
            <a:r>
              <a:rPr lang="en-US" altLang="zh-CN" sz="1600" b="0" dirty="0" err="1">
                <a:solidFill>
                  <a:schemeClr val="tx1"/>
                </a:solidFill>
                <a:latin typeface="Times New Roman" panose="02020603050405020304" pitchFamily="18" charset="0"/>
                <a:cs typeface="Times New Roman" panose="02020603050405020304" pitchFamily="18" charset="0"/>
              </a:rPr>
              <a:t>Antwork</a:t>
            </a:r>
            <a:r>
              <a:rPr lang="en-US" altLang="zh-CN" sz="1600" b="0" dirty="0">
                <a:solidFill>
                  <a:schemeClr val="tx1"/>
                </a:solidFill>
                <a:latin typeface="Times New Roman" panose="02020603050405020304" pitchFamily="18" charset="0"/>
                <a:cs typeface="Times New Roman" panose="02020603050405020304" pitchFamily="18" charset="0"/>
              </a:rPr>
              <a:t> RA3</a:t>
            </a:r>
          </a:p>
          <a:p>
            <a:pPr algn="ctr"/>
            <a:r>
              <a:rPr lang="en-US" altLang="zh-CN" sz="1600" b="0" dirty="0">
                <a:solidFill>
                  <a:schemeClr val="tx1"/>
                </a:solidFill>
                <a:cs typeface="Times New Roman" panose="02020603050405020304" pitchFamily="18" charset="0"/>
              </a:rPr>
              <a:t>Source: https://www.antwork.link/</a:t>
            </a:r>
            <a:endParaRPr lang="en-GB" altLang="zh-CN" sz="1600" b="0" dirty="0">
              <a:solidFill>
                <a:schemeClr val="tx1"/>
              </a:solidFill>
            </a:endParaRPr>
          </a:p>
        </p:txBody>
      </p:sp>
      <p:sp>
        <p:nvSpPr>
          <p:cNvPr id="12" name="椭圆 11">
            <a:extLst>
              <a:ext uri="{FF2B5EF4-FFF2-40B4-BE49-F238E27FC236}">
                <a16:creationId xmlns:a16="http://schemas.microsoft.com/office/drawing/2014/main" id="{56574981-4EF7-D273-1487-86A91DB509E9}"/>
              </a:ext>
            </a:extLst>
          </p:cNvPr>
          <p:cNvSpPr/>
          <p:nvPr/>
        </p:nvSpPr>
        <p:spPr>
          <a:xfrm>
            <a:off x="457988" y="1066924"/>
            <a:ext cx="304013" cy="304014"/>
          </a:xfrm>
          <a:prstGeom prst="ellipse">
            <a:avLst/>
          </a:prstGeom>
          <a: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EED7BBDA-4F96-304D-EF78-F5E1F97B2F03}"/>
              </a:ext>
            </a:extLst>
          </p:cNvPr>
          <p:cNvSpPr/>
          <p:nvPr/>
        </p:nvSpPr>
        <p:spPr>
          <a:xfrm>
            <a:off x="457988" y="1659667"/>
            <a:ext cx="304013" cy="304014"/>
          </a:xfrm>
          <a:prstGeom prst="ellipse">
            <a:avLst/>
          </a:prstGeom>
          <a: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CF35C88D-76B6-0687-0539-3678B9190F60}"/>
              </a:ext>
            </a:extLst>
          </p:cNvPr>
          <p:cNvSpPr/>
          <p:nvPr/>
        </p:nvSpPr>
        <p:spPr>
          <a:xfrm>
            <a:off x="457988" y="3220365"/>
            <a:ext cx="304013" cy="304014"/>
          </a:xfrm>
          <a:prstGeom prst="ellipse">
            <a:avLst/>
          </a:prstGeom>
          <a: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CC9BE482-3940-1393-FB85-4B68876EC6AA}"/>
              </a:ext>
            </a:extLst>
          </p:cNvPr>
          <p:cNvSpPr/>
          <p:nvPr/>
        </p:nvSpPr>
        <p:spPr>
          <a:xfrm>
            <a:off x="457988" y="4718965"/>
            <a:ext cx="304013" cy="304014"/>
          </a:xfrm>
          <a:prstGeom prst="ellipse">
            <a:avLst/>
          </a:prstGeom>
          <a: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19156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A3B8A3D7-BF81-B3F0-BC77-19D8000E363D}"/>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1.3 Safety &amp; Route Restrictions</a:t>
            </a:r>
            <a:endParaRPr lang="en-GB" altLang="zh-CN" dirty="0"/>
          </a:p>
        </p:txBody>
      </p:sp>
      <p:sp>
        <p:nvSpPr>
          <p:cNvPr id="4" name="文本框 3">
            <a:extLst>
              <a:ext uri="{FF2B5EF4-FFF2-40B4-BE49-F238E27FC236}">
                <a16:creationId xmlns:a16="http://schemas.microsoft.com/office/drawing/2014/main" id="{81FB9136-0233-40F0-B9D2-493BA3C01FAA}"/>
              </a:ext>
            </a:extLst>
          </p:cNvPr>
          <p:cNvSpPr txBox="1"/>
          <p:nvPr/>
        </p:nvSpPr>
        <p:spPr>
          <a:xfrm>
            <a:off x="874713" y="880533"/>
            <a:ext cx="8633354" cy="5115311"/>
          </a:xfrm>
          <a:prstGeom prst="rect">
            <a:avLst/>
          </a:prstGeom>
          <a:noFill/>
        </p:spPr>
        <p:txBody>
          <a:bodyPr wrap="square" rtlCol="0">
            <a:spAutoFit/>
          </a:bodyPr>
          <a:lstStyle/>
          <a:p>
            <a:pPr>
              <a:lnSpc>
                <a:spcPct val="150000"/>
              </a:lnSpc>
            </a:pPr>
            <a:r>
              <a:rPr lang="en-US" altLang="zh-CN" sz="2000" b="1" dirty="0">
                <a:latin typeface="Times New Roman" panose="02020603050405020304" pitchFamily="18" charset="0"/>
                <a:cs typeface="Times New Roman" panose="02020603050405020304" pitchFamily="18" charset="0"/>
              </a:rPr>
              <a:t>Safety Features:</a:t>
            </a:r>
          </a:p>
          <a:p>
            <a:pPr>
              <a:lnSpc>
                <a:spcPct val="150000"/>
              </a:lnSpc>
            </a:pPr>
            <a:r>
              <a:rPr lang="en-US" altLang="zh-CN" sz="2000" dirty="0">
                <a:latin typeface="Times New Roman" panose="02020603050405020304" pitchFamily="18" charset="0"/>
                <a:cs typeface="Times New Roman" panose="02020603050405020304" pitchFamily="18" charset="0"/>
              </a:rPr>
              <a:t>Six-rotor redundant power system</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en-US" altLang="zh-CN" sz="2000" dirty="0">
                <a:latin typeface="Times New Roman" panose="02020603050405020304" pitchFamily="18" charset="0"/>
                <a:cs typeface="Times New Roman" panose="02020603050405020304" pitchFamily="18" charset="0"/>
              </a:rPr>
              <a:t>·It can maintain flight even in the event of a single rotor failure. </a:t>
            </a:r>
          </a:p>
          <a:p>
            <a:pPr>
              <a:lnSpc>
                <a:spcPct val="150000"/>
              </a:lnSpc>
            </a:pPr>
            <a:r>
              <a:rPr lang="en-US" altLang="zh-CN" sz="2000" dirty="0">
                <a:latin typeface="Times New Roman" panose="02020603050405020304" pitchFamily="18" charset="0"/>
                <a:cs typeface="Times New Roman" panose="02020603050405020304" pitchFamily="18" charset="0"/>
              </a:rPr>
              <a:t>BVLOS emergency protocols:</a:t>
            </a:r>
          </a:p>
          <a:p>
            <a:pPr>
              <a:lnSpc>
                <a:spcPct val="150000"/>
              </a:lnSpc>
            </a:pPr>
            <a:r>
              <a:rPr lang="en-US" altLang="zh-CN" sz="2000" dirty="0">
                <a:latin typeface="Times New Roman" panose="02020603050405020304" pitchFamily="18" charset="0"/>
                <a:cs typeface="Times New Roman" panose="02020603050405020304" pitchFamily="18" charset="0"/>
              </a:rPr>
              <a:t>·Motor failure: Safe-zone landing</a:t>
            </a:r>
          </a:p>
          <a:p>
            <a:pPr>
              <a:lnSpc>
                <a:spcPct val="150000"/>
              </a:lnSpc>
            </a:pPr>
            <a:r>
              <a:rPr lang="en-US" altLang="zh-CN" sz="2000" dirty="0">
                <a:latin typeface="Times New Roman" panose="02020603050405020304" pitchFamily="18" charset="0"/>
                <a:cs typeface="Times New Roman" panose="02020603050405020304" pitchFamily="18" charset="0"/>
              </a:rPr>
              <a:t>·Link loss: Automated return</a:t>
            </a:r>
          </a:p>
          <a:p>
            <a:pPr lvl="2">
              <a:lnSpc>
                <a:spcPct val="150000"/>
              </a:lnSpc>
            </a:pPr>
            <a:endParaRPr lang="en-US" altLang="zh-CN" sz="2000" dirty="0">
              <a:latin typeface="Times New Roman" panose="02020603050405020304" pitchFamily="18" charset="0"/>
              <a:cs typeface="Times New Roman" panose="02020603050405020304" pitchFamily="18" charset="0"/>
            </a:endParaRPr>
          </a:p>
          <a:p>
            <a:pPr>
              <a:lnSpc>
                <a:spcPct val="150000"/>
              </a:lnSpc>
            </a:pPr>
            <a:r>
              <a:rPr lang="en-US" altLang="zh-CN" sz="2000" b="1" dirty="0">
                <a:latin typeface="Times New Roman" panose="02020603050405020304" pitchFamily="18" charset="0"/>
                <a:cs typeface="Times New Roman" panose="02020603050405020304" pitchFamily="18" charset="0"/>
              </a:rPr>
              <a:t>Operational Limits:</a:t>
            </a:r>
          </a:p>
          <a:p>
            <a:pPr>
              <a:lnSpc>
                <a:spcPct val="150000"/>
              </a:lnSpc>
            </a:pPr>
            <a:r>
              <a:rPr lang="en-US" altLang="zh-CN" sz="2000" dirty="0">
                <a:latin typeface="Times New Roman" panose="02020603050405020304" pitchFamily="18" charset="0"/>
                <a:cs typeface="Times New Roman" panose="02020603050405020304" pitchFamily="18" charset="0"/>
              </a:rPr>
              <a:t>·Max wind speed: 10 m/s</a:t>
            </a:r>
          </a:p>
          <a:p>
            <a:pPr>
              <a:lnSpc>
                <a:spcPct val="150000"/>
              </a:lnSpc>
            </a:pPr>
            <a:r>
              <a:rPr lang="en-US" altLang="zh-CN" sz="2000" dirty="0">
                <a:latin typeface="Times New Roman" panose="02020603050405020304" pitchFamily="18" charset="0"/>
                <a:cs typeface="Times New Roman" panose="02020603050405020304" pitchFamily="18" charset="0"/>
              </a:rPr>
              <a:t>·No-fly zone compliance</a:t>
            </a:r>
          </a:p>
          <a:p>
            <a:pPr>
              <a:lnSpc>
                <a:spcPct val="150000"/>
              </a:lnSpc>
            </a:pPr>
            <a:r>
              <a:rPr lang="en-US" altLang="zh-CN" sz="2000" dirty="0">
                <a:latin typeface="Times New Roman" panose="02020603050405020304" pitchFamily="18" charset="0"/>
                <a:cs typeface="Times New Roman" panose="02020603050405020304" pitchFamily="18" charset="0"/>
              </a:rPr>
              <a:t>·Pre-surveyed obstacle avoidance routes</a:t>
            </a:r>
            <a:endParaRPr lang="zh-CN" altLang="en-US" sz="2000" dirty="0">
              <a:latin typeface="Times New Roman" panose="02020603050405020304" pitchFamily="18" charset="0"/>
              <a:cs typeface="Times New Roman" panose="02020603050405020304" pitchFamily="18" charset="0"/>
            </a:endParaRPr>
          </a:p>
        </p:txBody>
      </p:sp>
      <p:sp>
        <p:nvSpPr>
          <p:cNvPr id="10" name="椭圆 9">
            <a:extLst>
              <a:ext uri="{FF2B5EF4-FFF2-40B4-BE49-F238E27FC236}">
                <a16:creationId xmlns:a16="http://schemas.microsoft.com/office/drawing/2014/main" id="{1A7C757D-8AA6-9998-C0EC-4B1E1125B8B3}"/>
              </a:ext>
            </a:extLst>
          </p:cNvPr>
          <p:cNvSpPr/>
          <p:nvPr/>
        </p:nvSpPr>
        <p:spPr>
          <a:xfrm>
            <a:off x="457989" y="4233457"/>
            <a:ext cx="304013" cy="304014"/>
          </a:xfrm>
          <a:prstGeom prst="ellipse">
            <a:avLst/>
          </a:prstGeom>
          <a: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3B8D1DB5-6351-769A-2D89-C8B728D89970}"/>
              </a:ext>
            </a:extLst>
          </p:cNvPr>
          <p:cNvSpPr/>
          <p:nvPr/>
        </p:nvSpPr>
        <p:spPr>
          <a:xfrm>
            <a:off x="457988" y="1066924"/>
            <a:ext cx="304013" cy="304014"/>
          </a:xfrm>
          <a:prstGeom prst="ellipse">
            <a:avLst/>
          </a:prstGeom>
          <a: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9523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EEB76-C28A-C307-6752-0317FEC349F3}"/>
            </a:ext>
          </a:extLst>
        </p:cNvPr>
        <p:cNvGrpSpPr/>
        <p:nvPr/>
      </p:nvGrpSpPr>
      <p:grpSpPr>
        <a:xfrm>
          <a:off x="0" y="0"/>
          <a:ext cx="0" cy="0"/>
          <a:chOff x="0" y="0"/>
          <a:chExt cx="0" cy="0"/>
        </a:xfrm>
      </p:grpSpPr>
      <p:sp>
        <p:nvSpPr>
          <p:cNvPr id="7" name="标题 1">
            <a:extLst>
              <a:ext uri="{FF2B5EF4-FFF2-40B4-BE49-F238E27FC236}">
                <a16:creationId xmlns:a16="http://schemas.microsoft.com/office/drawing/2014/main" id="{0012D587-CDC0-A7AD-F615-E5D8DC2F6368}"/>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1.4 </a:t>
            </a:r>
            <a:r>
              <a:rPr lang="it-IT" altLang="zh-CN" dirty="0"/>
              <a:t>SUA No-Fly Zon</a:t>
            </a:r>
            <a:r>
              <a:rPr lang="en-US" altLang="zh-CN" dirty="0"/>
              <a:t>e</a:t>
            </a:r>
            <a:endParaRPr lang="en-GB" altLang="zh-CN" dirty="0"/>
          </a:p>
        </p:txBody>
      </p:sp>
      <p:sp>
        <p:nvSpPr>
          <p:cNvPr id="11" name="椭圆 10">
            <a:extLst>
              <a:ext uri="{FF2B5EF4-FFF2-40B4-BE49-F238E27FC236}">
                <a16:creationId xmlns:a16="http://schemas.microsoft.com/office/drawing/2014/main" id="{A6B3B9C8-8851-9E81-5867-12E3FD2DDAB0}"/>
              </a:ext>
            </a:extLst>
          </p:cNvPr>
          <p:cNvSpPr/>
          <p:nvPr/>
        </p:nvSpPr>
        <p:spPr>
          <a:xfrm>
            <a:off x="486457" y="1393030"/>
            <a:ext cx="304013" cy="304014"/>
          </a:xfrm>
          <a:prstGeom prst="ellipse">
            <a:avLst/>
          </a:prstGeom>
          <a: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89509ABC-8BE1-C60F-3712-3797AEBD03AF}"/>
              </a:ext>
            </a:extLst>
          </p:cNvPr>
          <p:cNvPicPr>
            <a:picLocks noChangeAspect="1"/>
          </p:cNvPicPr>
          <p:nvPr/>
        </p:nvPicPr>
        <p:blipFill>
          <a:blip r:embed="rId4"/>
          <a:stretch>
            <a:fillRect/>
          </a:stretch>
        </p:blipFill>
        <p:spPr>
          <a:xfrm>
            <a:off x="5001866" y="1305943"/>
            <a:ext cx="6703677" cy="4745718"/>
          </a:xfrm>
          <a:prstGeom prst="rect">
            <a:avLst/>
          </a:prstGeom>
        </p:spPr>
      </p:pic>
      <p:sp>
        <p:nvSpPr>
          <p:cNvPr id="3" name="内容占位符 1">
            <a:extLst>
              <a:ext uri="{FF2B5EF4-FFF2-40B4-BE49-F238E27FC236}">
                <a16:creationId xmlns:a16="http://schemas.microsoft.com/office/drawing/2014/main" id="{2A48B8A8-2030-F6DC-7D94-9AAADEA25F8C}"/>
              </a:ext>
            </a:extLst>
          </p:cNvPr>
          <p:cNvSpPr txBox="1">
            <a:spLocks/>
          </p:cNvSpPr>
          <p:nvPr/>
        </p:nvSpPr>
        <p:spPr>
          <a:xfrm>
            <a:off x="790470" y="1305943"/>
            <a:ext cx="3984730" cy="1771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000" dirty="0">
                <a:latin typeface="Times New Roman" panose="02020603050405020304" pitchFamily="18" charset="0"/>
                <a:cs typeface="Times New Roman" panose="02020603050405020304" pitchFamily="18" charset="0"/>
              </a:rPr>
              <a:t>The diagram shows the SUA no-fly zone in Tseung Kwan O - Sai Kung and the surrounding areas.</a:t>
            </a:r>
          </a:p>
          <a:p>
            <a:endParaRPr lang="en-US" altLang="zh-CN"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zh-CN" sz="2000" dirty="0">
              <a:latin typeface="Times New Roman" panose="02020603050405020304" pitchFamily="18" charset="0"/>
              <a:cs typeface="Times New Roman" panose="02020603050405020304" pitchFamily="18" charset="0"/>
            </a:endParaRPr>
          </a:p>
          <a:p>
            <a:endParaRPr lang="zh-CN" altLang="en-US" dirty="0"/>
          </a:p>
        </p:txBody>
      </p:sp>
      <p:sp>
        <p:nvSpPr>
          <p:cNvPr id="4" name="标题 1">
            <a:extLst>
              <a:ext uri="{FF2B5EF4-FFF2-40B4-BE49-F238E27FC236}">
                <a16:creationId xmlns:a16="http://schemas.microsoft.com/office/drawing/2014/main" id="{E4941DEA-113F-7108-F039-908846293821}"/>
              </a:ext>
            </a:extLst>
          </p:cNvPr>
          <p:cNvSpPr txBox="1">
            <a:spLocks/>
          </p:cNvSpPr>
          <p:nvPr/>
        </p:nvSpPr>
        <p:spPr>
          <a:xfrm>
            <a:off x="6642100" y="6051661"/>
            <a:ext cx="5156201" cy="5777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algn="r"/>
            <a:r>
              <a:rPr lang="it-IT" altLang="zh-CN" sz="1600" b="0" dirty="0">
                <a:solidFill>
                  <a:schemeClr val="tx1"/>
                </a:solidFill>
                <a:latin typeface="Times New Roman" panose="02020603050405020304" pitchFamily="18" charset="0"/>
                <a:cs typeface="Times New Roman" panose="02020603050405020304" pitchFamily="18" charset="0"/>
              </a:rPr>
              <a:t>No fly zone in Hongkong (Scale: 1:2 km)</a:t>
            </a:r>
          </a:p>
          <a:p>
            <a:pPr algn="r"/>
            <a:r>
              <a:rPr lang="en-US" altLang="zh-CN" sz="1600" b="0" dirty="0">
                <a:solidFill>
                  <a:schemeClr val="tx1"/>
                </a:solidFill>
                <a:cs typeface="Times New Roman" panose="02020603050405020304" pitchFamily="18" charset="0"/>
              </a:rPr>
              <a:t>Source: https://esua.cad.gov.hk/web/droneMap?lang=en_US</a:t>
            </a:r>
            <a:endParaRPr lang="en-GB" altLang="zh-CN" sz="1600" b="0" dirty="0">
              <a:solidFill>
                <a:schemeClr val="tx1"/>
              </a:solidFill>
            </a:endParaRPr>
          </a:p>
        </p:txBody>
      </p:sp>
    </p:spTree>
    <p:extLst>
      <p:ext uri="{BB962C8B-B14F-4D97-AF65-F5344CB8AC3E}">
        <p14:creationId xmlns:p14="http://schemas.microsoft.com/office/powerpoint/2010/main" val="904547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B25D5445-57E3-569D-4465-3065D5ACED84}"/>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sym typeface="+mn-ea"/>
              </a:rPr>
              <a:t>2.1 Intrinsic Ground Risk Class (IGRC)</a:t>
            </a:r>
            <a:endParaRPr lang="en-GB" altLang="zh-CN" dirty="0"/>
          </a:p>
        </p:txBody>
      </p:sp>
      <p:sp>
        <p:nvSpPr>
          <p:cNvPr id="4" name="文本框 3">
            <a:extLst>
              <a:ext uri="{FF2B5EF4-FFF2-40B4-BE49-F238E27FC236}">
                <a16:creationId xmlns:a16="http://schemas.microsoft.com/office/drawing/2014/main" id="{4C61CCE9-A1CB-0CDF-36ED-40303EA66EA7}"/>
              </a:ext>
            </a:extLst>
          </p:cNvPr>
          <p:cNvSpPr txBox="1"/>
          <p:nvPr/>
        </p:nvSpPr>
        <p:spPr>
          <a:xfrm>
            <a:off x="442913" y="1016000"/>
            <a:ext cx="10083800" cy="1015663"/>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It is an important indicator for assessing the potential risks of drones to ground personnel and property, and its core parameter is population density</a:t>
            </a:r>
          </a:p>
          <a:p>
            <a:endParaRPr lang="zh-CN"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84EEAB18-F432-84D3-4E29-10CE2C8BA668}"/>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sym typeface="+mn-ea"/>
              </a:rPr>
              <a:t>2.1 Intrinsic Ground Risk Class (IGRC)</a:t>
            </a:r>
            <a:endParaRPr lang="en-GB" altLang="zh-CN" dirty="0"/>
          </a:p>
        </p:txBody>
      </p:sp>
      <p:pic>
        <p:nvPicPr>
          <p:cNvPr id="11" name="图片 10" descr="8d066b1b6a62db7b59e2f88975fe04e8">
            <a:extLst>
              <a:ext uri="{FF2B5EF4-FFF2-40B4-BE49-F238E27FC236}">
                <a16:creationId xmlns:a16="http://schemas.microsoft.com/office/drawing/2014/main" id="{A69A408C-E1C9-AD08-5640-7C734F2B472D}"/>
              </a:ext>
            </a:extLst>
          </p:cNvPr>
          <p:cNvPicPr>
            <a:picLocks noChangeAspect="1"/>
          </p:cNvPicPr>
          <p:nvPr/>
        </p:nvPicPr>
        <p:blipFill>
          <a:blip r:embed="rId2"/>
          <a:stretch>
            <a:fillRect/>
          </a:stretch>
        </p:blipFill>
        <p:spPr>
          <a:xfrm>
            <a:off x="442912" y="1670200"/>
            <a:ext cx="10010548" cy="2326907"/>
          </a:xfrm>
          <a:prstGeom prst="rect">
            <a:avLst/>
          </a:prstGeom>
        </p:spPr>
      </p:pic>
      <p:sp>
        <p:nvSpPr>
          <p:cNvPr id="12" name="文本框 11">
            <a:extLst>
              <a:ext uri="{FF2B5EF4-FFF2-40B4-BE49-F238E27FC236}">
                <a16:creationId xmlns:a16="http://schemas.microsoft.com/office/drawing/2014/main" id="{30B76C72-4580-2701-E346-F9746F1500B5}"/>
              </a:ext>
            </a:extLst>
          </p:cNvPr>
          <p:cNvSpPr txBox="1"/>
          <p:nvPr/>
        </p:nvSpPr>
        <p:spPr>
          <a:xfrm>
            <a:off x="442913" y="1016000"/>
            <a:ext cx="9448800" cy="707886"/>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Sai Kung </a:t>
            </a:r>
            <a:r>
              <a:rPr lang="en-US" altLang="zh-CN" sz="2000" b="1" dirty="0" err="1">
                <a:latin typeface="Times New Roman" panose="02020603050405020304" pitchFamily="18" charset="0"/>
                <a:cs typeface="Times New Roman" panose="02020603050405020304" pitchFamily="18" charset="0"/>
              </a:rPr>
              <a:t>popluation</a:t>
            </a:r>
            <a:r>
              <a:rPr lang="en-US" altLang="zh-CN" sz="2000" b="1" dirty="0">
                <a:latin typeface="Times New Roman" panose="02020603050405020304" pitchFamily="18" charset="0"/>
                <a:cs typeface="Times New Roman" panose="02020603050405020304" pitchFamily="18" charset="0"/>
              </a:rPr>
              <a:t> density : 3860 people per square kilometer</a:t>
            </a:r>
          </a:p>
          <a:p>
            <a:endParaRPr lang="zh-CN" altLang="en-US" sz="2000" b="1"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35FBEC94-7328-4B6E-AE11-E4EBF9895861}"/>
              </a:ext>
            </a:extLst>
          </p:cNvPr>
          <p:cNvSpPr txBox="1"/>
          <p:nvPr/>
        </p:nvSpPr>
        <p:spPr>
          <a:xfrm>
            <a:off x="442912" y="4024346"/>
            <a:ext cx="11075775" cy="2646878"/>
          </a:xfrm>
          <a:prstGeom prst="rect">
            <a:avLst/>
          </a:prstGeom>
          <a:noFill/>
        </p:spPr>
        <p:txBody>
          <a:bodyPr wrap="square" rtlCol="0">
            <a:spAutoFit/>
          </a:bodyPr>
          <a:lstStyle>
            <a:defPPr>
              <a:defRPr lang="zh-CN"/>
            </a:defPPr>
            <a:lvl1pPr>
              <a:defRPr sz="2000" b="1">
                <a:latin typeface="Times New Roman" panose="02020603050405020304" pitchFamily="18" charset="0"/>
                <a:cs typeface="Times New Roman" panose="02020603050405020304" pitchFamily="18" charset="0"/>
              </a:defRPr>
            </a:lvl1pPr>
          </a:lstStyle>
          <a:p>
            <a:pPr>
              <a:lnSpc>
                <a:spcPct val="150000"/>
              </a:lnSpc>
            </a:pPr>
            <a:r>
              <a:rPr lang="en-US" altLang="zh-CN" dirty="0"/>
              <a:t>Tseung Kwan O  : a total area is 1,080 hectares and the population is approximately 257,000.</a:t>
            </a:r>
          </a:p>
          <a:p>
            <a:pPr>
              <a:lnSpc>
                <a:spcPct val="150000"/>
              </a:lnSpc>
            </a:pPr>
            <a:r>
              <a:rPr lang="en-US" altLang="zh-CN" dirty="0"/>
              <a:t>Tseung Kwan O </a:t>
            </a:r>
            <a:r>
              <a:rPr lang="zh-CN" altLang="en-US" dirty="0"/>
              <a:t>：</a:t>
            </a:r>
            <a:r>
              <a:rPr lang="en-US" altLang="zh-CN" dirty="0"/>
              <a:t>over 20,000 people per square kilometer.</a:t>
            </a:r>
          </a:p>
          <a:p>
            <a:pPr>
              <a:lnSpc>
                <a:spcPct val="150000"/>
              </a:lnSpc>
            </a:pPr>
            <a:r>
              <a:rPr lang="en-US" altLang="zh-CN" sz="2400" dirty="0">
                <a:sym typeface="+mn-ea"/>
              </a:rPr>
              <a:t>IGRC</a:t>
            </a:r>
            <a:r>
              <a:rPr lang="zh-CN" altLang="en-US" sz="2400" dirty="0">
                <a:sym typeface="+mn-ea"/>
              </a:rPr>
              <a:t>：</a:t>
            </a:r>
            <a:r>
              <a:rPr lang="en-US" altLang="zh-CN" sz="2400" dirty="0">
                <a:sym typeface="+mn-ea"/>
              </a:rPr>
              <a:t>5~6</a:t>
            </a:r>
          </a:p>
          <a:p>
            <a:pPr>
              <a:lnSpc>
                <a:spcPct val="150000"/>
              </a:lnSpc>
            </a:pPr>
            <a:r>
              <a:rPr lang="en-US" altLang="zh-CN" b="0" dirty="0"/>
              <a:t>https://baike.baidu.com/item/%E5%B0%86%E5%86%9B%E6%BE%B3/2293635</a:t>
            </a:r>
          </a:p>
          <a:p>
            <a:endParaRPr lang="en-US" altLang="zh-CN" dirty="0"/>
          </a:p>
          <a:p>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1199707" y="202093"/>
            <a:ext cx="3959434" cy="635305"/>
          </a:xfrm>
          <a:prstGeom prst="rect">
            <a:avLst/>
          </a:prstGeom>
        </p:spPr>
        <p:txBody>
          <a:bodyPr vert="horz" lIns="91440" tIns="45721" rIns="91440" bIns="45721" rtlCol="0" anchor="ctr">
            <a:normAutofit/>
          </a:bodyPr>
          <a:lstStyle>
            <a:defPPr>
              <a:defRPr lang="en-US"/>
            </a:defPPr>
            <a:lvl1pPr defTabSz="914400">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2.2The Air Risk Class (ARC) </a:t>
            </a:r>
          </a:p>
        </p:txBody>
      </p:sp>
      <p:pic>
        <p:nvPicPr>
          <p:cNvPr id="1014757649" name="图片 1"/>
          <p:cNvPicPr>
            <a:picLocks noChangeAspect="1"/>
          </p:cNvPicPr>
          <p:nvPr/>
        </p:nvPicPr>
        <p:blipFill>
          <a:blip r:embed="rId2"/>
          <a:stretch>
            <a:fillRect/>
          </a:stretch>
        </p:blipFill>
        <p:spPr>
          <a:xfrm>
            <a:off x="6997700" y="1016000"/>
            <a:ext cx="4668615" cy="5186833"/>
          </a:xfrm>
          <a:prstGeom prst="rect">
            <a:avLst/>
          </a:prstGeom>
        </p:spPr>
      </p:pic>
      <p:sp>
        <p:nvSpPr>
          <p:cNvPr id="4" name="文本框 3"/>
          <p:cNvSpPr txBox="1"/>
          <p:nvPr/>
        </p:nvSpPr>
        <p:spPr>
          <a:xfrm>
            <a:off x="1193800" y="2830830"/>
            <a:ext cx="4064000" cy="368300"/>
          </a:xfrm>
          <a:prstGeom prst="rect">
            <a:avLst/>
          </a:prstGeom>
          <a:noFill/>
        </p:spPr>
        <p:txBody>
          <a:bodyPr wrap="square" rtlCol="0">
            <a:spAutoFit/>
          </a:bodyPr>
          <a:lstStyle/>
          <a:p>
            <a:endParaRPr lang="zh-CN" altLang="en-US"/>
          </a:p>
        </p:txBody>
      </p:sp>
      <p:sp>
        <p:nvSpPr>
          <p:cNvPr id="10" name="文本框 9">
            <a:extLst>
              <a:ext uri="{FF2B5EF4-FFF2-40B4-BE49-F238E27FC236}">
                <a16:creationId xmlns:a16="http://schemas.microsoft.com/office/drawing/2014/main" id="{BCED4CAA-6550-6DF4-8D51-16819C4CAA4D}"/>
              </a:ext>
            </a:extLst>
          </p:cNvPr>
          <p:cNvSpPr txBox="1"/>
          <p:nvPr/>
        </p:nvSpPr>
        <p:spPr>
          <a:xfrm>
            <a:off x="442912" y="1016000"/>
            <a:ext cx="6355823" cy="2246769"/>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Flight path is not in the immediate vicinity of a major airport</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The air traffic density in this airspace is assessed to be low to medium</a:t>
            </a:r>
          </a:p>
          <a:p>
            <a:endParaRPr lang="en-US" altLang="zh-CN"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Air Risk Class (ARC):C</a:t>
            </a:r>
          </a:p>
          <a:p>
            <a:endParaRPr lang="zh-CN" altLang="en-US" sz="2000" dirty="0">
              <a:latin typeface="Times New Roman" panose="02020603050405020304" pitchFamily="18" charset="0"/>
              <a:cs typeface="Times New Roman" panose="02020603050405020304" pitchFamily="18" charset="0"/>
            </a:endParaRPr>
          </a:p>
        </p:txBody>
      </p:sp>
      <p:sp>
        <p:nvSpPr>
          <p:cNvPr id="2" name="标题 1">
            <a:extLst>
              <a:ext uri="{FF2B5EF4-FFF2-40B4-BE49-F238E27FC236}">
                <a16:creationId xmlns:a16="http://schemas.microsoft.com/office/drawing/2014/main" id="{DBCD41E2-A431-774E-FA3F-CB89A05C6272}"/>
              </a:ext>
            </a:extLst>
          </p:cNvPr>
          <p:cNvSpPr txBox="1">
            <a:spLocks/>
          </p:cNvSpPr>
          <p:nvPr/>
        </p:nvSpPr>
        <p:spPr>
          <a:xfrm>
            <a:off x="6654424" y="6280261"/>
            <a:ext cx="5156201" cy="5777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algn="r"/>
            <a:r>
              <a:rPr lang="en-US" altLang="zh-CN" sz="1600" b="0" dirty="0">
                <a:solidFill>
                  <a:schemeClr val="tx1"/>
                </a:solidFill>
                <a:latin typeface="Times New Roman" panose="02020603050405020304" pitchFamily="18" charset="0"/>
                <a:cs typeface="Times New Roman" panose="02020603050405020304" pitchFamily="18" charset="0"/>
              </a:rPr>
              <a:t>Straight distance of around 7 km</a:t>
            </a:r>
          </a:p>
          <a:p>
            <a:pPr algn="r"/>
            <a:r>
              <a:rPr lang="en-US" altLang="zh-CN" sz="1600" b="0" dirty="0">
                <a:solidFill>
                  <a:schemeClr val="tx1"/>
                </a:solidFill>
                <a:cs typeface="Times New Roman" panose="02020603050405020304" pitchFamily="18" charset="0"/>
              </a:rPr>
              <a:t>Source: https://www.google.com/maps</a:t>
            </a:r>
            <a:endParaRPr lang="en-GB" altLang="zh-CN" sz="1600" b="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8918D6BF-64E0-0AFE-E1FB-E566B3B32041}"/>
              </a:ext>
            </a:extLst>
          </p:cNvPr>
          <p:cNvGrpSpPr/>
          <p:nvPr/>
        </p:nvGrpSpPr>
        <p:grpSpPr>
          <a:xfrm>
            <a:off x="7603197" y="3519982"/>
            <a:ext cx="642484" cy="377372"/>
            <a:chOff x="464459" y="324756"/>
            <a:chExt cx="642484" cy="377372"/>
          </a:xfrm>
        </p:grpSpPr>
        <p:sp>
          <p:nvSpPr>
            <p:cNvPr id="3" name="箭头: V 形 21">
              <a:extLst>
                <a:ext uri="{FF2B5EF4-FFF2-40B4-BE49-F238E27FC236}">
                  <a16:creationId xmlns:a16="http://schemas.microsoft.com/office/drawing/2014/main" id="{E28F2E31-7745-F8D3-3B01-91C91DD6B860}"/>
                </a:ext>
              </a:extLst>
            </p:cNvPr>
            <p:cNvSpPr/>
            <p:nvPr/>
          </p:nvSpPr>
          <p:spPr>
            <a:xfrm>
              <a:off x="464459" y="3247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4" name="箭头: V 形 22">
              <a:extLst>
                <a:ext uri="{FF2B5EF4-FFF2-40B4-BE49-F238E27FC236}">
                  <a16:creationId xmlns:a16="http://schemas.microsoft.com/office/drawing/2014/main" id="{099F9EB2-A4C3-0252-9AB9-3FEC34885DDA}"/>
                </a:ext>
              </a:extLst>
            </p:cNvPr>
            <p:cNvSpPr/>
            <p:nvPr/>
          </p:nvSpPr>
          <p:spPr>
            <a:xfrm>
              <a:off x="745337" y="3247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sp>
        <p:nvSpPr>
          <p:cNvPr id="11" name="标题 1">
            <a:extLst>
              <a:ext uri="{FF2B5EF4-FFF2-40B4-BE49-F238E27FC236}">
                <a16:creationId xmlns:a16="http://schemas.microsoft.com/office/drawing/2014/main" id="{DD622F91-22E6-9288-97F4-B0DF9F17DD9A}"/>
              </a:ext>
            </a:extLst>
          </p:cNvPr>
          <p:cNvSpPr txBox="1">
            <a:spLocks/>
          </p:cNvSpPr>
          <p:nvPr/>
        </p:nvSpPr>
        <p:spPr>
          <a:xfrm>
            <a:off x="8367319" y="3429000"/>
            <a:ext cx="3824681" cy="5448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GB" altLang="zh-CN" dirty="0"/>
              <a:t>Ground Risk </a:t>
            </a:r>
            <a:r>
              <a:rPr lang="en-US" altLang="zh-CN" dirty="0"/>
              <a:t>Assessment</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13" name="标题 1">
            <a:extLst>
              <a:ext uri="{FF2B5EF4-FFF2-40B4-BE49-F238E27FC236}">
                <a16:creationId xmlns:a16="http://schemas.microsoft.com/office/drawing/2014/main" id="{926AB763-3752-FEED-1013-F154A64D436B}"/>
              </a:ext>
            </a:extLst>
          </p:cNvPr>
          <p:cNvSpPr txBox="1">
            <a:spLocks/>
          </p:cNvSpPr>
          <p:nvPr/>
        </p:nvSpPr>
        <p:spPr>
          <a:xfrm>
            <a:off x="6573795" y="3461714"/>
            <a:ext cx="1075544" cy="512125"/>
          </a:xfrm>
          <a:prstGeom prst="rect">
            <a:avLst/>
          </a:prstGeom>
        </p:spPr>
        <p:txBody>
          <a:bodyPr vert="horz" lIns="91440" tIns="45721" rIns="91440" bIns="45721" rtlCol="0" anchor="ctr">
            <a:normAutofit fontScale="85000" lnSpcReduction="10000"/>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Part III</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2" name="TextBox 7">
            <a:extLst>
              <a:ext uri="{FF2B5EF4-FFF2-40B4-BE49-F238E27FC236}">
                <a16:creationId xmlns:a16="http://schemas.microsoft.com/office/drawing/2014/main" id="{46E29930-5DA1-CCEF-984E-AEBB49AAF8DF}"/>
              </a:ext>
            </a:extLst>
          </p:cNvPr>
          <p:cNvSpPr txBox="1"/>
          <p:nvPr/>
        </p:nvSpPr>
        <p:spPr>
          <a:xfrm>
            <a:off x="8539983" y="3973839"/>
            <a:ext cx="2707600" cy="605294"/>
          </a:xfrm>
          <a:prstGeom prst="rect">
            <a:avLst/>
          </a:prstGeom>
          <a:noFill/>
        </p:spPr>
        <p:txBody>
          <a:bodyPr wrap="none" rtlCol="0">
            <a:spAutoFit/>
          </a:bodyPr>
          <a:lstStyle/>
          <a:p>
            <a:pPr algn="r">
              <a:lnSpc>
                <a:spcPts val="2000"/>
              </a:lnSpc>
            </a:pPr>
            <a:r>
              <a:rPr lang="en-US" altLang="zh-CN" dirty="0" err="1">
                <a:latin typeface="Times New Roman" panose="02020603050405020304" pitchFamily="18" charset="0"/>
                <a:cs typeface="Times New Roman" panose="02020603050405020304" pitchFamily="18" charset="0"/>
              </a:rPr>
              <a:t>Xiaohan</a:t>
            </a:r>
            <a:r>
              <a:rPr lang="en-US" altLang="zh-CN" dirty="0">
                <a:latin typeface="Times New Roman" panose="02020603050405020304" pitchFamily="18" charset="0"/>
                <a:cs typeface="Times New Roman" panose="02020603050405020304" pitchFamily="18" charset="0"/>
              </a:rPr>
              <a:t> Wang  25047428g</a:t>
            </a:r>
          </a:p>
          <a:p>
            <a:pPr algn="r">
              <a:lnSpc>
                <a:spcPts val="2000"/>
              </a:lnSpc>
            </a:pPr>
            <a:r>
              <a:rPr lang="en-US" altLang="zh-CN" dirty="0" err="1">
                <a:latin typeface="Times New Roman" panose="02020603050405020304" pitchFamily="18" charset="0"/>
                <a:cs typeface="Times New Roman" panose="02020603050405020304" pitchFamily="18" charset="0"/>
              </a:rPr>
              <a:t>Daizhe</a:t>
            </a:r>
            <a:r>
              <a:rPr lang="en-US" altLang="zh-CN" dirty="0">
                <a:latin typeface="Times New Roman" panose="02020603050405020304" pitchFamily="18" charset="0"/>
                <a:cs typeface="Times New Roman" panose="02020603050405020304" pitchFamily="18" charset="0"/>
              </a:rPr>
              <a:t> Wu  25039582g</a:t>
            </a:r>
          </a:p>
        </p:txBody>
      </p:sp>
    </p:spTree>
    <p:extLst>
      <p:ext uri="{BB962C8B-B14F-4D97-AF65-F5344CB8AC3E}">
        <p14:creationId xmlns:p14="http://schemas.microsoft.com/office/powerpoint/2010/main" val="1984215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810E0517-0A8A-9313-E267-610742F52EBB}"/>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GB" dirty="0"/>
              <a:t>3.1 Purpose and Scope</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7" name="平行四边形 6">
            <a:extLst>
              <a:ext uri="{FF2B5EF4-FFF2-40B4-BE49-F238E27FC236}">
                <a16:creationId xmlns:a16="http://schemas.microsoft.com/office/drawing/2014/main" id="{4DC48090-FEAD-30F5-2D86-1D5BEEA95E39}"/>
              </a:ext>
            </a:extLst>
          </p:cNvPr>
          <p:cNvSpPr/>
          <p:nvPr/>
        </p:nvSpPr>
        <p:spPr>
          <a:xfrm>
            <a:off x="442913" y="2521978"/>
            <a:ext cx="1351173" cy="619355"/>
          </a:xfrm>
          <a:prstGeom prst="parallelogram">
            <a:avLst>
              <a:gd name="adj" fmla="val 48207"/>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02</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8" name="平行四边形 7">
            <a:extLst>
              <a:ext uri="{FF2B5EF4-FFF2-40B4-BE49-F238E27FC236}">
                <a16:creationId xmlns:a16="http://schemas.microsoft.com/office/drawing/2014/main" id="{29CDC9EE-0C8B-328C-CB31-EF935A76907E}"/>
              </a:ext>
            </a:extLst>
          </p:cNvPr>
          <p:cNvSpPr/>
          <p:nvPr/>
        </p:nvSpPr>
        <p:spPr>
          <a:xfrm>
            <a:off x="442913" y="1268413"/>
            <a:ext cx="1351173" cy="619355"/>
          </a:xfrm>
          <a:prstGeom prst="parallelogram">
            <a:avLst>
              <a:gd name="adj" fmla="val 48207"/>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01</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9" name="平行四边形 8">
            <a:extLst>
              <a:ext uri="{FF2B5EF4-FFF2-40B4-BE49-F238E27FC236}">
                <a16:creationId xmlns:a16="http://schemas.microsoft.com/office/drawing/2014/main" id="{596BFA8D-7467-9EAF-4F75-05C03029E1B6}"/>
              </a:ext>
            </a:extLst>
          </p:cNvPr>
          <p:cNvSpPr/>
          <p:nvPr/>
        </p:nvSpPr>
        <p:spPr>
          <a:xfrm>
            <a:off x="442912" y="4876210"/>
            <a:ext cx="1351173" cy="619355"/>
          </a:xfrm>
          <a:prstGeom prst="parallelogram">
            <a:avLst>
              <a:gd name="adj" fmla="val 48207"/>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04</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0" name="平行四边形 9">
            <a:extLst>
              <a:ext uri="{FF2B5EF4-FFF2-40B4-BE49-F238E27FC236}">
                <a16:creationId xmlns:a16="http://schemas.microsoft.com/office/drawing/2014/main" id="{570FC359-CEC2-4CD1-02B2-D58C8998BEFD}"/>
              </a:ext>
            </a:extLst>
          </p:cNvPr>
          <p:cNvSpPr/>
          <p:nvPr/>
        </p:nvSpPr>
        <p:spPr>
          <a:xfrm>
            <a:off x="442913" y="3666125"/>
            <a:ext cx="1351173" cy="619355"/>
          </a:xfrm>
          <a:prstGeom prst="parallelogram">
            <a:avLst>
              <a:gd name="adj" fmla="val 48207"/>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rPr>
              <a:t>03</a:t>
            </a: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1" name="文本框 10">
            <a:extLst>
              <a:ext uri="{FF2B5EF4-FFF2-40B4-BE49-F238E27FC236}">
                <a16:creationId xmlns:a16="http://schemas.microsoft.com/office/drawing/2014/main" id="{18BCCF98-5EBA-173A-068C-A5597B411E11}"/>
              </a:ext>
            </a:extLst>
          </p:cNvPr>
          <p:cNvSpPr txBox="1"/>
          <p:nvPr/>
        </p:nvSpPr>
        <p:spPr>
          <a:xfrm>
            <a:off x="2010076" y="1387271"/>
            <a:ext cx="8171848" cy="369332"/>
          </a:xfrm>
          <a:prstGeom prst="rect">
            <a:avLst/>
          </a:prstGeom>
          <a:noFill/>
        </p:spPr>
        <p:txBody>
          <a:bodyPr wrap="square" rtlCol="0">
            <a:spAutoFit/>
          </a:bodyPr>
          <a:lstStyle/>
          <a:p>
            <a:r>
              <a:rPr lang="en-US" altLang="zh-CN" sz="1800" b="1" kern="0" dirty="0">
                <a:latin typeface="Times New Roman" panose="02020603050405020304" pitchFamily="18" charset="0"/>
                <a:ea typeface="宋体" panose="02010600030101010101" pitchFamily="2" charset="-122"/>
                <a:cs typeface="Times New Roman" panose="02020603050405020304" pitchFamily="18" charset="0"/>
              </a:rPr>
              <a:t>BVLOS AED delivery: </a:t>
            </a:r>
            <a:r>
              <a:rPr lang="en-US" altLang="zh-CN" sz="1800" kern="0" dirty="0">
                <a:latin typeface="Times New Roman" panose="02020603050405020304" pitchFamily="18" charset="0"/>
                <a:ea typeface="宋体" panose="02010600030101010101" pitchFamily="2" charset="-122"/>
                <a:cs typeface="Times New Roman" panose="02020603050405020304" pitchFamily="18" charset="0"/>
              </a:rPr>
              <a:t>Tseung Kwan O Hospital → Sai Kung Pier (~7 km)</a:t>
            </a:r>
          </a:p>
        </p:txBody>
      </p:sp>
      <p:sp>
        <p:nvSpPr>
          <p:cNvPr id="12" name="文本框 11">
            <a:extLst>
              <a:ext uri="{FF2B5EF4-FFF2-40B4-BE49-F238E27FC236}">
                <a16:creationId xmlns:a16="http://schemas.microsoft.com/office/drawing/2014/main" id="{87ADE9E0-0F84-6994-D3EB-69901C767472}"/>
              </a:ext>
            </a:extLst>
          </p:cNvPr>
          <p:cNvSpPr txBox="1"/>
          <p:nvPr/>
        </p:nvSpPr>
        <p:spPr>
          <a:xfrm>
            <a:off x="2010076" y="2646989"/>
            <a:ext cx="8171848" cy="369332"/>
          </a:xfrm>
          <a:prstGeom prst="rect">
            <a:avLst/>
          </a:prstGeom>
          <a:noFill/>
        </p:spPr>
        <p:txBody>
          <a:bodyPr wrap="square" rtlCol="0">
            <a:spAutoFit/>
          </a:bodyPr>
          <a:lstStyle/>
          <a:p>
            <a:r>
              <a:rPr lang="en-US" altLang="zh-CN" sz="1800" b="1" kern="0" dirty="0">
                <a:latin typeface="Times New Roman" panose="02020603050405020304" pitchFamily="18" charset="0"/>
                <a:ea typeface="宋体" panose="02010600030101010101" pitchFamily="2" charset="-122"/>
                <a:cs typeface="Times New Roman" panose="02020603050405020304" pitchFamily="18" charset="0"/>
              </a:rPr>
              <a:t>Framework: </a:t>
            </a:r>
            <a:r>
              <a:rPr lang="en-US" altLang="zh-CN" sz="1800" kern="0" dirty="0">
                <a:latin typeface="Times New Roman" panose="02020603050405020304" pitchFamily="18" charset="0"/>
                <a:ea typeface="宋体" panose="02010600030101010101" pitchFamily="2" charset="-122"/>
                <a:cs typeface="Times New Roman" panose="02020603050405020304" pitchFamily="18" charset="0"/>
              </a:rPr>
              <a:t>JARUS SORA v2.5, Steps 4.2 &amp; 4.3</a:t>
            </a:r>
          </a:p>
        </p:txBody>
      </p:sp>
      <p:sp>
        <p:nvSpPr>
          <p:cNvPr id="13" name="文本框 12">
            <a:extLst>
              <a:ext uri="{FF2B5EF4-FFF2-40B4-BE49-F238E27FC236}">
                <a16:creationId xmlns:a16="http://schemas.microsoft.com/office/drawing/2014/main" id="{7A986ADD-D742-4AF0-2FCF-AE118A811991}"/>
              </a:ext>
            </a:extLst>
          </p:cNvPr>
          <p:cNvSpPr txBox="1"/>
          <p:nvPr/>
        </p:nvSpPr>
        <p:spPr>
          <a:xfrm>
            <a:off x="2010076" y="3821988"/>
            <a:ext cx="8171848" cy="369332"/>
          </a:xfrm>
          <a:prstGeom prst="rect">
            <a:avLst/>
          </a:prstGeom>
          <a:noFill/>
        </p:spPr>
        <p:txBody>
          <a:bodyPr wrap="square" rtlCol="0">
            <a:spAutoFit/>
          </a:bodyPr>
          <a:lstStyle/>
          <a:p>
            <a:r>
              <a:rPr lang="en-US" altLang="zh-CN" sz="1800" b="1" kern="0" dirty="0">
                <a:latin typeface="Times New Roman" panose="02020603050405020304" pitchFamily="18" charset="0"/>
                <a:ea typeface="宋体" panose="02010600030101010101" pitchFamily="2" charset="-122"/>
                <a:cs typeface="Times New Roman" panose="02020603050405020304" pitchFamily="18" charset="0"/>
              </a:rPr>
              <a:t>Aircraft: </a:t>
            </a:r>
            <a:r>
              <a:rPr lang="en-US" altLang="zh-CN" sz="1800" kern="0" dirty="0" err="1">
                <a:latin typeface="Times New Roman" panose="02020603050405020304" pitchFamily="18" charset="0"/>
                <a:ea typeface="宋体" panose="02010600030101010101" pitchFamily="2" charset="-122"/>
                <a:cs typeface="Times New Roman" panose="02020603050405020304" pitchFamily="18" charset="0"/>
              </a:rPr>
              <a:t>Antwork</a:t>
            </a:r>
            <a:r>
              <a:rPr lang="en-US" altLang="zh-CN" sz="1800" kern="0" dirty="0">
                <a:latin typeface="Times New Roman" panose="02020603050405020304" pitchFamily="18" charset="0"/>
                <a:ea typeface="宋体" panose="02010600030101010101" pitchFamily="2" charset="-122"/>
                <a:cs typeface="Times New Roman" panose="02020603050405020304" pitchFamily="18" charset="0"/>
              </a:rPr>
              <a:t> RA3 (&lt;25 kg, 13 m/s, redundant 6-rotor design)</a:t>
            </a:r>
          </a:p>
        </p:txBody>
      </p:sp>
      <p:sp>
        <p:nvSpPr>
          <p:cNvPr id="14" name="文本框 13">
            <a:extLst>
              <a:ext uri="{FF2B5EF4-FFF2-40B4-BE49-F238E27FC236}">
                <a16:creationId xmlns:a16="http://schemas.microsoft.com/office/drawing/2014/main" id="{23833AE2-672E-AFE2-6948-775258A7DE82}"/>
              </a:ext>
            </a:extLst>
          </p:cNvPr>
          <p:cNvSpPr txBox="1"/>
          <p:nvPr/>
        </p:nvSpPr>
        <p:spPr>
          <a:xfrm>
            <a:off x="2010076" y="4918522"/>
            <a:ext cx="8171848" cy="646331"/>
          </a:xfrm>
          <a:prstGeom prst="rect">
            <a:avLst/>
          </a:prstGeom>
          <a:noFill/>
        </p:spPr>
        <p:txBody>
          <a:bodyPr wrap="square" rtlCol="0">
            <a:spAutoFit/>
          </a:bodyPr>
          <a:lstStyle/>
          <a:p>
            <a:r>
              <a:rPr lang="en-US" altLang="zh-CN" sz="1800" b="1" kern="0" dirty="0">
                <a:latin typeface="Times New Roman" panose="02020603050405020304" pitchFamily="18" charset="0"/>
                <a:ea typeface="宋体" panose="02010600030101010101" pitchFamily="2" charset="-122"/>
                <a:cs typeface="Times New Roman" panose="02020603050405020304" pitchFamily="18" charset="0"/>
              </a:rPr>
              <a:t>Purpose: </a:t>
            </a:r>
            <a:r>
              <a:rPr lang="en-US" altLang="zh-CN" sz="1800" kern="0" dirty="0">
                <a:latin typeface="Times New Roman" panose="02020603050405020304" pitchFamily="18" charset="0"/>
                <a:ea typeface="宋体" panose="02010600030101010101" pitchFamily="2" charset="-122"/>
                <a:cs typeface="Times New Roman" panose="02020603050405020304" pitchFamily="18" charset="0"/>
              </a:rPr>
              <a:t>Evaluate risks to people/property under Hong Kong CAD (Cap 448G)</a:t>
            </a:r>
          </a:p>
          <a:p>
            <a:r>
              <a:rPr lang="en-US" altLang="zh-CN" sz="1800" kern="0" dirty="0">
                <a:latin typeface="Times New Roman" panose="02020603050405020304" pitchFamily="18" charset="0"/>
                <a:ea typeface="宋体" panose="02010600030101010101" pitchFamily="2" charset="-122"/>
                <a:cs typeface="Times New Roman" panose="02020603050405020304" pitchFamily="18" charset="0"/>
              </a:rPr>
              <a:t>Low Robustness Level</a:t>
            </a:r>
            <a:endParaRPr lang="zh-CN" altLang="en-US" sz="18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01992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42855837-21BD-564C-FAEA-E8A94DD14CEE}"/>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3.2 Determining the Intrinsic Ground Risk</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6" name="矩形: 圆角 5">
            <a:extLst>
              <a:ext uri="{FF2B5EF4-FFF2-40B4-BE49-F238E27FC236}">
                <a16:creationId xmlns:a16="http://schemas.microsoft.com/office/drawing/2014/main" id="{A8939837-2FE0-89B4-3636-8C05A797012A}"/>
              </a:ext>
            </a:extLst>
          </p:cNvPr>
          <p:cNvSpPr/>
          <p:nvPr/>
        </p:nvSpPr>
        <p:spPr>
          <a:xfrm>
            <a:off x="811213" y="1174992"/>
            <a:ext cx="4247620" cy="1025267"/>
          </a:xfrm>
          <a:prstGeom prst="roundRect">
            <a:avLst/>
          </a:prstGeom>
          <a:solidFill>
            <a:srgbClr val="6B9D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altLang="zh-CN" sz="2000" b="1" dirty="0">
                <a:effectLst/>
                <a:latin typeface="Times New Roman" panose="02020603050405020304" pitchFamily="18" charset="0"/>
                <a:ea typeface="Times New Roman" panose="02020603050405020304" pitchFamily="18" charset="0"/>
                <a:cs typeface="Times New Roman" panose="02020603050405020304" pitchFamily="18" charset="0"/>
              </a:rPr>
              <a:t>7 km BVLOS corridor below 400 ft AGL</a:t>
            </a:r>
          </a:p>
        </p:txBody>
      </p:sp>
      <p:sp>
        <p:nvSpPr>
          <p:cNvPr id="7" name="矩形: 圆角 6">
            <a:extLst>
              <a:ext uri="{FF2B5EF4-FFF2-40B4-BE49-F238E27FC236}">
                <a16:creationId xmlns:a16="http://schemas.microsoft.com/office/drawing/2014/main" id="{6E2ACEFE-CC2B-489F-F537-D3F4438F9A38}"/>
              </a:ext>
            </a:extLst>
          </p:cNvPr>
          <p:cNvSpPr/>
          <p:nvPr/>
        </p:nvSpPr>
        <p:spPr>
          <a:xfrm>
            <a:off x="811213" y="2459166"/>
            <a:ext cx="4247620" cy="1025267"/>
          </a:xfrm>
          <a:prstGeom prst="roundRect">
            <a:avLst/>
          </a:prstGeom>
          <a:solidFill>
            <a:srgbClr val="6B9D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ffectLst/>
                <a:latin typeface="Times New Roman" panose="02020603050405020304" pitchFamily="18" charset="0"/>
                <a:ea typeface="Times New Roman" panose="02020603050405020304" pitchFamily="18" charset="0"/>
                <a:cs typeface="Times New Roman" panose="02020603050405020304" pitchFamily="18" charset="0"/>
              </a:rPr>
              <a:t>Flight geography: mainly coastal + sparse land</a:t>
            </a:r>
          </a:p>
        </p:txBody>
      </p:sp>
      <p:sp>
        <p:nvSpPr>
          <p:cNvPr id="8" name="矩形: 圆角 7">
            <a:extLst>
              <a:ext uri="{FF2B5EF4-FFF2-40B4-BE49-F238E27FC236}">
                <a16:creationId xmlns:a16="http://schemas.microsoft.com/office/drawing/2014/main" id="{36F2C225-D5DC-F89C-ED0E-581D874AE083}"/>
              </a:ext>
            </a:extLst>
          </p:cNvPr>
          <p:cNvSpPr/>
          <p:nvPr/>
        </p:nvSpPr>
        <p:spPr>
          <a:xfrm>
            <a:off x="811213" y="3861734"/>
            <a:ext cx="4247620" cy="1025267"/>
          </a:xfrm>
          <a:prstGeom prst="roundRect">
            <a:avLst/>
          </a:prstGeom>
          <a:solidFill>
            <a:srgbClr val="6B9D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effectLst/>
                <a:latin typeface="Times New Roman" panose="02020603050405020304" pitchFamily="18" charset="0"/>
                <a:ea typeface="Times New Roman" panose="02020603050405020304" pitchFamily="18" charset="0"/>
                <a:cs typeface="Times New Roman" panose="02020603050405020304" pitchFamily="18" charset="0"/>
              </a:rPr>
              <a:t>Weighted population density &lt; 5 000 people/km² (suburban category)</a:t>
            </a:r>
          </a:p>
        </p:txBody>
      </p:sp>
      <p:sp>
        <p:nvSpPr>
          <p:cNvPr id="9" name="矩形: 圆角 8">
            <a:extLst>
              <a:ext uri="{FF2B5EF4-FFF2-40B4-BE49-F238E27FC236}">
                <a16:creationId xmlns:a16="http://schemas.microsoft.com/office/drawing/2014/main" id="{DE6B5311-EE1E-AEB1-1972-9DC934EBE033}"/>
              </a:ext>
            </a:extLst>
          </p:cNvPr>
          <p:cNvSpPr/>
          <p:nvPr/>
        </p:nvSpPr>
        <p:spPr>
          <a:xfrm>
            <a:off x="811213" y="5173439"/>
            <a:ext cx="4247620" cy="1025267"/>
          </a:xfrm>
          <a:prstGeom prst="roundRect">
            <a:avLst/>
          </a:prstGeom>
          <a:solidFill>
            <a:srgbClr val="6B9D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err="1">
                <a:effectLst/>
                <a:latin typeface="Times New Roman" panose="02020603050405020304" pitchFamily="18" charset="0"/>
                <a:ea typeface="Times New Roman" panose="02020603050405020304" pitchFamily="18" charset="0"/>
                <a:cs typeface="Times New Roman" panose="02020603050405020304" pitchFamily="18" charset="0"/>
              </a:rPr>
              <a:t>iGRC</a:t>
            </a:r>
            <a:r>
              <a:rPr lang="en-US" altLang="zh-CN" sz="2000" b="1" dirty="0">
                <a:effectLst/>
                <a:latin typeface="Times New Roman" panose="02020603050405020304" pitchFamily="18" charset="0"/>
                <a:ea typeface="Times New Roman" panose="02020603050405020304" pitchFamily="18" charset="0"/>
                <a:cs typeface="Times New Roman" panose="02020603050405020304" pitchFamily="18" charset="0"/>
              </a:rPr>
              <a:t> calculation based on CD ≈ 3 m and Vₘₐₓ ≤ 25 m/s</a:t>
            </a:r>
          </a:p>
        </p:txBody>
      </p:sp>
      <p:sp>
        <p:nvSpPr>
          <p:cNvPr id="10" name="矩形: 圆角 9">
            <a:extLst>
              <a:ext uri="{FF2B5EF4-FFF2-40B4-BE49-F238E27FC236}">
                <a16:creationId xmlns:a16="http://schemas.microsoft.com/office/drawing/2014/main" id="{EF474C79-48A6-DCC8-B0F5-10904CFB2E59}"/>
              </a:ext>
            </a:extLst>
          </p:cNvPr>
          <p:cNvSpPr/>
          <p:nvPr/>
        </p:nvSpPr>
        <p:spPr>
          <a:xfrm>
            <a:off x="7043467" y="2971799"/>
            <a:ext cx="3151378" cy="1722084"/>
          </a:xfrm>
          <a:prstGeom prst="roundRect">
            <a:avLst/>
          </a:prstGeom>
          <a:solidFill>
            <a:srgbClr val="EDBA7D"/>
          </a:solidFill>
          <a:ln w="635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latin typeface="Times New Roman" panose="02020603050405020304" pitchFamily="18" charset="0"/>
                <a:ea typeface="微软雅黑" panose="020B0503020204020204" pitchFamily="34" charset="-122"/>
                <a:cs typeface="Times New Roman" panose="02020603050405020304" pitchFamily="18" charset="0"/>
              </a:rPr>
              <a:t>iGRC</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 6 (moderate)</a:t>
            </a:r>
          </a:p>
        </p:txBody>
      </p:sp>
      <p:sp>
        <p:nvSpPr>
          <p:cNvPr id="12" name="箭头: 右 11">
            <a:extLst>
              <a:ext uri="{FF2B5EF4-FFF2-40B4-BE49-F238E27FC236}">
                <a16:creationId xmlns:a16="http://schemas.microsoft.com/office/drawing/2014/main" id="{B96E362D-5ED2-0B66-74BB-33B223510069}"/>
              </a:ext>
            </a:extLst>
          </p:cNvPr>
          <p:cNvSpPr/>
          <p:nvPr/>
        </p:nvSpPr>
        <p:spPr>
          <a:xfrm>
            <a:off x="5498700" y="3429000"/>
            <a:ext cx="1384300" cy="899142"/>
          </a:xfrm>
          <a:prstGeom prst="rightArrow">
            <a:avLst/>
          </a:prstGeom>
          <a:solidFill>
            <a:srgbClr val="6B9DC6"/>
          </a:solidFill>
          <a:ln w="508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0503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42855837-21BD-564C-FAEA-E8A94DD14CEE}"/>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3.3 Mitigation Measures and Final GRC</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graphicFrame>
        <p:nvGraphicFramePr>
          <p:cNvPr id="7" name="Table 6">
            <a:extLst>
              <a:ext uri="{FF2B5EF4-FFF2-40B4-BE49-F238E27FC236}">
                <a16:creationId xmlns:a16="http://schemas.microsoft.com/office/drawing/2014/main" id="{8210BAA1-A695-467A-A669-BC993CD8D1A9}"/>
              </a:ext>
            </a:extLst>
          </p:cNvPr>
          <p:cNvGraphicFramePr>
            <a:graphicFrameLocks noGrp="1"/>
          </p:cNvGraphicFramePr>
          <p:nvPr>
            <p:extLst>
              <p:ext uri="{D42A27DB-BD31-4B8C-83A1-F6EECF244321}">
                <p14:modId xmlns:p14="http://schemas.microsoft.com/office/powerpoint/2010/main" val="1508149660"/>
              </p:ext>
            </p:extLst>
          </p:nvPr>
        </p:nvGraphicFramePr>
        <p:xfrm>
          <a:off x="442913" y="1040231"/>
          <a:ext cx="11232531" cy="4532795"/>
        </p:xfrm>
        <a:graphic>
          <a:graphicData uri="http://schemas.openxmlformats.org/drawingml/2006/table">
            <a:tbl>
              <a:tblPr firstRow="1" bandRow="1">
                <a:tableStyleId>{5C22544A-7EE6-4342-B048-85BDC9FD1C3A}</a:tableStyleId>
              </a:tblPr>
              <a:tblGrid>
                <a:gridCol w="3744177">
                  <a:extLst>
                    <a:ext uri="{9D8B030D-6E8A-4147-A177-3AD203B41FA5}">
                      <a16:colId xmlns:a16="http://schemas.microsoft.com/office/drawing/2014/main" val="4251240757"/>
                    </a:ext>
                  </a:extLst>
                </a:gridCol>
                <a:gridCol w="3744177">
                  <a:extLst>
                    <a:ext uri="{9D8B030D-6E8A-4147-A177-3AD203B41FA5}">
                      <a16:colId xmlns:a16="http://schemas.microsoft.com/office/drawing/2014/main" val="440033702"/>
                    </a:ext>
                  </a:extLst>
                </a:gridCol>
                <a:gridCol w="3744177">
                  <a:extLst>
                    <a:ext uri="{9D8B030D-6E8A-4147-A177-3AD203B41FA5}">
                      <a16:colId xmlns:a16="http://schemas.microsoft.com/office/drawing/2014/main" val="473085835"/>
                    </a:ext>
                  </a:extLst>
                </a:gridCol>
              </a:tblGrid>
              <a:tr h="631477">
                <a:tc>
                  <a:txBody>
                    <a:bodyPr/>
                    <a:lstStyle/>
                    <a:p>
                      <a:r>
                        <a:rPr lang="en-GB" sz="2000" dirty="0">
                          <a:latin typeface="Times New Roman" panose="02020603050405020304" pitchFamily="18" charset="0"/>
                          <a:cs typeface="Times New Roman" panose="02020603050405020304" pitchFamily="18" charset="0"/>
                        </a:rPr>
                        <a:t>Mitigation</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r>
                        <a:rPr lang="en-GB" sz="2000" dirty="0">
                          <a:latin typeface="Times New Roman" panose="02020603050405020304" pitchFamily="18" charset="0"/>
                          <a:cs typeface="Times New Roman" panose="02020603050405020304" pitchFamily="18" charset="0"/>
                        </a:rPr>
                        <a:t>Implementation</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r>
                        <a:rPr lang="en-GB" sz="2000" dirty="0">
                          <a:latin typeface="Times New Roman" panose="02020603050405020304" pitchFamily="18" charset="0"/>
                          <a:cs typeface="Times New Roman" panose="02020603050405020304" pitchFamily="18" charset="0"/>
                        </a:rPr>
                        <a:t>Reduction</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extLst>
                  <a:ext uri="{0D108BD9-81ED-4DB2-BD59-A6C34878D82A}">
                    <a16:rowId xmlns:a16="http://schemas.microsoft.com/office/drawing/2014/main" val="3945618716"/>
                  </a:ext>
                </a:extLst>
              </a:tr>
              <a:tr h="1089947">
                <a:tc>
                  <a:txBody>
                    <a:bodyPr/>
                    <a:lstStyle/>
                    <a:p>
                      <a:r>
                        <a:rPr lang="en-GB" sz="2000" b="1" dirty="0">
                          <a:latin typeface="Times New Roman" panose="02020603050405020304" pitchFamily="18" charset="0"/>
                          <a:cs typeface="Times New Roman" panose="02020603050405020304" pitchFamily="18" charset="0"/>
                        </a:rPr>
                        <a:t>M1(A)</a:t>
                      </a:r>
                      <a:r>
                        <a:rPr lang="en-GB" sz="2000" dirty="0">
                          <a:latin typeface="Times New Roman" panose="02020603050405020304" pitchFamily="18" charset="0"/>
                          <a:cs typeface="Times New Roman" panose="02020603050405020304" pitchFamily="18" charset="0"/>
                        </a:rPr>
                        <a:t> Sheltering</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Over-water &amp; mountain route</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–2</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82721413"/>
                  </a:ext>
                </a:extLst>
              </a:tr>
              <a:tr h="631477">
                <a:tc>
                  <a:txBody>
                    <a:bodyPr/>
                    <a:lstStyle/>
                    <a:p>
                      <a:r>
                        <a:rPr lang="en-GB" sz="2000" b="1" dirty="0">
                          <a:latin typeface="Times New Roman" panose="02020603050405020304" pitchFamily="18" charset="0"/>
                          <a:cs typeface="Times New Roman" panose="02020603050405020304" pitchFamily="18" charset="0"/>
                        </a:rPr>
                        <a:t>M1(B)</a:t>
                      </a:r>
                      <a:r>
                        <a:rPr lang="en-GB" sz="2000" dirty="0">
                          <a:latin typeface="Times New Roman" panose="02020603050405020304" pitchFamily="18" charset="0"/>
                          <a:cs typeface="Times New Roman" panose="02020603050405020304" pitchFamily="18" charset="0"/>
                        </a:rPr>
                        <a:t> Operational limits</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Daylight / winds &lt; 10 m/s</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8894145"/>
                  </a:ext>
                </a:extLst>
              </a:tr>
              <a:tr h="1089947">
                <a:tc>
                  <a:txBody>
                    <a:bodyPr/>
                    <a:lstStyle/>
                    <a:p>
                      <a:r>
                        <a:rPr lang="en-GB" sz="2000" b="1" dirty="0">
                          <a:latin typeface="Times New Roman" panose="02020603050405020304" pitchFamily="18" charset="0"/>
                          <a:cs typeface="Times New Roman" panose="02020603050405020304" pitchFamily="18" charset="0"/>
                        </a:rPr>
                        <a:t>M1(C)</a:t>
                      </a:r>
                      <a:r>
                        <a:rPr lang="en-GB" sz="2000" dirty="0">
                          <a:latin typeface="Times New Roman" panose="02020603050405020304" pitchFamily="18" charset="0"/>
                          <a:cs typeface="Times New Roman" panose="02020603050405020304" pitchFamily="18" charset="0"/>
                        </a:rPr>
                        <a:t> Ground observers</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Controlled launch &amp; landing zones</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–1</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974363"/>
                  </a:ext>
                </a:extLst>
              </a:tr>
              <a:tr h="1089947">
                <a:tc>
                  <a:txBody>
                    <a:bodyPr/>
                    <a:lstStyle/>
                    <a:p>
                      <a:r>
                        <a:rPr lang="en-GB" sz="2000" dirty="0">
                          <a:latin typeface="Times New Roman" panose="02020603050405020304" pitchFamily="18" charset="0"/>
                          <a:cs typeface="Times New Roman" panose="02020603050405020304" pitchFamily="18" charset="0"/>
                        </a:rPr>
                        <a:t>Fail-safe design</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Redundant motors + Auto-RTH / parachute</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(Optional)</a:t>
                      </a:r>
                      <a:endParaRPr lang="en-US" sz="20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75325729"/>
                  </a:ext>
                </a:extLst>
              </a:tr>
            </a:tbl>
          </a:graphicData>
        </a:graphic>
      </p:graphicFrame>
      <p:sp>
        <p:nvSpPr>
          <p:cNvPr id="8" name="TextBox 7">
            <a:extLst>
              <a:ext uri="{FF2B5EF4-FFF2-40B4-BE49-F238E27FC236}">
                <a16:creationId xmlns:a16="http://schemas.microsoft.com/office/drawing/2014/main" id="{848BF8F0-5772-BC36-240F-AE896D317570}"/>
              </a:ext>
            </a:extLst>
          </p:cNvPr>
          <p:cNvSpPr txBox="1"/>
          <p:nvPr/>
        </p:nvSpPr>
        <p:spPr>
          <a:xfrm>
            <a:off x="372444" y="5817769"/>
            <a:ext cx="4112023" cy="400110"/>
          </a:xfrm>
          <a:prstGeom prst="rect">
            <a:avLst/>
          </a:prstGeom>
          <a:noFill/>
        </p:spPr>
        <p:txBody>
          <a:bodyPr wrap="none" rtlCol="0">
            <a:spAutoFit/>
          </a:bodyPr>
          <a:lstStyle/>
          <a:p>
            <a:r>
              <a:rPr lang="en-GB" sz="2000" dirty="0">
                <a:latin typeface="Times New Roman" panose="02020603050405020304" pitchFamily="18" charset="0"/>
                <a:cs typeface="Times New Roman" panose="02020603050405020304" pitchFamily="18" charset="0"/>
              </a:rPr>
              <a:t>→ </a:t>
            </a:r>
            <a:r>
              <a:rPr lang="en-GB" sz="2000" b="1" dirty="0">
                <a:latin typeface="Times New Roman" panose="02020603050405020304" pitchFamily="18" charset="0"/>
                <a:cs typeface="Times New Roman" panose="02020603050405020304" pitchFamily="18" charset="0"/>
              </a:rPr>
              <a:t>Final GRC ≈ 2 (Acceptable level)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015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0FA7511A-8ED5-7D70-3286-42C9EAC4E8AB}"/>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GB" altLang="zh-CN" dirty="0"/>
              <a:t>3.4 Ground Risk Buffer and Contingency Procedures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43A75A8B-9A23-0289-E134-A763B4DBAC91}"/>
              </a:ext>
            </a:extLst>
          </p:cNvPr>
          <p:cNvSpPr txBox="1"/>
          <p:nvPr/>
        </p:nvSpPr>
        <p:spPr>
          <a:xfrm>
            <a:off x="864703" y="1162809"/>
            <a:ext cx="1125193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Simplified 1:1 rule: H&lt;sub&gt;CV&lt;/sub&gt; = 91.4 m, CD = 3 m → S&lt;sub&gt;GRB&lt;/sub&gt; ≈ 93 m per side</a:t>
            </a:r>
          </a:p>
        </p:txBody>
      </p:sp>
      <p:sp>
        <p:nvSpPr>
          <p:cNvPr id="9" name="椭圆 8">
            <a:extLst>
              <a:ext uri="{FF2B5EF4-FFF2-40B4-BE49-F238E27FC236}">
                <a16:creationId xmlns:a16="http://schemas.microsoft.com/office/drawing/2014/main" id="{E3DF2F5E-FA4B-6FC9-509E-EC398F082672}"/>
              </a:ext>
            </a:extLst>
          </p:cNvPr>
          <p:cNvSpPr/>
          <p:nvPr/>
        </p:nvSpPr>
        <p:spPr>
          <a:xfrm>
            <a:off x="491854" y="1219324"/>
            <a:ext cx="304013" cy="304014"/>
          </a:xfrm>
          <a:prstGeom prst="ellipse">
            <a:avLst/>
          </a:prstGeom>
          <a: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06370CB6-192C-AED6-8B03-19D835B70886}"/>
              </a:ext>
            </a:extLst>
          </p:cNvPr>
          <p:cNvSpPr txBox="1"/>
          <p:nvPr/>
        </p:nvSpPr>
        <p:spPr>
          <a:xfrm>
            <a:off x="864703" y="1811328"/>
            <a:ext cx="1125193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Ballistic method → ≈ 58 m (per side) → conservative value adopted = 93 m</a:t>
            </a:r>
          </a:p>
        </p:txBody>
      </p:sp>
      <p:sp>
        <p:nvSpPr>
          <p:cNvPr id="12" name="椭圆 11">
            <a:extLst>
              <a:ext uri="{FF2B5EF4-FFF2-40B4-BE49-F238E27FC236}">
                <a16:creationId xmlns:a16="http://schemas.microsoft.com/office/drawing/2014/main" id="{27B50A3F-352C-D7B5-5730-1F9EB9499E1F}"/>
              </a:ext>
            </a:extLst>
          </p:cNvPr>
          <p:cNvSpPr/>
          <p:nvPr/>
        </p:nvSpPr>
        <p:spPr>
          <a:xfrm>
            <a:off x="491854" y="1867843"/>
            <a:ext cx="304013" cy="304014"/>
          </a:xfrm>
          <a:prstGeom prst="ellipse">
            <a:avLst/>
          </a:prstGeom>
          <a: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627307D-AD49-BB08-18D8-0BE88A7D2F05}"/>
              </a:ext>
            </a:extLst>
          </p:cNvPr>
          <p:cNvSpPr txBox="1"/>
          <p:nvPr/>
        </p:nvSpPr>
        <p:spPr>
          <a:xfrm>
            <a:off x="864703" y="2355888"/>
            <a:ext cx="1125193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Pre-surveyed safe zones: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parks, sports fields, coastal areas</a:t>
            </a:r>
          </a:p>
        </p:txBody>
      </p:sp>
      <p:sp>
        <p:nvSpPr>
          <p:cNvPr id="14" name="椭圆 13">
            <a:extLst>
              <a:ext uri="{FF2B5EF4-FFF2-40B4-BE49-F238E27FC236}">
                <a16:creationId xmlns:a16="http://schemas.microsoft.com/office/drawing/2014/main" id="{D05F59D3-3641-52DE-C8D3-C69DDF5FF930}"/>
              </a:ext>
            </a:extLst>
          </p:cNvPr>
          <p:cNvSpPr/>
          <p:nvPr/>
        </p:nvSpPr>
        <p:spPr>
          <a:xfrm>
            <a:off x="491854" y="2412403"/>
            <a:ext cx="304013" cy="304014"/>
          </a:xfrm>
          <a:prstGeom prst="ellipse">
            <a:avLst/>
          </a:prstGeom>
          <a: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33BBECA0-0829-23B3-41F2-6A17F1469701}"/>
              </a:ext>
            </a:extLst>
          </p:cNvPr>
          <p:cNvSpPr txBox="1"/>
          <p:nvPr/>
        </p:nvSpPr>
        <p:spPr>
          <a:xfrm>
            <a:off x="864703" y="2900448"/>
            <a:ext cx="1125193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Contingency protocols:</a:t>
            </a:r>
          </a:p>
        </p:txBody>
      </p:sp>
      <p:sp>
        <p:nvSpPr>
          <p:cNvPr id="16" name="椭圆 15">
            <a:extLst>
              <a:ext uri="{FF2B5EF4-FFF2-40B4-BE49-F238E27FC236}">
                <a16:creationId xmlns:a16="http://schemas.microsoft.com/office/drawing/2014/main" id="{5441F7CD-B5C0-DBC6-3DD8-268B5CBAA48B}"/>
              </a:ext>
            </a:extLst>
          </p:cNvPr>
          <p:cNvSpPr/>
          <p:nvPr/>
        </p:nvSpPr>
        <p:spPr>
          <a:xfrm>
            <a:off x="491854" y="2956963"/>
            <a:ext cx="304013" cy="304014"/>
          </a:xfrm>
          <a:prstGeom prst="ellipse">
            <a:avLst/>
          </a:prstGeom>
          <a:blipFill>
            <a:blip r:embed="rId2">
              <a:extLst>
                <a:ext uri="{BEBA8EAE-BF5A-486C-A8C5-ECC9F3942E4B}">
                  <a14:imgProps xmlns:a14="http://schemas.microsoft.com/office/drawing/2010/main">
                    <a14:imgLayer r:embed="rId3">
                      <a14:imgEffect>
                        <a14:colorTemperature colorTemp="5300"/>
                      </a14:imgEffect>
                    </a14:imgLayer>
                  </a14:imgProps>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a16="http://schemas.microsoft.com/office/drawing/2014/main" id="{678B6725-9186-2098-D2FD-D82D7FC79F9A}"/>
              </a:ext>
            </a:extLst>
          </p:cNvPr>
          <p:cNvSpPr/>
          <p:nvPr/>
        </p:nvSpPr>
        <p:spPr>
          <a:xfrm>
            <a:off x="576521" y="3821968"/>
            <a:ext cx="2090479" cy="1912804"/>
          </a:xfrm>
          <a:prstGeom prst="ellipse">
            <a:avLst/>
          </a:prstGeom>
          <a:solidFill>
            <a:srgbClr val="A72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zh-CN"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en-GB" altLang="zh-CN" sz="2000" b="1" dirty="0">
                <a:effectLst/>
                <a:latin typeface="Times New Roman" panose="02020603050405020304" pitchFamily="18" charset="0"/>
                <a:ea typeface="Times New Roman" panose="02020603050405020304" pitchFamily="18" charset="0"/>
                <a:cs typeface="Times New Roman" panose="02020603050405020304" pitchFamily="18" charset="0"/>
              </a:rPr>
              <a:t>Internal failures → controlled descent</a:t>
            </a: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椭圆 17">
            <a:extLst>
              <a:ext uri="{FF2B5EF4-FFF2-40B4-BE49-F238E27FC236}">
                <a16:creationId xmlns:a16="http://schemas.microsoft.com/office/drawing/2014/main" id="{166AEBE0-1388-D76C-9A68-4547F164494F}"/>
              </a:ext>
            </a:extLst>
          </p:cNvPr>
          <p:cNvSpPr/>
          <p:nvPr/>
        </p:nvSpPr>
        <p:spPr>
          <a:xfrm>
            <a:off x="3293977" y="3821968"/>
            <a:ext cx="2090479" cy="1912805"/>
          </a:xfrm>
          <a:prstGeom prst="ellipse">
            <a:avLst/>
          </a:prstGeom>
          <a:solidFill>
            <a:srgbClr val="A72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zh-CN" sz="2000" b="1" dirty="0">
              <a:latin typeface="Times New Roman" panose="02020603050405020304" pitchFamily="18" charset="0"/>
              <a:cs typeface="Times New Roman" panose="02020603050405020304" pitchFamily="18" charset="0"/>
            </a:endParaRPr>
          </a:p>
          <a:p>
            <a:pPr algn="ctr"/>
            <a:r>
              <a:rPr lang="en-US" altLang="zh-CN" sz="2000" b="1" dirty="0">
                <a:latin typeface="Times New Roman" panose="02020603050405020304" pitchFamily="18" charset="0"/>
                <a:cs typeface="Times New Roman" panose="02020603050405020304" pitchFamily="18" charset="0"/>
              </a:rPr>
              <a:t>External failures → RTH to hospital</a:t>
            </a:r>
          </a:p>
          <a:p>
            <a:pPr algn="ctr"/>
            <a:endParaRPr lang="zh-CN" altLang="en-US" sz="2000" b="1" dirty="0" err="1">
              <a:latin typeface="Times New Roman" panose="02020603050405020304" pitchFamily="18" charset="0"/>
              <a:cs typeface="Times New Roman" panose="02020603050405020304" pitchFamily="18" charset="0"/>
            </a:endParaRPr>
          </a:p>
        </p:txBody>
      </p:sp>
      <p:sp>
        <p:nvSpPr>
          <p:cNvPr id="19" name="椭圆 18">
            <a:extLst>
              <a:ext uri="{FF2B5EF4-FFF2-40B4-BE49-F238E27FC236}">
                <a16:creationId xmlns:a16="http://schemas.microsoft.com/office/drawing/2014/main" id="{AE39C4E5-E360-C462-4343-E566293F5678}"/>
              </a:ext>
            </a:extLst>
          </p:cNvPr>
          <p:cNvSpPr/>
          <p:nvPr/>
        </p:nvSpPr>
        <p:spPr>
          <a:xfrm>
            <a:off x="6011433" y="3821968"/>
            <a:ext cx="2090479" cy="1912804"/>
          </a:xfrm>
          <a:prstGeom prst="ellipse">
            <a:avLst/>
          </a:prstGeom>
          <a:solidFill>
            <a:srgbClr val="A72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zh-CN" sz="2000" b="1" dirty="0">
              <a:latin typeface="Times New Roman" panose="02020603050405020304" pitchFamily="18" charset="0"/>
              <a:cs typeface="Times New Roman" panose="02020603050405020304" pitchFamily="18" charset="0"/>
            </a:endParaRPr>
          </a:p>
          <a:p>
            <a:pPr algn="ctr"/>
            <a:r>
              <a:rPr lang="en-US" altLang="zh-CN" sz="2000" b="1" dirty="0">
                <a:latin typeface="Times New Roman" panose="02020603050405020304" pitchFamily="18" charset="0"/>
                <a:cs typeface="Times New Roman" panose="02020603050405020304" pitchFamily="18" charset="0"/>
              </a:rPr>
              <a:t>Weather &gt; 10 m/s → abort</a:t>
            </a:r>
          </a:p>
          <a:p>
            <a:pPr algn="ctr"/>
            <a:endParaRPr lang="zh-CN" altLang="en-US" sz="2000" b="1" dirty="0" err="1">
              <a:latin typeface="Times New Roman" panose="02020603050405020304" pitchFamily="18" charset="0"/>
              <a:cs typeface="Times New Roman" panose="02020603050405020304" pitchFamily="18" charset="0"/>
            </a:endParaRPr>
          </a:p>
        </p:txBody>
      </p:sp>
      <p:sp>
        <p:nvSpPr>
          <p:cNvPr id="20" name="椭圆 19">
            <a:extLst>
              <a:ext uri="{FF2B5EF4-FFF2-40B4-BE49-F238E27FC236}">
                <a16:creationId xmlns:a16="http://schemas.microsoft.com/office/drawing/2014/main" id="{C871E44B-71EA-7665-F8AC-36A30755F6F2}"/>
              </a:ext>
            </a:extLst>
          </p:cNvPr>
          <p:cNvSpPr/>
          <p:nvPr/>
        </p:nvSpPr>
        <p:spPr>
          <a:xfrm>
            <a:off x="8897878" y="3782387"/>
            <a:ext cx="2090479" cy="1912804"/>
          </a:xfrm>
          <a:prstGeom prst="ellipse">
            <a:avLst/>
          </a:prstGeom>
          <a:solidFill>
            <a:srgbClr val="A72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tLang="zh-CN" sz="2000" b="1" dirty="0">
              <a:latin typeface="Times New Roman" panose="02020603050405020304" pitchFamily="18" charset="0"/>
              <a:cs typeface="Times New Roman" panose="02020603050405020304" pitchFamily="18" charset="0"/>
            </a:endParaRPr>
          </a:p>
          <a:p>
            <a:pPr algn="ctr"/>
            <a:r>
              <a:rPr lang="en-GB" altLang="zh-CN" sz="2000" b="1" dirty="0">
                <a:latin typeface="Times New Roman" panose="02020603050405020304" pitchFamily="18" charset="0"/>
                <a:cs typeface="Times New Roman" panose="02020603050405020304" pitchFamily="18" charset="0"/>
              </a:rPr>
              <a:t>Manual override via radio link</a:t>
            </a:r>
          </a:p>
          <a:p>
            <a:pPr algn="ctr"/>
            <a:endParaRPr lang="zh-CN" altLang="en-US" sz="2000" b="1" dirty="0" err="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9317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42855837-21BD-564C-FAEA-E8A94DD14CEE}"/>
              </a:ext>
            </a:extLst>
          </p:cNvPr>
          <p:cNvSpPr txBox="1">
            <a:spLocks/>
          </p:cNvSpPr>
          <p:nvPr/>
        </p:nvSpPr>
        <p:spPr>
          <a:xfrm>
            <a:off x="1199707" y="202094"/>
            <a:ext cx="6439050" cy="698132"/>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GB" dirty="0"/>
              <a:t>3.5 Findings and Compliance</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4" name="文本框 3">
            <a:extLst>
              <a:ext uri="{FF2B5EF4-FFF2-40B4-BE49-F238E27FC236}">
                <a16:creationId xmlns:a16="http://schemas.microsoft.com/office/drawing/2014/main" id="{D5DFCD48-EEC2-28CA-72DF-E691FFFA79A9}"/>
              </a:ext>
            </a:extLst>
          </p:cNvPr>
          <p:cNvSpPr txBox="1"/>
          <p:nvPr/>
        </p:nvSpPr>
        <p:spPr>
          <a:xfrm>
            <a:off x="940066" y="1502967"/>
            <a:ext cx="3911334" cy="409894"/>
          </a:xfrm>
          <a:prstGeom prst="rect">
            <a:avLst/>
          </a:prstGeom>
          <a:noFill/>
        </p:spPr>
        <p:txBody>
          <a:bodyPr wrap="square" rtlCol="0">
            <a:spAutoFit/>
          </a:bodyPr>
          <a:lstStyle/>
          <a:p>
            <a:r>
              <a:rPr lang="en-US" altLang="zh-CN" sz="2000" b="1" kern="0" dirty="0" err="1">
                <a:latin typeface="Times New Roman" panose="02020603050405020304" pitchFamily="18" charset="0"/>
                <a:ea typeface="宋体" panose="02010600030101010101" pitchFamily="2" charset="-122"/>
                <a:cs typeface="Times New Roman" panose="02020603050405020304" pitchFamily="18" charset="0"/>
              </a:rPr>
              <a:t>iGRC</a:t>
            </a: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 = 6 (moderate intrinsic risk)</a:t>
            </a:r>
          </a:p>
        </p:txBody>
      </p:sp>
      <p:sp>
        <p:nvSpPr>
          <p:cNvPr id="6" name="箭头: V 形 22">
            <a:extLst>
              <a:ext uri="{FF2B5EF4-FFF2-40B4-BE49-F238E27FC236}">
                <a16:creationId xmlns:a16="http://schemas.microsoft.com/office/drawing/2014/main" id="{A10199B3-FBC4-97C6-1824-8AD326F690C1}"/>
              </a:ext>
            </a:extLst>
          </p:cNvPr>
          <p:cNvSpPr/>
          <p:nvPr/>
        </p:nvSpPr>
        <p:spPr>
          <a:xfrm>
            <a:off x="536393" y="1535489"/>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7" name="箭头: V 形 22">
            <a:extLst>
              <a:ext uri="{FF2B5EF4-FFF2-40B4-BE49-F238E27FC236}">
                <a16:creationId xmlns:a16="http://schemas.microsoft.com/office/drawing/2014/main" id="{6FD5F00E-A14F-0B4C-D3D3-A7A522BB4DAD}"/>
              </a:ext>
            </a:extLst>
          </p:cNvPr>
          <p:cNvSpPr/>
          <p:nvPr/>
        </p:nvSpPr>
        <p:spPr>
          <a:xfrm>
            <a:off x="536393" y="2342535"/>
            <a:ext cx="361606" cy="377372"/>
          </a:xfrm>
          <a:prstGeom prst="chevron">
            <a:avLst/>
          </a:prstGeom>
          <a:solidFill>
            <a:srgbClr val="9A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8" name="文本框 7">
            <a:extLst>
              <a:ext uri="{FF2B5EF4-FFF2-40B4-BE49-F238E27FC236}">
                <a16:creationId xmlns:a16="http://schemas.microsoft.com/office/drawing/2014/main" id="{9C1CC6CB-63F7-E688-3BA2-9EE63D7E7D1C}"/>
              </a:ext>
            </a:extLst>
          </p:cNvPr>
          <p:cNvSpPr txBox="1"/>
          <p:nvPr/>
        </p:nvSpPr>
        <p:spPr>
          <a:xfrm>
            <a:off x="940065" y="2326273"/>
            <a:ext cx="9584001"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Mitigations → Final GRC = 2 (low acceptable risk)</a:t>
            </a:r>
          </a:p>
        </p:txBody>
      </p:sp>
      <p:sp>
        <p:nvSpPr>
          <p:cNvPr id="10" name="文本框 9">
            <a:extLst>
              <a:ext uri="{FF2B5EF4-FFF2-40B4-BE49-F238E27FC236}">
                <a16:creationId xmlns:a16="http://schemas.microsoft.com/office/drawing/2014/main" id="{736D8A79-6EBC-1E24-F3D2-C248D129FFEF}"/>
              </a:ext>
            </a:extLst>
          </p:cNvPr>
          <p:cNvSpPr txBox="1"/>
          <p:nvPr/>
        </p:nvSpPr>
        <p:spPr>
          <a:xfrm>
            <a:off x="940065" y="3156057"/>
            <a:ext cx="5367601"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Ground Risk Buffer ≈ 93 m per side</a:t>
            </a:r>
          </a:p>
        </p:txBody>
      </p:sp>
      <p:sp>
        <p:nvSpPr>
          <p:cNvPr id="11" name="箭头: V 形 22">
            <a:extLst>
              <a:ext uri="{FF2B5EF4-FFF2-40B4-BE49-F238E27FC236}">
                <a16:creationId xmlns:a16="http://schemas.microsoft.com/office/drawing/2014/main" id="{C972CF81-0855-A9CC-9BB0-2EF1080FE8BC}"/>
              </a:ext>
            </a:extLst>
          </p:cNvPr>
          <p:cNvSpPr/>
          <p:nvPr/>
        </p:nvSpPr>
        <p:spPr>
          <a:xfrm>
            <a:off x="536393" y="3188579"/>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2" name="箭头: V 形 22">
            <a:extLst>
              <a:ext uri="{FF2B5EF4-FFF2-40B4-BE49-F238E27FC236}">
                <a16:creationId xmlns:a16="http://schemas.microsoft.com/office/drawing/2014/main" id="{C5C0E8AB-B119-1667-3B12-E8B771207B13}"/>
              </a:ext>
            </a:extLst>
          </p:cNvPr>
          <p:cNvSpPr/>
          <p:nvPr/>
        </p:nvSpPr>
        <p:spPr>
          <a:xfrm>
            <a:off x="536393" y="3995625"/>
            <a:ext cx="361606" cy="377372"/>
          </a:xfrm>
          <a:prstGeom prst="chevron">
            <a:avLst/>
          </a:prstGeom>
          <a:solidFill>
            <a:srgbClr val="9A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3" name="文本框 12">
            <a:extLst>
              <a:ext uri="{FF2B5EF4-FFF2-40B4-BE49-F238E27FC236}">
                <a16:creationId xmlns:a16="http://schemas.microsoft.com/office/drawing/2014/main" id="{069E15FB-0062-099A-7051-D72C3D7F0791}"/>
              </a:ext>
            </a:extLst>
          </p:cNvPr>
          <p:cNvSpPr txBox="1"/>
          <p:nvPr/>
        </p:nvSpPr>
        <p:spPr>
          <a:xfrm>
            <a:off x="940065" y="3979363"/>
            <a:ext cx="9584001"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Complies with HK CAD SUA Order Cap 448G / AC-013</a:t>
            </a:r>
          </a:p>
        </p:txBody>
      </p:sp>
      <p:sp>
        <p:nvSpPr>
          <p:cNvPr id="14" name="文本框 13">
            <a:extLst>
              <a:ext uri="{FF2B5EF4-FFF2-40B4-BE49-F238E27FC236}">
                <a16:creationId xmlns:a16="http://schemas.microsoft.com/office/drawing/2014/main" id="{E3FB7E25-A6C5-10A7-4529-6DD7E6ACEFFF}"/>
              </a:ext>
            </a:extLst>
          </p:cNvPr>
          <p:cNvSpPr txBox="1"/>
          <p:nvPr/>
        </p:nvSpPr>
        <p:spPr>
          <a:xfrm>
            <a:off x="940066" y="4847956"/>
            <a:ext cx="6070334"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Supports safe BVLOS emergency missions</a:t>
            </a:r>
          </a:p>
        </p:txBody>
      </p:sp>
      <p:sp>
        <p:nvSpPr>
          <p:cNvPr id="15" name="箭头: V 形 22">
            <a:extLst>
              <a:ext uri="{FF2B5EF4-FFF2-40B4-BE49-F238E27FC236}">
                <a16:creationId xmlns:a16="http://schemas.microsoft.com/office/drawing/2014/main" id="{83BF7C69-25E2-1C66-13AC-BD1F80F28E15}"/>
              </a:ext>
            </a:extLst>
          </p:cNvPr>
          <p:cNvSpPr/>
          <p:nvPr/>
        </p:nvSpPr>
        <p:spPr>
          <a:xfrm>
            <a:off x="536393" y="4880478"/>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Tree>
    <p:extLst>
      <p:ext uri="{BB962C8B-B14F-4D97-AF65-F5344CB8AC3E}">
        <p14:creationId xmlns:p14="http://schemas.microsoft.com/office/powerpoint/2010/main" val="1704719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B598D8E-EC7C-A61A-3EC7-3852637D25B0}"/>
              </a:ext>
            </a:extLst>
          </p:cNvPr>
          <p:cNvGrpSpPr/>
          <p:nvPr/>
        </p:nvGrpSpPr>
        <p:grpSpPr>
          <a:xfrm>
            <a:off x="7603197" y="3519982"/>
            <a:ext cx="642484" cy="377372"/>
            <a:chOff x="464459" y="324756"/>
            <a:chExt cx="642484" cy="377372"/>
          </a:xfrm>
        </p:grpSpPr>
        <p:sp>
          <p:nvSpPr>
            <p:cNvPr id="3" name="箭头: V 形 21">
              <a:extLst>
                <a:ext uri="{FF2B5EF4-FFF2-40B4-BE49-F238E27FC236}">
                  <a16:creationId xmlns:a16="http://schemas.microsoft.com/office/drawing/2014/main" id="{B3E97CC8-A716-8A5E-A046-8D1AA47A6284}"/>
                </a:ext>
              </a:extLst>
            </p:cNvPr>
            <p:cNvSpPr/>
            <p:nvPr/>
          </p:nvSpPr>
          <p:spPr>
            <a:xfrm>
              <a:off x="464459" y="3247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4" name="箭头: V 形 22">
              <a:extLst>
                <a:ext uri="{FF2B5EF4-FFF2-40B4-BE49-F238E27FC236}">
                  <a16:creationId xmlns:a16="http://schemas.microsoft.com/office/drawing/2014/main" id="{C5C4AE39-5FB9-C19E-4914-BFE9C7DB8EEF}"/>
                </a:ext>
              </a:extLst>
            </p:cNvPr>
            <p:cNvSpPr/>
            <p:nvPr/>
          </p:nvSpPr>
          <p:spPr>
            <a:xfrm>
              <a:off x="745337" y="3247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sp>
        <p:nvSpPr>
          <p:cNvPr id="5" name="标题 1">
            <a:extLst>
              <a:ext uri="{FF2B5EF4-FFF2-40B4-BE49-F238E27FC236}">
                <a16:creationId xmlns:a16="http://schemas.microsoft.com/office/drawing/2014/main" id="{F57163E0-FDB1-CE95-8D23-3E219514A4FE}"/>
              </a:ext>
            </a:extLst>
          </p:cNvPr>
          <p:cNvSpPr txBox="1">
            <a:spLocks/>
          </p:cNvSpPr>
          <p:nvPr/>
        </p:nvSpPr>
        <p:spPr>
          <a:xfrm>
            <a:off x="8367319" y="3429000"/>
            <a:ext cx="3824681" cy="5448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GB" altLang="zh-CN" dirty="0"/>
              <a:t>Air Risk </a:t>
            </a:r>
            <a:r>
              <a:rPr lang="en-US" altLang="zh-CN" dirty="0"/>
              <a:t>Assessment</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6" name="TextBox 7">
            <a:extLst>
              <a:ext uri="{FF2B5EF4-FFF2-40B4-BE49-F238E27FC236}">
                <a16:creationId xmlns:a16="http://schemas.microsoft.com/office/drawing/2014/main" id="{B0997E3F-18B4-D7B4-26E0-58DCF2544DD8}"/>
              </a:ext>
            </a:extLst>
          </p:cNvPr>
          <p:cNvSpPr txBox="1"/>
          <p:nvPr/>
        </p:nvSpPr>
        <p:spPr>
          <a:xfrm>
            <a:off x="8626353" y="3973839"/>
            <a:ext cx="2621230" cy="861774"/>
          </a:xfrm>
          <a:prstGeom prst="rect">
            <a:avLst/>
          </a:prstGeom>
          <a:noFill/>
        </p:spPr>
        <p:txBody>
          <a:bodyPr wrap="none" rtlCol="0">
            <a:spAutoFit/>
          </a:bodyPr>
          <a:lstStyle/>
          <a:p>
            <a:pPr algn="r">
              <a:lnSpc>
                <a:spcPts val="2000"/>
              </a:lnSpc>
            </a:pPr>
            <a:r>
              <a:rPr lang="en-US" altLang="zh-CN" dirty="0">
                <a:latin typeface="Times New Roman" panose="02020603050405020304" pitchFamily="18" charset="0"/>
                <a:cs typeface="Times New Roman" panose="02020603050405020304" pitchFamily="18" charset="0"/>
              </a:rPr>
              <a:t>Hao Wang 25117594g</a:t>
            </a:r>
          </a:p>
          <a:p>
            <a:pPr algn="r">
              <a:lnSpc>
                <a:spcPts val="2000"/>
              </a:lnSpc>
            </a:pPr>
            <a:r>
              <a:rPr lang="en-US" altLang="zh-CN" dirty="0">
                <a:latin typeface="Times New Roman" panose="02020603050405020304" pitchFamily="18" charset="0"/>
                <a:cs typeface="Times New Roman" panose="02020603050405020304" pitchFamily="18" charset="0"/>
              </a:rPr>
              <a:t>Jiaming Sun 25043507g</a:t>
            </a:r>
          </a:p>
          <a:p>
            <a:pPr algn="r">
              <a:lnSpc>
                <a:spcPts val="2000"/>
              </a:lnSpc>
            </a:pPr>
            <a:r>
              <a:rPr lang="en-US" altLang="zh-CN" dirty="0" err="1">
                <a:latin typeface="Times New Roman" panose="02020603050405020304" pitchFamily="18" charset="0"/>
                <a:cs typeface="Times New Roman" panose="02020603050405020304" pitchFamily="18" charset="0"/>
              </a:rPr>
              <a:t>Zhongtian</a:t>
            </a:r>
            <a:r>
              <a:rPr lang="en-US" altLang="zh-CN" dirty="0">
                <a:latin typeface="Times New Roman" panose="02020603050405020304" pitchFamily="18" charset="0"/>
                <a:cs typeface="Times New Roman" panose="02020603050405020304" pitchFamily="18" charset="0"/>
              </a:rPr>
              <a:t> Xie 25041039g</a:t>
            </a:r>
          </a:p>
        </p:txBody>
      </p:sp>
      <p:sp>
        <p:nvSpPr>
          <p:cNvPr id="7" name="标题 1">
            <a:extLst>
              <a:ext uri="{FF2B5EF4-FFF2-40B4-BE49-F238E27FC236}">
                <a16:creationId xmlns:a16="http://schemas.microsoft.com/office/drawing/2014/main" id="{1C0FCBEA-3180-C704-9CB4-38750D780540}"/>
              </a:ext>
            </a:extLst>
          </p:cNvPr>
          <p:cNvSpPr txBox="1">
            <a:spLocks/>
          </p:cNvSpPr>
          <p:nvPr/>
        </p:nvSpPr>
        <p:spPr>
          <a:xfrm>
            <a:off x="6573795" y="3461714"/>
            <a:ext cx="1075544" cy="512125"/>
          </a:xfrm>
          <a:prstGeom prst="rect">
            <a:avLst/>
          </a:prstGeom>
        </p:spPr>
        <p:txBody>
          <a:bodyPr vert="horz" lIns="91440" tIns="45721" rIns="91440" bIns="45721" rtlCol="0" anchor="ctr">
            <a:normAutofit fontScale="85000" lnSpcReduction="10000"/>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Part IV</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1294079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42BCFB4-A7D0-B2A9-57BD-09294A25B200}"/>
              </a:ext>
            </a:extLst>
          </p:cNvPr>
          <p:cNvSpPr txBox="1"/>
          <p:nvPr/>
        </p:nvSpPr>
        <p:spPr>
          <a:xfrm>
            <a:off x="372799" y="1016000"/>
            <a:ext cx="429233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Vertical limits for operating volume</a:t>
            </a:r>
          </a:p>
        </p:txBody>
      </p:sp>
      <p:sp>
        <p:nvSpPr>
          <p:cNvPr id="7" name="文本框 6">
            <a:extLst>
              <a:ext uri="{FF2B5EF4-FFF2-40B4-BE49-F238E27FC236}">
                <a16:creationId xmlns:a16="http://schemas.microsoft.com/office/drawing/2014/main" id="{6BF989A6-7302-64CD-CB8F-35A7155061AA}"/>
              </a:ext>
            </a:extLst>
          </p:cNvPr>
          <p:cNvSpPr txBox="1"/>
          <p:nvPr/>
        </p:nvSpPr>
        <p:spPr>
          <a:xfrm>
            <a:off x="372799" y="1515532"/>
            <a:ext cx="10718534" cy="1938992"/>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Background and Regulations</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According to documentation and Hong Kong relevant rules (HKSAR SUV Order (Cap448G)), the maximum flight altitude for BVLOS is 300 feet AGL (approximately 91.44 meters); In conjunction with common mission scenarios such as photography and surveying, the operational volume vertical range is typically set as "ground to 91.44 m AGL", with a reserved vertical emergency volume, and the final vertical limit must not exceed the 300-foot cap.</a:t>
            </a:r>
          </a:p>
        </p:txBody>
      </p:sp>
      <p:sp>
        <p:nvSpPr>
          <p:cNvPr id="9" name="标题 1">
            <a:extLst>
              <a:ext uri="{FF2B5EF4-FFF2-40B4-BE49-F238E27FC236}">
                <a16:creationId xmlns:a16="http://schemas.microsoft.com/office/drawing/2014/main" id="{5EEFB5D7-B3AD-36DF-F102-AEE3EE0A2DB7}"/>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4.1 Initial ARC determination (Step 4)</a:t>
            </a:r>
            <a:endParaRPr lang="zh-CN"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10646" y="1382244"/>
            <a:ext cx="9708621" cy="5368420"/>
          </a:xfrm>
          <a:prstGeom prst="rect">
            <a:avLst/>
          </a:prstGeom>
        </p:spPr>
      </p:pic>
      <p:sp>
        <p:nvSpPr>
          <p:cNvPr id="7" name="文本框 6">
            <a:extLst>
              <a:ext uri="{FF2B5EF4-FFF2-40B4-BE49-F238E27FC236}">
                <a16:creationId xmlns:a16="http://schemas.microsoft.com/office/drawing/2014/main" id="{DC99FDFB-26E2-D4FC-BE02-796120D12B25}"/>
              </a:ext>
            </a:extLst>
          </p:cNvPr>
          <p:cNvSpPr txBox="1"/>
          <p:nvPr/>
        </p:nvSpPr>
        <p:spPr>
          <a:xfrm>
            <a:off x="372798" y="982133"/>
            <a:ext cx="73742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Use the decision tree in Figure 6 to determine the initial ARC</a:t>
            </a:r>
          </a:p>
        </p:txBody>
      </p:sp>
      <p:sp>
        <p:nvSpPr>
          <p:cNvPr id="2" name="标题 1">
            <a:extLst>
              <a:ext uri="{FF2B5EF4-FFF2-40B4-BE49-F238E27FC236}">
                <a16:creationId xmlns:a16="http://schemas.microsoft.com/office/drawing/2014/main" id="{CAA4D683-9007-BEDA-8FD5-007930FBD1DF}"/>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4.1 Initial ARC determination (Step 4)</a:t>
            </a:r>
            <a:endParaRPr lang="zh-CN"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0C2151D-4F50-C011-BF47-85E9A04E8228}"/>
              </a:ext>
            </a:extLst>
          </p:cNvPr>
          <p:cNvSpPr txBox="1"/>
          <p:nvPr/>
        </p:nvSpPr>
        <p:spPr>
          <a:xfrm>
            <a:off x="372798" y="982133"/>
            <a:ext cx="73742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Step by step according to the decision tree steps shown below:</a:t>
            </a:r>
          </a:p>
        </p:txBody>
      </p:sp>
      <p:sp>
        <p:nvSpPr>
          <p:cNvPr id="8" name="矩形: 圆角 7">
            <a:extLst>
              <a:ext uri="{FF2B5EF4-FFF2-40B4-BE49-F238E27FC236}">
                <a16:creationId xmlns:a16="http://schemas.microsoft.com/office/drawing/2014/main" id="{9680E0FE-E360-A576-7962-C2274DA95DED}"/>
              </a:ext>
            </a:extLst>
          </p:cNvPr>
          <p:cNvSpPr/>
          <p:nvPr/>
        </p:nvSpPr>
        <p:spPr>
          <a:xfrm>
            <a:off x="442913" y="1656215"/>
            <a:ext cx="2829676" cy="1876257"/>
          </a:xfrm>
          <a:prstGeom prst="roundRect">
            <a:avLst/>
          </a:prstGeom>
          <a:solidFill>
            <a:srgbClr val="EDBA7D"/>
          </a:solidFill>
          <a:ln w="635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000" b="1" dirty="0">
                <a:latin typeface="Times New Roman" panose="02020603050405020304" pitchFamily="18" charset="0"/>
                <a:cs typeface="Times New Roman" panose="02020603050405020304" pitchFamily="18" charset="0"/>
              </a:rPr>
              <a:t>First determine if it is "atypical airspace operation" </a:t>
            </a:r>
            <a:r>
              <a:rPr lang="en-US" altLang="en-US" sz="2000" b="1" dirty="0">
                <a:latin typeface="Times New Roman" panose="02020603050405020304" pitchFamily="18" charset="0"/>
                <a:cs typeface="Times New Roman" panose="02020603050405020304" pitchFamily="18" charset="0"/>
              </a:rPr>
              <a:t>→</a:t>
            </a:r>
            <a:r>
              <a:rPr lang="en-US" altLang="zh-CN" sz="2000" b="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No</a:t>
            </a:r>
            <a:endParaRPr lang="en-US" altLang="zh-CN" sz="2000" b="1" dirty="0">
              <a:latin typeface="Times New Roman" panose="02020603050405020304" pitchFamily="18" charset="0"/>
              <a:cs typeface="Times New Roman" panose="02020603050405020304" pitchFamily="18" charset="0"/>
            </a:endParaRP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矩形: 圆角 8">
            <a:extLst>
              <a:ext uri="{FF2B5EF4-FFF2-40B4-BE49-F238E27FC236}">
                <a16:creationId xmlns:a16="http://schemas.microsoft.com/office/drawing/2014/main" id="{4F323DEB-77C4-B379-B665-8640C13813F5}"/>
              </a:ext>
            </a:extLst>
          </p:cNvPr>
          <p:cNvSpPr/>
          <p:nvPr/>
        </p:nvSpPr>
        <p:spPr>
          <a:xfrm>
            <a:off x="4495149" y="1656215"/>
            <a:ext cx="2829676" cy="1876257"/>
          </a:xfrm>
          <a:prstGeom prst="roundRect">
            <a:avLst/>
          </a:prstGeom>
          <a:solidFill>
            <a:srgbClr val="EDBA7D"/>
          </a:solidFill>
          <a:ln w="635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000" b="1" dirty="0">
                <a:latin typeface="Times New Roman" panose="02020603050405020304" pitchFamily="18" charset="0"/>
                <a:cs typeface="Times New Roman" panose="02020603050405020304" pitchFamily="18" charset="0"/>
              </a:rPr>
              <a:t>Determine whether the operating altitude is &gt; FL600 (about 18,288 meters) → </a:t>
            </a:r>
            <a:r>
              <a:rPr lang="en-US" altLang="zh-CN" sz="2800" b="1" dirty="0">
                <a:latin typeface="Times New Roman" panose="02020603050405020304" pitchFamily="18" charset="0"/>
                <a:cs typeface="Times New Roman" panose="02020603050405020304" pitchFamily="18" charset="0"/>
              </a:rPr>
              <a:t>No</a:t>
            </a:r>
            <a:endParaRPr lang="zh-CN" altLang="en-US" sz="2000" b="1" dirty="0" err="1">
              <a:latin typeface="Times New Roman" panose="02020603050405020304" pitchFamily="18" charset="0"/>
              <a:cs typeface="Times New Roman" panose="02020603050405020304" pitchFamily="18" charset="0"/>
            </a:endParaRPr>
          </a:p>
        </p:txBody>
      </p:sp>
      <p:sp>
        <p:nvSpPr>
          <p:cNvPr id="10" name="矩形: 圆角 9">
            <a:extLst>
              <a:ext uri="{FF2B5EF4-FFF2-40B4-BE49-F238E27FC236}">
                <a16:creationId xmlns:a16="http://schemas.microsoft.com/office/drawing/2014/main" id="{03190EE2-D933-BDA7-F4FA-A531247B166F}"/>
              </a:ext>
            </a:extLst>
          </p:cNvPr>
          <p:cNvSpPr/>
          <p:nvPr/>
        </p:nvSpPr>
        <p:spPr>
          <a:xfrm>
            <a:off x="8547385" y="1656215"/>
            <a:ext cx="2829676" cy="1876257"/>
          </a:xfrm>
          <a:prstGeom prst="roundRect">
            <a:avLst/>
          </a:prstGeom>
          <a:solidFill>
            <a:srgbClr val="EDBA7D"/>
          </a:solidFill>
          <a:ln w="635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000" b="1" dirty="0">
                <a:latin typeface="Times New Roman" panose="02020603050405020304" pitchFamily="18" charset="0"/>
                <a:cs typeface="Times New Roman" panose="02020603050405020304" pitchFamily="18" charset="0"/>
              </a:rPr>
              <a:t>Determine whether it is in "B, C, D category controlled airspace" or "airport/helipad environment" → </a:t>
            </a:r>
            <a:r>
              <a:rPr lang="en-US" altLang="zh-CN" sz="2800" b="1" dirty="0">
                <a:latin typeface="Times New Roman" panose="02020603050405020304" pitchFamily="18" charset="0"/>
                <a:cs typeface="Times New Roman" panose="02020603050405020304" pitchFamily="18" charset="0"/>
              </a:rPr>
              <a:t>No</a:t>
            </a:r>
            <a:endParaRPr lang="zh-CN" altLang="en-US" sz="2000" b="1" dirty="0" err="1">
              <a:latin typeface="Times New Roman" panose="02020603050405020304" pitchFamily="18" charset="0"/>
              <a:cs typeface="Times New Roman" panose="02020603050405020304" pitchFamily="18" charset="0"/>
            </a:endParaRPr>
          </a:p>
        </p:txBody>
      </p:sp>
      <p:sp>
        <p:nvSpPr>
          <p:cNvPr id="11" name="矩形: 圆角 10">
            <a:extLst>
              <a:ext uri="{FF2B5EF4-FFF2-40B4-BE49-F238E27FC236}">
                <a16:creationId xmlns:a16="http://schemas.microsoft.com/office/drawing/2014/main" id="{35E9EB2F-BF11-BD04-51FB-A7822C623368}"/>
              </a:ext>
            </a:extLst>
          </p:cNvPr>
          <p:cNvSpPr/>
          <p:nvPr/>
        </p:nvSpPr>
        <p:spPr>
          <a:xfrm>
            <a:off x="442913" y="4375605"/>
            <a:ext cx="2829676" cy="2081070"/>
          </a:xfrm>
          <a:prstGeom prst="roundRect">
            <a:avLst/>
          </a:prstGeom>
          <a:solidFill>
            <a:srgbClr val="EDBA7D"/>
          </a:solidFill>
          <a:ln w="635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ltLang="zh-CN" sz="2000" b="1" dirty="0">
              <a:latin typeface="Times New Roman" panose="02020603050405020304" pitchFamily="18" charset="0"/>
              <a:cs typeface="Times New Roman" panose="02020603050405020304" pitchFamily="18" charset="0"/>
            </a:endParaRPr>
          </a:p>
          <a:p>
            <a:pPr algn="ctr"/>
            <a:r>
              <a:rPr lang="en-US" altLang="zh-CN" sz="2000" b="1" dirty="0">
                <a:latin typeface="Times New Roman" panose="02020603050405020304" pitchFamily="18" charset="0"/>
                <a:cs typeface="Times New Roman" panose="02020603050405020304" pitchFamily="18" charset="0"/>
              </a:rPr>
              <a:t>Conclusion: The initial ARC is </a:t>
            </a:r>
          </a:p>
          <a:p>
            <a:pPr algn="ctr"/>
            <a:r>
              <a:rPr lang="en-US" altLang="zh-CN" sz="2800" b="1" dirty="0">
                <a:latin typeface="Times New Roman" panose="02020603050405020304" pitchFamily="18" charset="0"/>
                <a:cs typeface="Times New Roman" panose="02020603050405020304" pitchFamily="18" charset="0"/>
              </a:rPr>
              <a:t>ARC-C</a:t>
            </a:r>
            <a:endParaRPr lang="zh-CN" altLang="en-US" sz="2000" b="1" dirty="0" err="1">
              <a:latin typeface="Times New Roman" panose="02020603050405020304" pitchFamily="18" charset="0"/>
              <a:cs typeface="Times New Roman" panose="02020603050405020304" pitchFamily="18" charset="0"/>
            </a:endParaRPr>
          </a:p>
        </p:txBody>
      </p:sp>
      <p:sp>
        <p:nvSpPr>
          <p:cNvPr id="12" name="矩形: 圆角 11">
            <a:extLst>
              <a:ext uri="{FF2B5EF4-FFF2-40B4-BE49-F238E27FC236}">
                <a16:creationId xmlns:a16="http://schemas.microsoft.com/office/drawing/2014/main" id="{D8071C76-81F9-2935-1E6D-45088BFC3200}"/>
              </a:ext>
            </a:extLst>
          </p:cNvPr>
          <p:cNvSpPr/>
          <p:nvPr/>
        </p:nvSpPr>
        <p:spPr>
          <a:xfrm>
            <a:off x="4495149" y="4375605"/>
            <a:ext cx="2829676" cy="2081070"/>
          </a:xfrm>
          <a:prstGeom prst="roundRect">
            <a:avLst/>
          </a:prstGeom>
          <a:solidFill>
            <a:srgbClr val="EDBA7D"/>
          </a:solidFill>
          <a:ln w="635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000" b="1" dirty="0">
                <a:latin typeface="Times New Roman" panose="02020603050405020304" pitchFamily="18" charset="0"/>
                <a:cs typeface="Times New Roman" panose="02020603050405020304" pitchFamily="18" charset="0"/>
              </a:rPr>
              <a:t>Ultimately determine "unregulated airspace and altitude &lt; 500 feet AGL, operating area rural/suburban" → </a:t>
            </a:r>
            <a:r>
              <a:rPr lang="en-US" altLang="zh-CN" sz="2800" b="1" dirty="0">
                <a:latin typeface="Times New Roman" panose="02020603050405020304" pitchFamily="18" charset="0"/>
                <a:cs typeface="Times New Roman" panose="02020603050405020304" pitchFamily="18" charset="0"/>
              </a:rPr>
              <a:t>yes</a:t>
            </a:r>
            <a:endParaRPr lang="en-US" altLang="zh-CN" sz="2000" b="1" dirty="0">
              <a:latin typeface="Times New Roman" panose="02020603050405020304" pitchFamily="18" charset="0"/>
              <a:cs typeface="Times New Roman" panose="02020603050405020304" pitchFamily="18" charset="0"/>
            </a:endParaRPr>
          </a:p>
          <a:p>
            <a:pPr algn="ctr"/>
            <a:endParaRPr lang="zh-CN" altLang="en-US" sz="2000" b="1" dirty="0" err="1">
              <a:latin typeface="Times New Roman" panose="02020603050405020304" pitchFamily="18" charset="0"/>
              <a:cs typeface="Times New Roman" panose="02020603050405020304" pitchFamily="18" charset="0"/>
            </a:endParaRPr>
          </a:p>
        </p:txBody>
      </p:sp>
      <p:sp>
        <p:nvSpPr>
          <p:cNvPr id="13" name="矩形: 圆角 12">
            <a:extLst>
              <a:ext uri="{FF2B5EF4-FFF2-40B4-BE49-F238E27FC236}">
                <a16:creationId xmlns:a16="http://schemas.microsoft.com/office/drawing/2014/main" id="{8C93E4A1-2E4A-B95C-2911-592C7DB0A3E2}"/>
              </a:ext>
            </a:extLst>
          </p:cNvPr>
          <p:cNvSpPr/>
          <p:nvPr/>
        </p:nvSpPr>
        <p:spPr>
          <a:xfrm>
            <a:off x="8547385" y="4375605"/>
            <a:ext cx="2829676" cy="2081070"/>
          </a:xfrm>
          <a:prstGeom prst="roundRect">
            <a:avLst/>
          </a:prstGeom>
          <a:solidFill>
            <a:srgbClr val="EDBA7D"/>
          </a:solidFill>
          <a:ln w="635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2000" b="1" dirty="0">
                <a:latin typeface="Times New Roman" panose="02020603050405020304" pitchFamily="18" charset="0"/>
                <a:cs typeface="Times New Roman" panose="02020603050405020304" pitchFamily="18" charset="0"/>
              </a:rPr>
              <a:t>Determine if it is in "unregulated airspace and altitude &gt; 500 feet AGL (about 152.4 meters)" → </a:t>
            </a:r>
            <a:r>
              <a:rPr lang="en-US" altLang="zh-CN" sz="2800" b="1" dirty="0">
                <a:latin typeface="Times New Roman" panose="02020603050405020304" pitchFamily="18" charset="0"/>
                <a:cs typeface="Times New Roman" panose="02020603050405020304" pitchFamily="18" charset="0"/>
              </a:rPr>
              <a:t>No</a:t>
            </a:r>
            <a:endParaRPr lang="zh-CN" altLang="en-US" sz="2000" b="1" dirty="0" err="1">
              <a:latin typeface="Times New Roman" panose="02020603050405020304" pitchFamily="18" charset="0"/>
              <a:cs typeface="Times New Roman" panose="02020603050405020304" pitchFamily="18" charset="0"/>
            </a:endParaRPr>
          </a:p>
        </p:txBody>
      </p:sp>
      <p:sp>
        <p:nvSpPr>
          <p:cNvPr id="14" name="箭头: 右 13">
            <a:extLst>
              <a:ext uri="{FF2B5EF4-FFF2-40B4-BE49-F238E27FC236}">
                <a16:creationId xmlns:a16="http://schemas.microsoft.com/office/drawing/2014/main" id="{F92AD17A-5B05-DC6A-A183-56A6B890957B}"/>
              </a:ext>
            </a:extLst>
          </p:cNvPr>
          <p:cNvSpPr/>
          <p:nvPr/>
        </p:nvSpPr>
        <p:spPr>
          <a:xfrm>
            <a:off x="3580673" y="2247537"/>
            <a:ext cx="606391" cy="529389"/>
          </a:xfrm>
          <a:prstGeom prst="rightArrow">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箭头: 右 14">
            <a:extLst>
              <a:ext uri="{FF2B5EF4-FFF2-40B4-BE49-F238E27FC236}">
                <a16:creationId xmlns:a16="http://schemas.microsoft.com/office/drawing/2014/main" id="{DA6A5029-D3C7-2F09-8BDB-99E8C826502F}"/>
              </a:ext>
            </a:extLst>
          </p:cNvPr>
          <p:cNvSpPr/>
          <p:nvPr/>
        </p:nvSpPr>
        <p:spPr>
          <a:xfrm>
            <a:off x="7688698" y="2247537"/>
            <a:ext cx="606391" cy="529389"/>
          </a:xfrm>
          <a:prstGeom prst="rightArrow">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箭头: 右 15">
            <a:extLst>
              <a:ext uri="{FF2B5EF4-FFF2-40B4-BE49-F238E27FC236}">
                <a16:creationId xmlns:a16="http://schemas.microsoft.com/office/drawing/2014/main" id="{48B9480D-C6EC-89BF-B731-20FCCE127D1C}"/>
              </a:ext>
            </a:extLst>
          </p:cNvPr>
          <p:cNvSpPr/>
          <p:nvPr/>
        </p:nvSpPr>
        <p:spPr>
          <a:xfrm rot="10800000">
            <a:off x="7692642" y="5072702"/>
            <a:ext cx="606391" cy="529389"/>
          </a:xfrm>
          <a:prstGeom prst="rightArrow">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箭头: 右 16">
            <a:extLst>
              <a:ext uri="{FF2B5EF4-FFF2-40B4-BE49-F238E27FC236}">
                <a16:creationId xmlns:a16="http://schemas.microsoft.com/office/drawing/2014/main" id="{1B7515BC-3CD8-1C98-BECD-096496571D6D}"/>
              </a:ext>
            </a:extLst>
          </p:cNvPr>
          <p:cNvSpPr/>
          <p:nvPr/>
        </p:nvSpPr>
        <p:spPr>
          <a:xfrm rot="10800000">
            <a:off x="3580672" y="5072702"/>
            <a:ext cx="606391" cy="529389"/>
          </a:xfrm>
          <a:prstGeom prst="rightArrow">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箭头: 右 17">
            <a:extLst>
              <a:ext uri="{FF2B5EF4-FFF2-40B4-BE49-F238E27FC236}">
                <a16:creationId xmlns:a16="http://schemas.microsoft.com/office/drawing/2014/main" id="{068E05E6-C524-8C4E-587D-2894EA0A708C}"/>
              </a:ext>
            </a:extLst>
          </p:cNvPr>
          <p:cNvSpPr/>
          <p:nvPr/>
        </p:nvSpPr>
        <p:spPr>
          <a:xfrm rot="5400000">
            <a:off x="9923722" y="3717758"/>
            <a:ext cx="606391" cy="529389"/>
          </a:xfrm>
          <a:prstGeom prst="rightArrow">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F449EE14-2D3D-2CB9-5D13-6863C0F497C2}"/>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4.1 Initial ARC determination (Step 4)</a:t>
            </a:r>
            <a:endParaRPr lang="zh-CN" altLang="zh-C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193AD7B-F5EB-F837-1808-E47CAF76ED12}"/>
              </a:ext>
            </a:extLst>
          </p:cNvPr>
          <p:cNvSpPr txBox="1"/>
          <p:nvPr/>
        </p:nvSpPr>
        <p:spPr>
          <a:xfrm>
            <a:off x="372798" y="982133"/>
            <a:ext cx="73742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Airspace Environment Analysis</a:t>
            </a:r>
          </a:p>
        </p:txBody>
      </p:sp>
      <p:sp>
        <p:nvSpPr>
          <p:cNvPr id="8" name="文本框 7">
            <a:extLst>
              <a:ext uri="{FF2B5EF4-FFF2-40B4-BE49-F238E27FC236}">
                <a16:creationId xmlns:a16="http://schemas.microsoft.com/office/drawing/2014/main" id="{F9F399D3-6D18-2EBC-CF12-3C553AD87538}"/>
              </a:ext>
            </a:extLst>
          </p:cNvPr>
          <p:cNvSpPr txBox="1"/>
          <p:nvPr/>
        </p:nvSpPr>
        <p:spPr>
          <a:xfrm>
            <a:off x="372798" y="1530774"/>
            <a:ext cx="11071641" cy="1323439"/>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Unregulated airspace: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This operating route is entirely within the G-class unregulated airspace designated by Hong Kong. Flying in this airspace does not require an air traffic control permit, and remote pilots are responsible for their own separation from other aircraft, which conforms to SORA's definition of "unregulated airspace”</a:t>
            </a:r>
          </a:p>
        </p:txBody>
      </p:sp>
      <p:sp>
        <p:nvSpPr>
          <p:cNvPr id="9" name="文本框 8">
            <a:extLst>
              <a:ext uri="{FF2B5EF4-FFF2-40B4-BE49-F238E27FC236}">
                <a16:creationId xmlns:a16="http://schemas.microsoft.com/office/drawing/2014/main" id="{3CC52726-8EF6-66F7-58FC-628A8C719690}"/>
              </a:ext>
            </a:extLst>
          </p:cNvPr>
          <p:cNvSpPr txBox="1"/>
          <p:nvPr/>
        </p:nvSpPr>
        <p:spPr>
          <a:xfrm>
            <a:off x="372797" y="3080442"/>
            <a:ext cx="11071641" cy="1323439"/>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Non-airport environment: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Route planning has actively avoided all airport traffic zones and major heliports. The operating area is tens of kilometers away from major facilities such as Hong Kong International Airport and Shek Kong Airport and is not within the scope of any "airport environment". Therefore, it is determined to be a non-airport environment.</a:t>
            </a:r>
          </a:p>
        </p:txBody>
      </p:sp>
      <p:sp>
        <p:nvSpPr>
          <p:cNvPr id="10" name="文本框 9">
            <a:extLst>
              <a:ext uri="{FF2B5EF4-FFF2-40B4-BE49-F238E27FC236}">
                <a16:creationId xmlns:a16="http://schemas.microsoft.com/office/drawing/2014/main" id="{4EF414AA-BD15-0A87-6EAE-54D2603224A5}"/>
              </a:ext>
            </a:extLst>
          </p:cNvPr>
          <p:cNvSpPr txBox="1"/>
          <p:nvPr/>
        </p:nvSpPr>
        <p:spPr>
          <a:xfrm>
            <a:off x="372796" y="4630110"/>
            <a:ext cx="11071641" cy="1631216"/>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Located above the city: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The starting point of the operation and key flight segments pass through the high-density urban area of Tseung Kwan O. Although subsequent segments may pass through Sai Kung country, the airspace environment for the entire operation should be determined based on the riskiest part in accordance with the strictest principles of SORA risk assessment. Therefore, the operation was determined to be carried out over the city.</a:t>
            </a:r>
          </a:p>
        </p:txBody>
      </p:sp>
      <p:sp>
        <p:nvSpPr>
          <p:cNvPr id="2" name="标题 1">
            <a:extLst>
              <a:ext uri="{FF2B5EF4-FFF2-40B4-BE49-F238E27FC236}">
                <a16:creationId xmlns:a16="http://schemas.microsoft.com/office/drawing/2014/main" id="{1636C2EB-699F-235C-F290-E4C3A11688A0}"/>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4.1 Initial ARC determination (Step 4)</a:t>
            </a:r>
            <a:endParaRPr lang="zh-CN" altLang="zh-C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EE8E2CAC-44FF-ED95-F2CB-8699EB2A2641}"/>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4.2 TMPR determination (Step 5)</a:t>
            </a:r>
          </a:p>
        </p:txBody>
      </p:sp>
      <p:sp>
        <p:nvSpPr>
          <p:cNvPr id="7" name="文本框 6">
            <a:extLst>
              <a:ext uri="{FF2B5EF4-FFF2-40B4-BE49-F238E27FC236}">
                <a16:creationId xmlns:a16="http://schemas.microsoft.com/office/drawing/2014/main" id="{98F99880-6C1F-6BBA-C610-DF9949D494E2}"/>
              </a:ext>
            </a:extLst>
          </p:cNvPr>
          <p:cNvSpPr txBox="1"/>
          <p:nvPr/>
        </p:nvSpPr>
        <p:spPr>
          <a:xfrm>
            <a:off x="372798" y="982132"/>
            <a:ext cx="11389274" cy="4708981"/>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Application of Strategic Mitigations to Determine Residual ARC</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Purpose</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According to the document logic, the TMPR grade of the BVLOS operation should be determined in combination with "residual ARC“</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Methodology (Annex C Framework):</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The process follows the two-step methodology outlined in SORA Annex C section 6:</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1. Identify Initial ARC based on airspace and environmental density (Table 4).</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2. Including operational restrictions (section 6.2) and general structures and rules (section 6.3), to demonstrate that the "Encounter Density" in the local operating environment is equivalent to a lower AEC level, thereby achieving a reduction in ARC with approval from regulatory authorities.</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629127" y="6171621"/>
            <a:ext cx="5080000" cy="245110"/>
          </a:xfrm>
          <a:prstGeom prst="rect">
            <a:avLst/>
          </a:prstGeom>
        </p:spPr>
        <p:txBody>
          <a:bodyPr>
            <a:spAutoFit/>
          </a:bodyPr>
          <a:lstStyle/>
          <a:p>
            <a:pPr marL="0" indent="0" algn="ctr" defTabSz="266700">
              <a:spcBef>
                <a:spcPct val="0"/>
              </a:spcBef>
              <a:spcAft>
                <a:spcPct val="0"/>
              </a:spcAft>
            </a:pPr>
            <a:r>
              <a:rPr lang="en-US" altLang="zh-CN" sz="1000" b="1" dirty="0">
                <a:latin typeface="Times New Roman" panose="02020603050405020304"/>
                <a:ea typeface="黑体" panose="02010609060101010101" charset="-122"/>
              </a:rPr>
              <a:t>Table 4: </a:t>
            </a:r>
            <a:r>
              <a:rPr lang="en-US" altLang="zh-CN" sz="1000" dirty="0">
                <a:latin typeface="Times New Roman" panose="02020603050405020304"/>
                <a:ea typeface="黑体" panose="02010609060101010101" charset="-122"/>
              </a:rPr>
              <a:t>AEC Mapping</a:t>
            </a:r>
            <a:endParaRPr lang="en-US" altLang="zh-CN" dirty="0"/>
          </a:p>
        </p:txBody>
      </p:sp>
      <p:graphicFrame>
        <p:nvGraphicFramePr>
          <p:cNvPr id="9" name="表格 8"/>
          <p:cNvGraphicFramePr/>
          <p:nvPr>
            <p:extLst>
              <p:ext uri="{D42A27DB-BD31-4B8C-83A1-F6EECF244321}">
                <p14:modId xmlns:p14="http://schemas.microsoft.com/office/powerpoint/2010/main" val="1978641552"/>
              </p:ext>
            </p:extLst>
          </p:nvPr>
        </p:nvGraphicFramePr>
        <p:xfrm>
          <a:off x="442913" y="1651000"/>
          <a:ext cx="5452428" cy="4374419"/>
        </p:xfrm>
        <a:graphic>
          <a:graphicData uri="http://schemas.openxmlformats.org/drawingml/2006/table">
            <a:tbl>
              <a:tblPr/>
              <a:tblGrid>
                <a:gridCol w="2357807">
                  <a:extLst>
                    <a:ext uri="{9D8B030D-6E8A-4147-A177-3AD203B41FA5}">
                      <a16:colId xmlns:a16="http://schemas.microsoft.com/office/drawing/2014/main" val="20000"/>
                    </a:ext>
                  </a:extLst>
                </a:gridCol>
                <a:gridCol w="1326266">
                  <a:extLst>
                    <a:ext uri="{9D8B030D-6E8A-4147-A177-3AD203B41FA5}">
                      <a16:colId xmlns:a16="http://schemas.microsoft.com/office/drawing/2014/main" val="20001"/>
                    </a:ext>
                  </a:extLst>
                </a:gridCol>
                <a:gridCol w="977954">
                  <a:extLst>
                    <a:ext uri="{9D8B030D-6E8A-4147-A177-3AD203B41FA5}">
                      <a16:colId xmlns:a16="http://schemas.microsoft.com/office/drawing/2014/main" val="20002"/>
                    </a:ext>
                  </a:extLst>
                </a:gridCol>
                <a:gridCol w="790401">
                  <a:extLst>
                    <a:ext uri="{9D8B030D-6E8A-4147-A177-3AD203B41FA5}">
                      <a16:colId xmlns:a16="http://schemas.microsoft.com/office/drawing/2014/main" val="20003"/>
                    </a:ext>
                  </a:extLst>
                </a:gridCol>
              </a:tblGrid>
              <a:tr h="203868">
                <a:tc gridSpan="4">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Operational Environment, AEC and ARC.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0D0D0"/>
                    </a:solidFill>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0"/>
                  </a:ext>
                </a:extLst>
              </a:tr>
              <a:tr h="559180">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Operations in;</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Initial Generalized Density Rating</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Corresponding AEC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Initial ARC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203868">
                <a:tc gridSpan="4">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Airport/Heliport Environment</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0D0D0"/>
                    </a:solidFill>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2"/>
                  </a:ext>
                </a:extLst>
              </a:tr>
              <a:tr h="559180">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OPS in Airport/Heliport Environment in Class B, C or D airspace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endParaRPr lang="en-US" altLang="zh-CN" sz="1200">
                        <a:latin typeface="Times New Roman" panose="02020603050405020304"/>
                        <a:ea typeface="等线" panose="02010600030101010101" pitchFamily="2" charset="-122"/>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ARC-d</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559180">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in Airport/Heliport Environment in Class E airspace or in Class F or G</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203868">
                <a:tc gridSpan="4">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Operations above 500 feet AGL but below Flight level 600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0D0D0"/>
                    </a:solidFill>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5"/>
                  </a:ext>
                </a:extLst>
              </a:tr>
              <a:tr h="559180">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&gt;500ft AGL but &lt;FL600 in a Mode-S Veil or Transponder Mandatory Zone (TMZ)</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ARC-d</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407735">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&gt;500ft AGL but &lt;FL600 in controlled airspace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ARC-d</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7"/>
                  </a:ext>
                </a:extLst>
              </a:tr>
              <a:tr h="559180">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&gt;500ft AGL but &lt;FL600 in uncontrolled airspace over Urban Area</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4</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8"/>
                  </a:ext>
                </a:extLst>
              </a:tr>
              <a:tr h="559180">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&gt;500ft AGL but &lt;FL600 in uncontrolled airspace over Rural Area</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AEC 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ARC-c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9"/>
                  </a:ext>
                </a:extLst>
              </a:tr>
            </a:tbl>
          </a:graphicData>
        </a:graphic>
      </p:graphicFrame>
      <p:graphicFrame>
        <p:nvGraphicFramePr>
          <p:cNvPr id="10" name="表格 9"/>
          <p:cNvGraphicFramePr/>
          <p:nvPr>
            <p:custDataLst>
              <p:tags r:id="rId1"/>
            </p:custDataLst>
            <p:extLst>
              <p:ext uri="{D42A27DB-BD31-4B8C-83A1-F6EECF244321}">
                <p14:modId xmlns:p14="http://schemas.microsoft.com/office/powerpoint/2010/main" val="1099514600"/>
              </p:ext>
            </p:extLst>
          </p:nvPr>
        </p:nvGraphicFramePr>
        <p:xfrm>
          <a:off x="6296660" y="1651000"/>
          <a:ext cx="5378784" cy="4374418"/>
        </p:xfrm>
        <a:graphic>
          <a:graphicData uri="http://schemas.openxmlformats.org/drawingml/2006/table">
            <a:tbl>
              <a:tblPr/>
              <a:tblGrid>
                <a:gridCol w="2325961">
                  <a:extLst>
                    <a:ext uri="{9D8B030D-6E8A-4147-A177-3AD203B41FA5}">
                      <a16:colId xmlns:a16="http://schemas.microsoft.com/office/drawing/2014/main" val="20000"/>
                    </a:ext>
                  </a:extLst>
                </a:gridCol>
                <a:gridCol w="1308353">
                  <a:extLst>
                    <a:ext uri="{9D8B030D-6E8A-4147-A177-3AD203B41FA5}">
                      <a16:colId xmlns:a16="http://schemas.microsoft.com/office/drawing/2014/main" val="20001"/>
                    </a:ext>
                  </a:extLst>
                </a:gridCol>
                <a:gridCol w="964745">
                  <a:extLst>
                    <a:ext uri="{9D8B030D-6E8A-4147-A177-3AD203B41FA5}">
                      <a16:colId xmlns:a16="http://schemas.microsoft.com/office/drawing/2014/main" val="20002"/>
                    </a:ext>
                  </a:extLst>
                </a:gridCol>
                <a:gridCol w="779725">
                  <a:extLst>
                    <a:ext uri="{9D8B030D-6E8A-4147-A177-3AD203B41FA5}">
                      <a16:colId xmlns:a16="http://schemas.microsoft.com/office/drawing/2014/main" val="20003"/>
                    </a:ext>
                  </a:extLst>
                </a:gridCol>
              </a:tblGrid>
              <a:tr h="303536">
                <a:tc gridSpan="4">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Operations below 500 ft AGL</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0D0D0"/>
                    </a:solidFill>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0"/>
                  </a:ext>
                </a:extLst>
              </a:tr>
              <a:tr h="833592">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&lt;500ft AGL in a Mode-S Veil or Transponder Mandatory Zone (TMZ)</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7</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555297">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&lt;500ft AGL in controlled airspace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r h="607720">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&lt;500ft AGL in uncontrolled airspace over Urban Area</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9</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ARC-c</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3"/>
                  </a:ext>
                </a:extLst>
              </a:tr>
              <a:tr h="607720">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&lt;500ft AGL in uncontrolled airspace over Rural Area</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10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ARC-b</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4"/>
                  </a:ext>
                </a:extLst>
              </a:tr>
              <a:tr h="303536">
                <a:tc gridSpan="4">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Operations above Flight Level 600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0D0D0"/>
                    </a:solidFill>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5"/>
                  </a:ext>
                </a:extLst>
              </a:tr>
              <a:tr h="303536">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&gt;FL600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11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ARC-b</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6"/>
                  </a:ext>
                </a:extLst>
              </a:tr>
              <a:tr h="304184">
                <a:tc gridSpan="4">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Operations in Atypical or Segregated Airspace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rgbClr val="D0D0D0"/>
                    </a:solidFill>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tc hMerge="1">
                  <a:txBody>
                    <a:bodyPr/>
                    <a:lstStyle/>
                    <a:p>
                      <a:endParaRPr lang="zh-CN"/>
                    </a:p>
                  </a:txBody>
                  <a:tcPr>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tcPr>
                </a:tc>
                <a:extLst>
                  <a:ext uri="{0D108BD9-81ED-4DB2-BD59-A6C34878D82A}">
                    <a16:rowId xmlns:a16="http://schemas.microsoft.com/office/drawing/2014/main" val="10007"/>
                  </a:ext>
                </a:extLst>
              </a:tr>
              <a:tr h="555297">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OPS in Atypical/Segregated Airspace</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a:latin typeface="Times New Roman" panose="02020603050405020304"/>
                          <a:ea typeface="等线" panose="02010600030101010101" pitchFamily="2" charset="-122"/>
                        </a:rPr>
                        <a:t>AEC 12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spcBef>
                          <a:spcPct val="0"/>
                        </a:spcBef>
                        <a:spcAft>
                          <a:spcPct val="0"/>
                        </a:spcAft>
                      </a:pPr>
                      <a:r>
                        <a:rPr lang="en-US" altLang="zh-CN" sz="1200" dirty="0">
                          <a:latin typeface="Times New Roman" panose="02020603050405020304"/>
                          <a:ea typeface="等线" panose="02010600030101010101" pitchFamily="2" charset="-122"/>
                        </a:rPr>
                        <a:t>ARC-a</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6" name="标题 1">
            <a:extLst>
              <a:ext uri="{FF2B5EF4-FFF2-40B4-BE49-F238E27FC236}">
                <a16:creationId xmlns:a16="http://schemas.microsoft.com/office/drawing/2014/main" id="{E0678C7C-C7E5-069D-F5C5-5FA70C3E2A05}"/>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4.2 TMPR determination (Step 5)</a:t>
            </a:r>
          </a:p>
        </p:txBody>
      </p:sp>
      <p:sp>
        <p:nvSpPr>
          <p:cNvPr id="7" name="文本框 6">
            <a:extLst>
              <a:ext uri="{FF2B5EF4-FFF2-40B4-BE49-F238E27FC236}">
                <a16:creationId xmlns:a16="http://schemas.microsoft.com/office/drawing/2014/main" id="{B32D0F7F-5ADA-5B90-BDD0-D86C9BD98450}"/>
              </a:ext>
            </a:extLst>
          </p:cNvPr>
          <p:cNvSpPr txBox="1"/>
          <p:nvPr/>
        </p:nvSpPr>
        <p:spPr>
          <a:xfrm>
            <a:off x="372798" y="982133"/>
            <a:ext cx="73742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Application of Strategic Mitigations to Determine Residual ARC</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899EB1D8-8AA9-3967-0806-496FE53D469A}"/>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4.2 TMPR determination (Step 5)</a:t>
            </a:r>
          </a:p>
        </p:txBody>
      </p:sp>
      <p:sp>
        <p:nvSpPr>
          <p:cNvPr id="7" name="文本框 6">
            <a:extLst>
              <a:ext uri="{FF2B5EF4-FFF2-40B4-BE49-F238E27FC236}">
                <a16:creationId xmlns:a16="http://schemas.microsoft.com/office/drawing/2014/main" id="{71BCC907-0093-40A4-ED83-4879CB013FB6}"/>
              </a:ext>
            </a:extLst>
          </p:cNvPr>
          <p:cNvSpPr txBox="1"/>
          <p:nvPr/>
        </p:nvSpPr>
        <p:spPr>
          <a:xfrm>
            <a:off x="372798" y="982133"/>
            <a:ext cx="73742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Operational Overview for Mitigation Assessment </a:t>
            </a:r>
          </a:p>
        </p:txBody>
      </p:sp>
      <p:sp>
        <p:nvSpPr>
          <p:cNvPr id="8" name="文本框 7">
            <a:extLst>
              <a:ext uri="{FF2B5EF4-FFF2-40B4-BE49-F238E27FC236}">
                <a16:creationId xmlns:a16="http://schemas.microsoft.com/office/drawing/2014/main" id="{4B17AFC5-E873-59AC-55B9-33D512A36DCC}"/>
              </a:ext>
            </a:extLst>
          </p:cNvPr>
          <p:cNvSpPr txBox="1"/>
          <p:nvPr/>
        </p:nvSpPr>
        <p:spPr>
          <a:xfrm>
            <a:off x="940065" y="1502967"/>
            <a:ext cx="103714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Airspace Class: Class G unregulated airspace (under Cap 448G).</a:t>
            </a:r>
          </a:p>
        </p:txBody>
      </p:sp>
      <p:sp>
        <p:nvSpPr>
          <p:cNvPr id="9" name="箭头: V 形 22">
            <a:extLst>
              <a:ext uri="{FF2B5EF4-FFF2-40B4-BE49-F238E27FC236}">
                <a16:creationId xmlns:a16="http://schemas.microsoft.com/office/drawing/2014/main" id="{F034CB65-B32F-6E19-BE9D-B5D2EB73765B}"/>
              </a:ext>
            </a:extLst>
          </p:cNvPr>
          <p:cNvSpPr/>
          <p:nvPr/>
        </p:nvSpPr>
        <p:spPr>
          <a:xfrm>
            <a:off x="536393" y="1535489"/>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0" name="箭头: V 形 22">
            <a:extLst>
              <a:ext uri="{FF2B5EF4-FFF2-40B4-BE49-F238E27FC236}">
                <a16:creationId xmlns:a16="http://schemas.microsoft.com/office/drawing/2014/main" id="{9D52D825-8164-B46D-656B-A09A4004E052}"/>
              </a:ext>
            </a:extLst>
          </p:cNvPr>
          <p:cNvSpPr/>
          <p:nvPr/>
        </p:nvSpPr>
        <p:spPr>
          <a:xfrm>
            <a:off x="536393" y="2342535"/>
            <a:ext cx="361606" cy="377372"/>
          </a:xfrm>
          <a:prstGeom prst="chevron">
            <a:avLst/>
          </a:prstGeom>
          <a:solidFill>
            <a:srgbClr val="9A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1" name="文本框 10">
            <a:extLst>
              <a:ext uri="{FF2B5EF4-FFF2-40B4-BE49-F238E27FC236}">
                <a16:creationId xmlns:a16="http://schemas.microsoft.com/office/drawing/2014/main" id="{C6E6CDCB-1886-6687-EA25-9FE77154155C}"/>
              </a:ext>
            </a:extLst>
          </p:cNvPr>
          <p:cNvSpPr txBox="1"/>
          <p:nvPr/>
        </p:nvSpPr>
        <p:spPr>
          <a:xfrm>
            <a:off x="940065" y="3156057"/>
            <a:ext cx="10874517"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Route Length: ≈ 7 km coastal corridor between Tseung Kwan O Hospital and Sai Kung Pier.</a:t>
            </a:r>
          </a:p>
        </p:txBody>
      </p:sp>
      <p:sp>
        <p:nvSpPr>
          <p:cNvPr id="12" name="箭头: V 形 22">
            <a:extLst>
              <a:ext uri="{FF2B5EF4-FFF2-40B4-BE49-F238E27FC236}">
                <a16:creationId xmlns:a16="http://schemas.microsoft.com/office/drawing/2014/main" id="{19B5E087-C5D3-1893-72CC-19F6E01E7D18}"/>
              </a:ext>
            </a:extLst>
          </p:cNvPr>
          <p:cNvSpPr/>
          <p:nvPr/>
        </p:nvSpPr>
        <p:spPr>
          <a:xfrm>
            <a:off x="536393" y="3188579"/>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3" name="箭头: V 形 22">
            <a:extLst>
              <a:ext uri="{FF2B5EF4-FFF2-40B4-BE49-F238E27FC236}">
                <a16:creationId xmlns:a16="http://schemas.microsoft.com/office/drawing/2014/main" id="{20542300-6389-0D99-DCC9-47D596818A6F}"/>
              </a:ext>
            </a:extLst>
          </p:cNvPr>
          <p:cNvSpPr/>
          <p:nvPr/>
        </p:nvSpPr>
        <p:spPr>
          <a:xfrm>
            <a:off x="536393" y="3995625"/>
            <a:ext cx="361606" cy="377372"/>
          </a:xfrm>
          <a:prstGeom prst="chevron">
            <a:avLst/>
          </a:prstGeom>
          <a:solidFill>
            <a:srgbClr val="9A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4" name="文本框 13">
            <a:extLst>
              <a:ext uri="{FF2B5EF4-FFF2-40B4-BE49-F238E27FC236}">
                <a16:creationId xmlns:a16="http://schemas.microsoft.com/office/drawing/2014/main" id="{37160014-B8CB-BE36-78B8-AAF168B01532}"/>
              </a:ext>
            </a:extLst>
          </p:cNvPr>
          <p:cNvSpPr txBox="1"/>
          <p:nvPr/>
        </p:nvSpPr>
        <p:spPr>
          <a:xfrm>
            <a:off x="940066" y="4847956"/>
            <a:ext cx="11023334" cy="400110"/>
          </a:xfrm>
          <a:prstGeom prst="rect">
            <a:avLst/>
          </a:prstGeom>
          <a:noFill/>
        </p:spPr>
        <p:txBody>
          <a:bodyPr wrap="square" rtlCol="0">
            <a:spAutoFit/>
          </a:bodyPr>
          <a:lstStyle/>
          <a:p>
            <a:r>
              <a:rPr lang="en-US" altLang="zh-CN" sz="2000" b="1" dirty="0">
                <a:latin typeface="Times New Roman" panose="02020603050405020304" pitchFamily="18" charset="0"/>
                <a:cs typeface="Times New Roman" panose="02020603050405020304" pitchFamily="18" charset="0"/>
              </a:rPr>
              <a:t>Other Traffic: No scheduled aerodrome or controlled helicopter routes within   2 km.</a:t>
            </a:r>
          </a:p>
        </p:txBody>
      </p:sp>
      <p:sp>
        <p:nvSpPr>
          <p:cNvPr id="15" name="箭头: V 形 22">
            <a:extLst>
              <a:ext uri="{FF2B5EF4-FFF2-40B4-BE49-F238E27FC236}">
                <a16:creationId xmlns:a16="http://schemas.microsoft.com/office/drawing/2014/main" id="{15D7735F-3BEA-D30F-9037-83E302E36206}"/>
              </a:ext>
            </a:extLst>
          </p:cNvPr>
          <p:cNvSpPr/>
          <p:nvPr/>
        </p:nvSpPr>
        <p:spPr>
          <a:xfrm>
            <a:off x="536393" y="4880478"/>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6" name="文本框 15">
            <a:extLst>
              <a:ext uri="{FF2B5EF4-FFF2-40B4-BE49-F238E27FC236}">
                <a16:creationId xmlns:a16="http://schemas.microsoft.com/office/drawing/2014/main" id="{70A5FD49-8691-FB93-0069-A4EF0E793156}"/>
              </a:ext>
            </a:extLst>
          </p:cNvPr>
          <p:cNvSpPr txBox="1"/>
          <p:nvPr/>
        </p:nvSpPr>
        <p:spPr>
          <a:xfrm>
            <a:off x="940065" y="2353201"/>
            <a:ext cx="98126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Altitude: ≤ 300 ft AGL within VLL volume.</a:t>
            </a:r>
          </a:p>
        </p:txBody>
      </p:sp>
      <p:sp>
        <p:nvSpPr>
          <p:cNvPr id="17" name="文本框 16">
            <a:extLst>
              <a:ext uri="{FF2B5EF4-FFF2-40B4-BE49-F238E27FC236}">
                <a16:creationId xmlns:a16="http://schemas.microsoft.com/office/drawing/2014/main" id="{EE13A214-0172-E959-63B8-089AC48CEBA0}"/>
              </a:ext>
            </a:extLst>
          </p:cNvPr>
          <p:cNvSpPr txBox="1"/>
          <p:nvPr/>
        </p:nvSpPr>
        <p:spPr>
          <a:xfrm>
            <a:off x="940066" y="4049381"/>
            <a:ext cx="11023334" cy="400111"/>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Exposure Area: ≈ 70 % over water or sparsely populated terrain, ≈ 30 % urban terminal segments.</a:t>
            </a:r>
          </a:p>
        </p:txBody>
      </p:sp>
      <p:sp>
        <p:nvSpPr>
          <p:cNvPr id="18" name="箭头: V 形 22">
            <a:extLst>
              <a:ext uri="{FF2B5EF4-FFF2-40B4-BE49-F238E27FC236}">
                <a16:creationId xmlns:a16="http://schemas.microsoft.com/office/drawing/2014/main" id="{A3A05D49-06D4-C958-0995-C608F571D65D}"/>
              </a:ext>
            </a:extLst>
          </p:cNvPr>
          <p:cNvSpPr/>
          <p:nvPr/>
        </p:nvSpPr>
        <p:spPr>
          <a:xfrm>
            <a:off x="536393" y="5805377"/>
            <a:ext cx="361606" cy="377372"/>
          </a:xfrm>
          <a:prstGeom prst="chevron">
            <a:avLst/>
          </a:prstGeom>
          <a:solidFill>
            <a:srgbClr val="9A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19" name="文本框 18">
            <a:extLst>
              <a:ext uri="{FF2B5EF4-FFF2-40B4-BE49-F238E27FC236}">
                <a16:creationId xmlns:a16="http://schemas.microsoft.com/office/drawing/2014/main" id="{209D053E-D037-988F-9C36-D1DD4645A426}"/>
              </a:ext>
            </a:extLst>
          </p:cNvPr>
          <p:cNvSpPr txBox="1"/>
          <p:nvPr/>
        </p:nvSpPr>
        <p:spPr>
          <a:xfrm>
            <a:off x="940066" y="5859134"/>
            <a:ext cx="1009623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Operation Type: Emergency AED delivery (occasional BVLOS medical mission).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22162" y="1344131"/>
            <a:ext cx="8891859" cy="5311775"/>
          </a:xfrm>
          <a:prstGeom prst="rect">
            <a:avLst/>
          </a:prstGeom>
        </p:spPr>
      </p:pic>
      <p:sp>
        <p:nvSpPr>
          <p:cNvPr id="7" name="标题 1">
            <a:extLst>
              <a:ext uri="{FF2B5EF4-FFF2-40B4-BE49-F238E27FC236}">
                <a16:creationId xmlns:a16="http://schemas.microsoft.com/office/drawing/2014/main" id="{8C41AA0B-955C-5D89-C312-29CB332536AA}"/>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4.2 TMPR determination (Step 5)</a:t>
            </a:r>
          </a:p>
        </p:txBody>
      </p:sp>
      <p:sp>
        <p:nvSpPr>
          <p:cNvPr id="8" name="文本框 7">
            <a:extLst>
              <a:ext uri="{FF2B5EF4-FFF2-40B4-BE49-F238E27FC236}">
                <a16:creationId xmlns:a16="http://schemas.microsoft.com/office/drawing/2014/main" id="{1E2C680F-6161-929B-E6C2-937B160A845D}"/>
              </a:ext>
            </a:extLst>
          </p:cNvPr>
          <p:cNvSpPr txBox="1"/>
          <p:nvPr/>
        </p:nvSpPr>
        <p:spPr>
          <a:xfrm>
            <a:off x="372798" y="982133"/>
            <a:ext cx="7374201"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Strategic Mitigation by Operational Restrictions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8C0C8AB6-DD5B-C416-4EDE-461FD8AC5FD6}"/>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4.2 TMPR determination (Step 5)</a:t>
            </a:r>
          </a:p>
        </p:txBody>
      </p:sp>
      <p:sp>
        <p:nvSpPr>
          <p:cNvPr id="7" name="文本框 6">
            <a:extLst>
              <a:ext uri="{FF2B5EF4-FFF2-40B4-BE49-F238E27FC236}">
                <a16:creationId xmlns:a16="http://schemas.microsoft.com/office/drawing/2014/main" id="{B7F22A3D-9037-B471-5061-85262EFFCBDB}"/>
              </a:ext>
            </a:extLst>
          </p:cNvPr>
          <p:cNvSpPr txBox="1"/>
          <p:nvPr/>
        </p:nvSpPr>
        <p:spPr>
          <a:xfrm>
            <a:off x="372798" y="982134"/>
            <a:ext cx="11319669" cy="1015663"/>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Strategic Mitigation by Common Structures and Rules</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Within VLL (Class G) airspace, the operation complies with existing UAS regulations and coordination procedures providing an additional single-level ARC reduction</a:t>
            </a:r>
          </a:p>
        </p:txBody>
      </p:sp>
      <p:sp>
        <p:nvSpPr>
          <p:cNvPr id="9" name="矩形: 圆角 8">
            <a:extLst>
              <a:ext uri="{FF2B5EF4-FFF2-40B4-BE49-F238E27FC236}">
                <a16:creationId xmlns:a16="http://schemas.microsoft.com/office/drawing/2014/main" id="{7E70B203-655D-F79A-28A1-D10B4C1FFC72}"/>
              </a:ext>
            </a:extLst>
          </p:cNvPr>
          <p:cNvSpPr/>
          <p:nvPr/>
        </p:nvSpPr>
        <p:spPr>
          <a:xfrm>
            <a:off x="442913" y="2185673"/>
            <a:ext cx="4494998" cy="1896177"/>
          </a:xfrm>
          <a:prstGeom prst="roundRect">
            <a:avLst/>
          </a:prstGeom>
          <a:solidFill>
            <a:srgbClr val="1B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Times New Roman" panose="02020603050405020304" pitchFamily="18" charset="0"/>
                <a:cs typeface="Times New Roman" panose="02020603050405020304" pitchFamily="18" charset="0"/>
              </a:rPr>
              <a:t>Flight notification and coordination: Prior submission to CAD/ANSP via UTM system.</a:t>
            </a:r>
          </a:p>
          <a:p>
            <a:pPr algn="ctr"/>
            <a:endParaRPr lang="zh-CN" altLang="en-US" sz="2000" b="1" dirty="0" err="1">
              <a:latin typeface="Times New Roman" panose="02020603050405020304" pitchFamily="18" charset="0"/>
              <a:cs typeface="Times New Roman" panose="02020603050405020304" pitchFamily="18" charset="0"/>
            </a:endParaRPr>
          </a:p>
        </p:txBody>
      </p:sp>
      <p:sp>
        <p:nvSpPr>
          <p:cNvPr id="10" name="矩形: 圆角 9">
            <a:extLst>
              <a:ext uri="{FF2B5EF4-FFF2-40B4-BE49-F238E27FC236}">
                <a16:creationId xmlns:a16="http://schemas.microsoft.com/office/drawing/2014/main" id="{3AC22233-68B7-D48D-992D-E82CE93C6BBE}"/>
              </a:ext>
            </a:extLst>
          </p:cNvPr>
          <p:cNvSpPr/>
          <p:nvPr/>
        </p:nvSpPr>
        <p:spPr>
          <a:xfrm>
            <a:off x="6009524" y="2185672"/>
            <a:ext cx="4494998" cy="1896177"/>
          </a:xfrm>
          <a:prstGeom prst="roundRect">
            <a:avLst/>
          </a:prstGeom>
          <a:solidFill>
            <a:srgbClr val="1B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Times New Roman" panose="02020603050405020304" pitchFamily="18" charset="0"/>
                <a:cs typeface="Times New Roman" panose="02020603050405020304" pitchFamily="18" charset="0"/>
              </a:rPr>
              <a:t>Electronic conspicuity: Remote ID broadcast and high-intensity strobe lights ensure visibility to other air users.</a:t>
            </a:r>
          </a:p>
          <a:p>
            <a:pPr algn="ctr"/>
            <a:endParaRPr lang="zh-CN" altLang="en-US" sz="2000" dirty="0" err="1">
              <a:latin typeface="Times New Roman" panose="02020603050405020304" pitchFamily="18" charset="0"/>
              <a:cs typeface="Times New Roman" panose="02020603050405020304" pitchFamily="18" charset="0"/>
            </a:endParaRPr>
          </a:p>
        </p:txBody>
      </p:sp>
      <p:sp>
        <p:nvSpPr>
          <p:cNvPr id="11" name="矩形: 圆角 10">
            <a:extLst>
              <a:ext uri="{FF2B5EF4-FFF2-40B4-BE49-F238E27FC236}">
                <a16:creationId xmlns:a16="http://schemas.microsoft.com/office/drawing/2014/main" id="{705A460F-7541-4879-A2BC-0EECCFD6E246}"/>
              </a:ext>
            </a:extLst>
          </p:cNvPr>
          <p:cNvSpPr/>
          <p:nvPr/>
        </p:nvSpPr>
        <p:spPr>
          <a:xfrm>
            <a:off x="442913" y="4478774"/>
            <a:ext cx="4494998" cy="1896177"/>
          </a:xfrm>
          <a:prstGeom prst="roundRect">
            <a:avLst/>
          </a:prstGeom>
          <a:solidFill>
            <a:srgbClr val="1B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Times New Roman" panose="02020603050405020304" pitchFamily="18" charset="0"/>
                <a:cs typeface="Times New Roman" panose="02020603050405020304" pitchFamily="18" charset="0"/>
              </a:rPr>
              <a:t>Compliance with VLL rules: Adherence to Cap 448G and visual conspicuity requirements for SUA operations &lt; 400 ft AGL.</a:t>
            </a:r>
            <a:endParaRPr lang="zh-CN" altLang="en-US" sz="2000" dirty="0" err="1">
              <a:latin typeface="Times New Roman" panose="02020603050405020304" pitchFamily="18" charset="0"/>
              <a:cs typeface="Times New Roman" panose="02020603050405020304" pitchFamily="18" charset="0"/>
            </a:endParaRPr>
          </a:p>
        </p:txBody>
      </p:sp>
      <p:sp>
        <p:nvSpPr>
          <p:cNvPr id="12" name="矩形: 圆角 11">
            <a:extLst>
              <a:ext uri="{FF2B5EF4-FFF2-40B4-BE49-F238E27FC236}">
                <a16:creationId xmlns:a16="http://schemas.microsoft.com/office/drawing/2014/main" id="{DF7B48E2-E757-F25D-7C8C-179B6755236D}"/>
              </a:ext>
            </a:extLst>
          </p:cNvPr>
          <p:cNvSpPr/>
          <p:nvPr/>
        </p:nvSpPr>
        <p:spPr>
          <a:xfrm>
            <a:off x="6009524" y="4478773"/>
            <a:ext cx="4494998" cy="1896177"/>
          </a:xfrm>
          <a:prstGeom prst="roundRect">
            <a:avLst/>
          </a:prstGeom>
          <a:solidFill>
            <a:srgbClr val="1B2F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Times New Roman" panose="02020603050405020304" pitchFamily="18" charset="0"/>
                <a:cs typeface="Times New Roman" panose="02020603050405020304" pitchFamily="18" charset="0"/>
              </a:rPr>
              <a:t>Communication: Ground control maintains real-time link and monitoring; emergency contact with CAD if needed.</a:t>
            </a:r>
          </a:p>
          <a:p>
            <a:pPr algn="ctr"/>
            <a:endParaRPr lang="zh-CN" altLang="en-US" sz="2000" dirty="0" err="1">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C9483E4E-74C8-B270-4B3A-7B0C37D4B834}"/>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4.2 TMPR determination (Step 5)</a:t>
            </a:r>
          </a:p>
        </p:txBody>
      </p:sp>
      <p:sp>
        <p:nvSpPr>
          <p:cNvPr id="7" name="文本框 6">
            <a:extLst>
              <a:ext uri="{FF2B5EF4-FFF2-40B4-BE49-F238E27FC236}">
                <a16:creationId xmlns:a16="http://schemas.microsoft.com/office/drawing/2014/main" id="{89009901-A18F-7C88-10E9-DBFC4A37C559}"/>
              </a:ext>
            </a:extLst>
          </p:cNvPr>
          <p:cNvSpPr txBox="1"/>
          <p:nvPr/>
        </p:nvSpPr>
        <p:spPr>
          <a:xfrm>
            <a:off x="372798" y="982134"/>
            <a:ext cx="11319669" cy="4401205"/>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Residual ARC Determination</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Initial ARC: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ARC-C.</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Mitigations applied: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Comprehensive operational restrictions + conformance with common VLL rules.</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Evidence of low density: Over-water routing, short urban exposure, UTM coordination, absence of helicopter routes.</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Residual classification: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Under Table 2 of Annex C, when an AEC 9 operation demonstrates local density ≈ AEC 10 and meets rule-based mitigations, the ARC may be reduced from C → B. The competent authority retains final approval of this classification. </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Residual ARC = B.</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2DEC9209-076A-E07F-E662-4E7F76C3426F}"/>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4.2 TMPR determination (Step 5)</a:t>
            </a:r>
          </a:p>
        </p:txBody>
      </p:sp>
      <p:sp>
        <p:nvSpPr>
          <p:cNvPr id="7" name="文本框 6">
            <a:extLst>
              <a:ext uri="{FF2B5EF4-FFF2-40B4-BE49-F238E27FC236}">
                <a16:creationId xmlns:a16="http://schemas.microsoft.com/office/drawing/2014/main" id="{3C1C1CD6-912C-0E1F-7A28-C52F2D5E7BC3}"/>
              </a:ext>
            </a:extLst>
          </p:cNvPr>
          <p:cNvSpPr txBox="1"/>
          <p:nvPr/>
        </p:nvSpPr>
        <p:spPr>
          <a:xfrm>
            <a:off x="372798" y="982134"/>
            <a:ext cx="11319669" cy="4093428"/>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Supporting Evidence and Verification</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Flight planning documents</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KML route, no-fly zones map, airspace classification chart.</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UTM coordination record: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proof of flight plan submission and acknowledgement</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Geofencing log: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±100 m corridor containment data.</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NOTAM review: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no conflicting operations during mission period.</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Remote ID recording: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showing continuous broadcast during flight.</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a:extLst>
              <a:ext uri="{FF2B5EF4-FFF2-40B4-BE49-F238E27FC236}">
                <a16:creationId xmlns:a16="http://schemas.microsoft.com/office/drawing/2014/main" id="{675BBA3B-428F-185B-3B78-12EC4620AA56}"/>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4.3 Conclusion</a:t>
            </a:r>
          </a:p>
        </p:txBody>
      </p:sp>
      <p:sp>
        <p:nvSpPr>
          <p:cNvPr id="9" name="文本框 8">
            <a:extLst>
              <a:ext uri="{FF2B5EF4-FFF2-40B4-BE49-F238E27FC236}">
                <a16:creationId xmlns:a16="http://schemas.microsoft.com/office/drawing/2014/main" id="{066BEA05-BF15-7DDC-ECBA-A5AA54FF35F9}"/>
              </a:ext>
            </a:extLst>
          </p:cNvPr>
          <p:cNvSpPr txBox="1"/>
          <p:nvPr/>
        </p:nvSpPr>
        <p:spPr>
          <a:xfrm>
            <a:off x="334297" y="1016000"/>
            <a:ext cx="11319669" cy="2554545"/>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Applying strategic mitigations in accordance with SORA Annex C significantly reduces the encounter probability within the defined operational volume. The integration of spatial, temporal, and rule-based measures demonstrates that the operation’s actual air risk is equivalent to that of a lower-density VLL environment (AEC 10). </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Consequently, the Residual ARC for the AED delivery mission between Tseung Kwan O Hospital and Sai Kung Public Pier is assessed as ARC-B, subject to competent authority endorsement.</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6DFA262-A486-01A4-7D5F-568E6A4113D2}"/>
              </a:ext>
            </a:extLst>
          </p:cNvPr>
          <p:cNvSpPr txBox="1"/>
          <p:nvPr/>
        </p:nvSpPr>
        <p:spPr>
          <a:xfrm>
            <a:off x="436165" y="1059842"/>
            <a:ext cx="11319669" cy="4093428"/>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Purpose</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Based on the definition in Appendix C of SORA v2.5, the step applies strategic mitigation measures to demonstrate that the probability of encountering a manned aircraft in this operational environment is lower than the general baseline scenario, based on the initial air risk level (Initial ARC=C) determined in the previous stage, thereby reducing the risk to a lower residual air risk level (Residual ARC). </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Methodology (Annex C Framework)</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The process follows the two-step methodology outlined in SORA Annex C section 6:</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Identify Initial ARC based on airspace and environmental density (Table 4).</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Including operational restrictions (section 6.2) and general structures and rules (section 6.3), to demonstrate that the "Encounter Density" in the local operating environment is equivalent to a lower AEC level, thereby achieving a reduction in ARC with approval from regulatory authorities</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456FFEC2-290B-3CF6-1BAB-A1282CA049E5}"/>
              </a:ext>
            </a:extLst>
          </p:cNvPr>
          <p:cNvSpPr txBox="1">
            <a:spLocks/>
          </p:cNvSpPr>
          <p:nvPr/>
        </p:nvSpPr>
        <p:spPr>
          <a:xfrm>
            <a:off x="1083104" y="190026"/>
            <a:ext cx="10981895" cy="698973"/>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4.4 Application of Strategic Mitigations to Determine Residual ARC (step 6)</a:t>
            </a:r>
            <a:endParaRPr lang="zh-CN" altLang="zh-CN" dirty="0"/>
          </a:p>
        </p:txBody>
      </p:sp>
    </p:spTree>
    <p:extLst>
      <p:ext uri="{BB962C8B-B14F-4D97-AF65-F5344CB8AC3E}">
        <p14:creationId xmlns:p14="http://schemas.microsoft.com/office/powerpoint/2010/main" val="14660220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847F7C2-E3CA-F81D-0647-4623BA976D73}"/>
              </a:ext>
            </a:extLst>
          </p:cNvPr>
          <p:cNvPicPr>
            <a:picLocks noChangeAspect="1"/>
          </p:cNvPicPr>
          <p:nvPr/>
        </p:nvPicPr>
        <p:blipFill>
          <a:blip r:embed="rId2"/>
          <a:srcRect b="40582"/>
          <a:stretch>
            <a:fillRect/>
          </a:stretch>
        </p:blipFill>
        <p:spPr>
          <a:xfrm>
            <a:off x="223721" y="810072"/>
            <a:ext cx="5872279" cy="5952805"/>
          </a:xfrm>
          <a:prstGeom prst="rect">
            <a:avLst/>
          </a:prstGeom>
        </p:spPr>
      </p:pic>
      <p:pic>
        <p:nvPicPr>
          <p:cNvPr id="10" name="图片 9">
            <a:extLst>
              <a:ext uri="{FF2B5EF4-FFF2-40B4-BE49-F238E27FC236}">
                <a16:creationId xmlns:a16="http://schemas.microsoft.com/office/drawing/2014/main" id="{6433A704-B834-E68A-862A-34963391CB8C}"/>
              </a:ext>
            </a:extLst>
          </p:cNvPr>
          <p:cNvPicPr>
            <a:picLocks noChangeAspect="1"/>
          </p:cNvPicPr>
          <p:nvPr/>
        </p:nvPicPr>
        <p:blipFill>
          <a:blip r:embed="rId2"/>
          <a:srcRect t="58792"/>
          <a:stretch>
            <a:fillRect/>
          </a:stretch>
        </p:blipFill>
        <p:spPr>
          <a:xfrm>
            <a:off x="6194409" y="887931"/>
            <a:ext cx="5773870" cy="4059228"/>
          </a:xfrm>
          <a:prstGeom prst="rect">
            <a:avLst/>
          </a:prstGeom>
        </p:spPr>
      </p:pic>
      <p:sp>
        <p:nvSpPr>
          <p:cNvPr id="12" name="文本框 11">
            <a:extLst>
              <a:ext uri="{FF2B5EF4-FFF2-40B4-BE49-F238E27FC236}">
                <a16:creationId xmlns:a16="http://schemas.microsoft.com/office/drawing/2014/main" id="{BADEB7D6-B7AA-B89B-66D8-7F8C7EC6F0AB}"/>
              </a:ext>
            </a:extLst>
          </p:cNvPr>
          <p:cNvSpPr txBox="1"/>
          <p:nvPr/>
        </p:nvSpPr>
        <p:spPr>
          <a:xfrm>
            <a:off x="7658866" y="6210556"/>
            <a:ext cx="3278645" cy="369332"/>
          </a:xfrm>
          <a:prstGeom prst="rect">
            <a:avLst/>
          </a:prstGeom>
          <a:noFill/>
        </p:spPr>
        <p:txBody>
          <a:bodyPr wrap="square">
            <a:spAutoFit/>
          </a:bodyPr>
          <a:lstStyle/>
          <a:p>
            <a:pPr algn="ctr">
              <a:buNone/>
            </a:pPr>
            <a:r>
              <a:rPr lang="en-US" altLang="zh-CN" sz="1800" b="1" kern="100" dirty="0">
                <a:effectLst/>
                <a:latin typeface="Times New Roman" panose="02020603050405020304" pitchFamily="18" charset="0"/>
                <a:ea typeface="等线 Light" panose="02010600030101010101" pitchFamily="2" charset="-122"/>
                <a:cs typeface="Times New Roman" panose="02020603050405020304" pitchFamily="18" charset="0"/>
              </a:rPr>
              <a:t>Table 1: </a:t>
            </a:r>
            <a:r>
              <a:rPr lang="en-US" altLang="zh-CN" sz="1800" kern="100" dirty="0">
                <a:effectLst/>
                <a:latin typeface="Times New Roman" panose="02020603050405020304" pitchFamily="18" charset="0"/>
                <a:ea typeface="等线 Light" panose="02010600030101010101" pitchFamily="2" charset="-122"/>
                <a:cs typeface="Times New Roman" panose="02020603050405020304" pitchFamily="18" charset="0"/>
              </a:rPr>
              <a:t>AEC Mapping</a:t>
            </a:r>
            <a:endParaRPr lang="zh-CN" altLang="zh-CN" sz="1800"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F3FFB4F9-AFEE-01B0-346F-EDD44D9879B3}"/>
              </a:ext>
            </a:extLst>
          </p:cNvPr>
          <p:cNvSpPr txBox="1">
            <a:spLocks/>
          </p:cNvSpPr>
          <p:nvPr/>
        </p:nvSpPr>
        <p:spPr>
          <a:xfrm>
            <a:off x="1083105" y="253527"/>
            <a:ext cx="7378724" cy="55201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4.5 </a:t>
            </a:r>
            <a:r>
              <a:rPr lang="en-US" altLang="zh-CN" sz="2400" b="1" dirty="0">
                <a:solidFill>
                  <a:srgbClr val="9B1E23"/>
                </a:solidFill>
                <a:latin typeface="Times New Roman" panose="02020603050405020304" pitchFamily="18" charset="0"/>
                <a:ea typeface="字魂105号-简雅黑" panose="00000500000000000000" pitchFamily="2" charset="-122"/>
              </a:rPr>
              <a:t>Methodology (Annex C Framework)</a:t>
            </a:r>
            <a:endParaRPr lang="zh-CN" altLang="zh-CN" dirty="0"/>
          </a:p>
        </p:txBody>
      </p:sp>
    </p:spTree>
    <p:extLst>
      <p:ext uri="{BB962C8B-B14F-4D97-AF65-F5344CB8AC3E}">
        <p14:creationId xmlns:p14="http://schemas.microsoft.com/office/powerpoint/2010/main" val="1361591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5CBA5-87E5-8CE4-E14A-1461D090785A}"/>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B3DC7DAB-0300-42D8-31CE-864BEF6869F7}"/>
              </a:ext>
            </a:extLst>
          </p:cNvPr>
          <p:cNvSpPr txBox="1">
            <a:spLocks/>
          </p:cNvSpPr>
          <p:nvPr/>
        </p:nvSpPr>
        <p:spPr>
          <a:xfrm>
            <a:off x="1083105" y="253527"/>
            <a:ext cx="7378724" cy="55201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4.6 Operational Overview for Mitigation Assessment</a:t>
            </a:r>
            <a:endParaRPr lang="zh-CN" altLang="zh-CN" dirty="0"/>
          </a:p>
        </p:txBody>
      </p:sp>
      <p:sp>
        <p:nvSpPr>
          <p:cNvPr id="5" name="文本框 4">
            <a:extLst>
              <a:ext uri="{FF2B5EF4-FFF2-40B4-BE49-F238E27FC236}">
                <a16:creationId xmlns:a16="http://schemas.microsoft.com/office/drawing/2014/main" id="{89F3742C-E5CA-1E27-C46C-431FC5F4C60F}"/>
              </a:ext>
            </a:extLst>
          </p:cNvPr>
          <p:cNvSpPr txBox="1"/>
          <p:nvPr/>
        </p:nvSpPr>
        <p:spPr>
          <a:xfrm>
            <a:off x="436165" y="1059842"/>
            <a:ext cx="11319669" cy="4401205"/>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Operational Overview for Mitigation Assessment</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Airspace Class: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Class G unregulated airspace (under Cap 448G).</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Altitude: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300 ft AGL within VLL volume.</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Route Length</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 7 km coastal corridor between Tseung Kwan O Hospital and Sai Kung Pier.</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Exposure Area: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70 % over water or sparsely populated terrain, ≈ 30 % urban terminal segments.</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Other Traffic: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No scheduled aerodrome or controlled helicopter routes within 2 km.</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Operation Type: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Emergency AED delivery (occasional BVLOS medical mission).</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549011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4EC6A-C7B4-B83E-8C42-8EFA8428CA35}"/>
            </a:ext>
          </a:extLst>
        </p:cNvPr>
        <p:cNvGrpSpPr/>
        <p:nvPr/>
      </p:nvGrpSpPr>
      <p:grpSpPr>
        <a:xfrm>
          <a:off x="0" y="0"/>
          <a:ext cx="0" cy="0"/>
          <a:chOff x="0" y="0"/>
          <a:chExt cx="0" cy="0"/>
        </a:xfrm>
      </p:grpSpPr>
      <p:sp>
        <p:nvSpPr>
          <p:cNvPr id="2" name="内容占位符 1">
            <a:extLst>
              <a:ext uri="{FF2B5EF4-FFF2-40B4-BE49-F238E27FC236}">
                <a16:creationId xmlns:a16="http://schemas.microsoft.com/office/drawing/2014/main" id="{66A323AA-F15D-2E84-2CC0-C3983937DE81}"/>
              </a:ext>
            </a:extLst>
          </p:cNvPr>
          <p:cNvSpPr>
            <a:spLocks noGrp="1"/>
          </p:cNvSpPr>
          <p:nvPr>
            <p:ph idx="4294967295"/>
          </p:nvPr>
        </p:nvSpPr>
        <p:spPr>
          <a:xfrm>
            <a:off x="442912" y="1089026"/>
            <a:ext cx="4539549" cy="1278789"/>
          </a:xfrm>
        </p:spPr>
        <p:txBody>
          <a:bodyPr>
            <a:normAutofit/>
          </a:bodyPr>
          <a:lstStyle/>
          <a:p>
            <a:pPr marL="0" indent="0">
              <a:buNone/>
            </a:pPr>
            <a:r>
              <a:rPr lang="en-US" altLang="zh-CN" sz="2000" dirty="0">
                <a:latin typeface="Times New Roman" panose="02020603050405020304" pitchFamily="18" charset="0"/>
                <a:cs typeface="Times New Roman" panose="02020603050405020304" pitchFamily="18" charset="0"/>
              </a:rPr>
              <a:t>These operational restrictions demonstrate a local airspace density significantly lower than the generalized AEC 9 baseline for urban VLL operations.</a:t>
            </a:r>
            <a:endParaRPr lang="zh-CN" altLang="zh-CN" sz="2000" dirty="0">
              <a:latin typeface="Times New Roman" panose="02020603050405020304" pitchFamily="18" charset="0"/>
              <a:cs typeface="Times New Roman" panose="02020603050405020304" pitchFamily="18" charset="0"/>
            </a:endParaRPr>
          </a:p>
        </p:txBody>
      </p:sp>
      <p:graphicFrame>
        <p:nvGraphicFramePr>
          <p:cNvPr id="4" name="表格 3">
            <a:extLst>
              <a:ext uri="{FF2B5EF4-FFF2-40B4-BE49-F238E27FC236}">
                <a16:creationId xmlns:a16="http://schemas.microsoft.com/office/drawing/2014/main" id="{1DB3B568-7BE6-6B84-A47C-EA83137A2619}"/>
              </a:ext>
            </a:extLst>
          </p:cNvPr>
          <p:cNvGraphicFramePr>
            <a:graphicFrameLocks noGrp="1"/>
          </p:cNvGraphicFramePr>
          <p:nvPr>
            <p:extLst>
              <p:ext uri="{D42A27DB-BD31-4B8C-83A1-F6EECF244321}">
                <p14:modId xmlns:p14="http://schemas.microsoft.com/office/powerpoint/2010/main" val="1877399609"/>
              </p:ext>
            </p:extLst>
          </p:nvPr>
        </p:nvGraphicFramePr>
        <p:xfrm>
          <a:off x="4982462" y="1089025"/>
          <a:ext cx="6732193" cy="5038754"/>
        </p:xfrm>
        <a:graphic>
          <a:graphicData uri="http://schemas.openxmlformats.org/drawingml/2006/table">
            <a:tbl>
              <a:tblPr firstRow="1" firstCol="1" bandRow="1">
                <a:tableStyleId>{5C22544A-7EE6-4342-B048-85BDC9FD1C3A}</a:tableStyleId>
              </a:tblPr>
              <a:tblGrid>
                <a:gridCol w="1411828">
                  <a:extLst>
                    <a:ext uri="{9D8B030D-6E8A-4147-A177-3AD203B41FA5}">
                      <a16:colId xmlns:a16="http://schemas.microsoft.com/office/drawing/2014/main" val="2363711956"/>
                    </a:ext>
                  </a:extLst>
                </a:gridCol>
                <a:gridCol w="3218970">
                  <a:extLst>
                    <a:ext uri="{9D8B030D-6E8A-4147-A177-3AD203B41FA5}">
                      <a16:colId xmlns:a16="http://schemas.microsoft.com/office/drawing/2014/main" val="4239652187"/>
                    </a:ext>
                  </a:extLst>
                </a:gridCol>
                <a:gridCol w="2101395">
                  <a:extLst>
                    <a:ext uri="{9D8B030D-6E8A-4147-A177-3AD203B41FA5}">
                      <a16:colId xmlns:a16="http://schemas.microsoft.com/office/drawing/2014/main" val="130655723"/>
                    </a:ext>
                  </a:extLst>
                </a:gridCol>
              </a:tblGrid>
              <a:tr h="573410">
                <a:tc>
                  <a:txBody>
                    <a:bodyPr/>
                    <a:lstStyle/>
                    <a:p>
                      <a:pPr algn="ctr">
                        <a:buNone/>
                      </a:pPr>
                      <a:r>
                        <a:rPr lang="en-US" sz="1600" kern="0" dirty="0">
                          <a:effectLst/>
                        </a:rPr>
                        <a:t>Restriction Type</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pPr algn="ctr">
                        <a:buNone/>
                      </a:pPr>
                      <a:r>
                        <a:rPr lang="en-US" sz="1600" kern="0" dirty="0">
                          <a:effectLst/>
                        </a:rPr>
                        <a:t>Implementation in This Operation</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pPr algn="ctr">
                        <a:buNone/>
                      </a:pPr>
                      <a:r>
                        <a:rPr lang="en-US" sz="1600" kern="0" dirty="0">
                          <a:effectLst/>
                        </a:rPr>
                        <a:t>Expected Effect</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extLst>
                  <a:ext uri="{0D108BD9-81ED-4DB2-BD59-A6C34878D82A}">
                    <a16:rowId xmlns:a16="http://schemas.microsoft.com/office/drawing/2014/main" val="2326739780"/>
                  </a:ext>
                </a:extLst>
              </a:tr>
              <a:tr h="1350544">
                <a:tc>
                  <a:txBody>
                    <a:bodyPr/>
                    <a:lstStyle/>
                    <a:p>
                      <a:pPr algn="ctr">
                        <a:buNone/>
                      </a:pPr>
                      <a:r>
                        <a:rPr lang="en-US" sz="1600" kern="0">
                          <a:effectLst/>
                        </a:rPr>
                        <a:t>Spatial boundary</a:t>
                      </a:r>
                      <a:endParaRPr lang="zh-CN" sz="1600" kern="1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pPr algn="ctr">
                        <a:buNone/>
                      </a:pPr>
                      <a:r>
                        <a:rPr lang="en-US" sz="1600" kern="0" dirty="0">
                          <a:effectLst/>
                        </a:rPr>
                        <a:t>Defined 7 km coastal corridor with ±100 m geofence and buffer; avoidance of airport CTR and RFZ.</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kern="0">
                          <a:effectLst/>
                        </a:rPr>
                        <a:t>Reduces probability of encounter with manned traffic in controlled airspace.</a:t>
                      </a:r>
                      <a:endParaRPr lang="zh-CN" sz="1600" kern="1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778245"/>
                  </a:ext>
                </a:extLst>
              </a:tr>
              <a:tr h="1146818">
                <a:tc>
                  <a:txBody>
                    <a:bodyPr/>
                    <a:lstStyle/>
                    <a:p>
                      <a:pPr algn="ctr">
                        <a:buNone/>
                      </a:pPr>
                      <a:r>
                        <a:rPr lang="en-US" sz="1600" kern="0" dirty="0">
                          <a:effectLst/>
                        </a:rPr>
                        <a:t>Chronological restriction</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pPr algn="ctr">
                        <a:buNone/>
                      </a:pPr>
                      <a:r>
                        <a:rPr lang="en-US" sz="1600" kern="0" dirty="0">
                          <a:effectLst/>
                        </a:rPr>
                        <a:t>Missions limited to daytime visual conditions (VMC), favorable weather &lt; 10 m/s wind; rare emergency dispatch only.</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kern="0" dirty="0">
                          <a:effectLst/>
                        </a:rPr>
                        <a:t>Restrict operation to periods of predictable low air traffic.</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432931"/>
                  </a:ext>
                </a:extLst>
              </a:tr>
              <a:tr h="860114">
                <a:tc>
                  <a:txBody>
                    <a:bodyPr/>
                    <a:lstStyle/>
                    <a:p>
                      <a:pPr algn="ctr">
                        <a:buNone/>
                      </a:pPr>
                      <a:r>
                        <a:rPr lang="en-US" sz="1600" kern="0">
                          <a:effectLst/>
                        </a:rPr>
                        <a:t>Time of exposure</a:t>
                      </a:r>
                      <a:endParaRPr lang="zh-CN" sz="1600" kern="1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pPr algn="ctr">
                        <a:buNone/>
                      </a:pPr>
                      <a:r>
                        <a:rPr lang="en-US" sz="1600" kern="0">
                          <a:effectLst/>
                        </a:rPr>
                        <a:t>Urban segments (launch/landing) &lt; 1 min each; total flight ≈ 8–10 min.</a:t>
                      </a:r>
                      <a:endParaRPr lang="zh-CN" sz="1600" kern="1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kern="0" dirty="0">
                          <a:effectLst/>
                        </a:rPr>
                        <a:t>Minimizes duration within higher-density zones.</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5522135"/>
                  </a:ext>
                </a:extLst>
              </a:tr>
              <a:tr h="1107868">
                <a:tc>
                  <a:txBody>
                    <a:bodyPr/>
                    <a:lstStyle/>
                    <a:p>
                      <a:pPr algn="ctr">
                        <a:buNone/>
                      </a:pPr>
                      <a:r>
                        <a:rPr lang="en-US" sz="1600" kern="0" dirty="0">
                          <a:effectLst/>
                        </a:rPr>
                        <a:t>Flight path design</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B9DC6"/>
                    </a:solidFill>
                  </a:tcPr>
                </a:tc>
                <a:tc>
                  <a:txBody>
                    <a:bodyPr/>
                    <a:lstStyle/>
                    <a:p>
                      <a:pPr algn="ctr">
                        <a:buNone/>
                      </a:pPr>
                      <a:r>
                        <a:rPr lang="en-US" sz="1600" kern="0" dirty="0">
                          <a:effectLst/>
                        </a:rPr>
                        <a:t>Over-water routing north of Clear Water Bay and mountainous terrain shielding populated areas.</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600" kern="0" dirty="0">
                          <a:effectLst/>
                        </a:rPr>
                        <a:t>Further reduces air and ground encounter risk.</a:t>
                      </a:r>
                      <a:endParaRPr lang="zh-CN" sz="1600" kern="1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14210924"/>
                  </a:ext>
                </a:extLst>
              </a:tr>
            </a:tbl>
          </a:graphicData>
        </a:graphic>
      </p:graphicFrame>
      <p:sp>
        <p:nvSpPr>
          <p:cNvPr id="6" name="文本框 5">
            <a:extLst>
              <a:ext uri="{FF2B5EF4-FFF2-40B4-BE49-F238E27FC236}">
                <a16:creationId xmlns:a16="http://schemas.microsoft.com/office/drawing/2014/main" id="{9C4A89B3-EE58-21B7-F253-1D9F6F660C13}"/>
              </a:ext>
            </a:extLst>
          </p:cNvPr>
          <p:cNvSpPr txBox="1"/>
          <p:nvPr/>
        </p:nvSpPr>
        <p:spPr>
          <a:xfrm>
            <a:off x="6848459" y="6127779"/>
            <a:ext cx="3226739" cy="369332"/>
          </a:xfrm>
          <a:prstGeom prst="rect">
            <a:avLst/>
          </a:prstGeom>
          <a:noFill/>
        </p:spPr>
        <p:txBody>
          <a:bodyPr wrap="square">
            <a:spAutoFit/>
          </a:bodyPr>
          <a:lstStyle/>
          <a:p>
            <a:r>
              <a:rPr lang="en-US" altLang="zh-CN" b="1" dirty="0"/>
              <a:t>Table 2: </a:t>
            </a:r>
            <a:r>
              <a:rPr lang="en-US" altLang="zh-CN" dirty="0"/>
              <a:t>Operational Restrictions</a:t>
            </a:r>
            <a:endParaRPr lang="zh-CN" altLang="zh-CN" dirty="0"/>
          </a:p>
        </p:txBody>
      </p:sp>
      <p:sp>
        <p:nvSpPr>
          <p:cNvPr id="8" name="标题 1">
            <a:extLst>
              <a:ext uri="{FF2B5EF4-FFF2-40B4-BE49-F238E27FC236}">
                <a16:creationId xmlns:a16="http://schemas.microsoft.com/office/drawing/2014/main" id="{57C828B2-ED72-9FA6-96E7-DBF272EFC9D6}"/>
              </a:ext>
            </a:extLst>
          </p:cNvPr>
          <p:cNvSpPr txBox="1">
            <a:spLocks/>
          </p:cNvSpPr>
          <p:nvPr/>
        </p:nvSpPr>
        <p:spPr>
          <a:xfrm>
            <a:off x="1083105" y="253527"/>
            <a:ext cx="7378724" cy="55201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4.7 Strategic Mitigation by Operational Restrictions</a:t>
            </a:r>
            <a:endParaRPr lang="zh-CN" altLang="zh-CN" dirty="0"/>
          </a:p>
        </p:txBody>
      </p:sp>
    </p:spTree>
    <p:extLst>
      <p:ext uri="{BB962C8B-B14F-4D97-AF65-F5344CB8AC3E}">
        <p14:creationId xmlns:p14="http://schemas.microsoft.com/office/powerpoint/2010/main" val="592241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D722D-3B63-C21A-7A80-0DEC5FADD503}"/>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53E0F9ED-E946-42CA-0A84-B5BC2587651E}"/>
              </a:ext>
            </a:extLst>
          </p:cNvPr>
          <p:cNvSpPr txBox="1">
            <a:spLocks/>
          </p:cNvSpPr>
          <p:nvPr/>
        </p:nvSpPr>
        <p:spPr>
          <a:xfrm>
            <a:off x="1083104" y="100982"/>
            <a:ext cx="10919599" cy="83549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4.8 Strategic Mitigation and Rules &amp; Residual ARC Determination</a:t>
            </a:r>
          </a:p>
        </p:txBody>
      </p:sp>
      <p:sp>
        <p:nvSpPr>
          <p:cNvPr id="6" name="文本框 5">
            <a:extLst>
              <a:ext uri="{FF2B5EF4-FFF2-40B4-BE49-F238E27FC236}">
                <a16:creationId xmlns:a16="http://schemas.microsoft.com/office/drawing/2014/main" id="{A8AF1097-0C82-AB7E-B70F-A50794CFDCA6}"/>
              </a:ext>
            </a:extLst>
          </p:cNvPr>
          <p:cNvSpPr txBox="1"/>
          <p:nvPr/>
        </p:nvSpPr>
        <p:spPr>
          <a:xfrm>
            <a:off x="436165" y="1059842"/>
            <a:ext cx="11755835" cy="5693866"/>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Strategic Mitigation by Common Structures and Rules</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Within VLL (Class G) airspace, the operation complies with existing UAS regulations and coordination procedures providing an additional single-level ARC reduction:</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Flight notification and coordination: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Prior submission to CAD/ANSP via UTM system.</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Electronic conspicuity: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Remote ID broadcast and high-intensity strobe lights ensure visibility to other air users.</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Compliance with VLL rules: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Adherence to Cap 448G and visual conspicuity requirements for SUA operations &lt; 400 ft AGL.</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Communication</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Ground control maintains real-time link and monitoring; emergency contact with CAD if needed.</a:t>
            </a:r>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Residual ARC Determination</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Initial ARC: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ARC-C.</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Mitigations applied: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Comprehensive operational restrictions + conformance with common VLL rules.</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Evidence of low density: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Over-water routing, short urban exposure, UTM coordination, absence of helicopter routes.</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Residual classification: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Under Table 2 of Annex C, when an AEC 9 operation demonstrates local density ≈ AEC 10 and meets rule-based mitigations, the ARC may be reduced from C → B. The competent authority retains final approval of this classification. </a:t>
            </a:r>
          </a:p>
          <a:p>
            <a:r>
              <a:rPr lang="en-US" altLang="zh-CN" sz="2400" b="1" kern="0" dirty="0">
                <a:latin typeface="Times New Roman" panose="02020603050405020304" pitchFamily="18" charset="0"/>
                <a:ea typeface="宋体" panose="02010600030101010101" pitchFamily="2" charset="-122"/>
                <a:cs typeface="Times New Roman" panose="02020603050405020304" pitchFamily="18" charset="0"/>
              </a:rPr>
              <a:t>Residual ARC = B</a:t>
            </a:r>
          </a:p>
        </p:txBody>
      </p:sp>
    </p:spTree>
    <p:extLst>
      <p:ext uri="{BB962C8B-B14F-4D97-AF65-F5344CB8AC3E}">
        <p14:creationId xmlns:p14="http://schemas.microsoft.com/office/powerpoint/2010/main" val="11671935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3E657-FA7F-0032-BBDD-F95584CA922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26695714-960E-787A-F62D-A7662F8ECBDB}"/>
              </a:ext>
            </a:extLst>
          </p:cNvPr>
          <p:cNvSpPr txBox="1">
            <a:spLocks/>
          </p:cNvSpPr>
          <p:nvPr/>
        </p:nvSpPr>
        <p:spPr>
          <a:xfrm>
            <a:off x="1083104" y="100982"/>
            <a:ext cx="10919599" cy="83549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4.9 Supporting Evidence and Verification</a:t>
            </a:r>
          </a:p>
        </p:txBody>
      </p:sp>
      <p:sp>
        <p:nvSpPr>
          <p:cNvPr id="5" name="文本框 4">
            <a:extLst>
              <a:ext uri="{FF2B5EF4-FFF2-40B4-BE49-F238E27FC236}">
                <a16:creationId xmlns:a16="http://schemas.microsoft.com/office/drawing/2014/main" id="{0FDD1C85-5D8A-0945-F2CE-9CC33AEE1D50}"/>
              </a:ext>
            </a:extLst>
          </p:cNvPr>
          <p:cNvSpPr txBox="1"/>
          <p:nvPr/>
        </p:nvSpPr>
        <p:spPr>
          <a:xfrm>
            <a:off x="436165" y="1059842"/>
            <a:ext cx="11755835" cy="4093428"/>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Supporting Evidence and Verification</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Flight planning documents: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KML route, no-fly zones map, airspace classification chart.</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UTM coordination record: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proof of flight plan submission and acknowledgement.</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Geofencing log</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±100 m corridor containment data.</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NOTAM review: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no conflicting operations during mission period.</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Remote ID recording</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showing continuous broadcast during flight.</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Conclusion</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Applying strategic mitigations in accordance with SORA Annex C significantly reduces the encounter probability within the defined operational volume. The integration of spatial, temporal, and rule-based measures demonstrates that the operation’s actual air risk is equivalent to that of a lower-density VLL environment (AEC 10). Consequently, the Residual ARC for the AED delivery mission between Tseung Kwan O Hospital and Sai Kung Public Pier is assessed as ARC-B, subject to competent authority endorsement.</a:t>
            </a:r>
          </a:p>
        </p:txBody>
      </p:sp>
    </p:spTree>
    <p:extLst>
      <p:ext uri="{BB962C8B-B14F-4D97-AF65-F5344CB8AC3E}">
        <p14:creationId xmlns:p14="http://schemas.microsoft.com/office/powerpoint/2010/main" val="3727417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9596D7EA-8333-2C26-5E68-A089E92FE29C}"/>
              </a:ext>
            </a:extLst>
          </p:cNvPr>
          <p:cNvGrpSpPr/>
          <p:nvPr/>
        </p:nvGrpSpPr>
        <p:grpSpPr>
          <a:xfrm>
            <a:off x="7603197" y="3519982"/>
            <a:ext cx="642484" cy="377372"/>
            <a:chOff x="464459" y="324756"/>
            <a:chExt cx="642484" cy="377372"/>
          </a:xfrm>
        </p:grpSpPr>
        <p:sp>
          <p:nvSpPr>
            <p:cNvPr id="5" name="箭头: V 形 21">
              <a:extLst>
                <a:ext uri="{FF2B5EF4-FFF2-40B4-BE49-F238E27FC236}">
                  <a16:creationId xmlns:a16="http://schemas.microsoft.com/office/drawing/2014/main" id="{43A3550F-A854-464A-8817-4E82C49FF145}"/>
                </a:ext>
              </a:extLst>
            </p:cNvPr>
            <p:cNvSpPr/>
            <p:nvPr/>
          </p:nvSpPr>
          <p:spPr>
            <a:xfrm>
              <a:off x="464459" y="3247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6" name="箭头: V 形 22">
              <a:extLst>
                <a:ext uri="{FF2B5EF4-FFF2-40B4-BE49-F238E27FC236}">
                  <a16:creationId xmlns:a16="http://schemas.microsoft.com/office/drawing/2014/main" id="{18609E61-15F6-0B84-DBB8-D6D752F3DCDE}"/>
                </a:ext>
              </a:extLst>
            </p:cNvPr>
            <p:cNvSpPr/>
            <p:nvPr/>
          </p:nvSpPr>
          <p:spPr>
            <a:xfrm>
              <a:off x="745337" y="3247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sp>
        <p:nvSpPr>
          <p:cNvPr id="7" name="标题 1">
            <a:extLst>
              <a:ext uri="{FF2B5EF4-FFF2-40B4-BE49-F238E27FC236}">
                <a16:creationId xmlns:a16="http://schemas.microsoft.com/office/drawing/2014/main" id="{701F650E-BAEE-B942-10C5-BAD575DE641C}"/>
              </a:ext>
            </a:extLst>
          </p:cNvPr>
          <p:cNvSpPr txBox="1">
            <a:spLocks/>
          </p:cNvSpPr>
          <p:nvPr/>
        </p:nvSpPr>
        <p:spPr>
          <a:xfrm>
            <a:off x="8367319" y="3429000"/>
            <a:ext cx="3824681" cy="5448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SAIL Level Identification</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8" name="TextBox 7">
            <a:extLst>
              <a:ext uri="{FF2B5EF4-FFF2-40B4-BE49-F238E27FC236}">
                <a16:creationId xmlns:a16="http://schemas.microsoft.com/office/drawing/2014/main" id="{763753DD-B667-0A86-D4A3-6FE01D88BD6F}"/>
              </a:ext>
            </a:extLst>
          </p:cNvPr>
          <p:cNvSpPr txBox="1"/>
          <p:nvPr/>
        </p:nvSpPr>
        <p:spPr>
          <a:xfrm>
            <a:off x="9396229" y="3973839"/>
            <a:ext cx="2428870" cy="348813"/>
          </a:xfrm>
          <a:prstGeom prst="rect">
            <a:avLst/>
          </a:prstGeom>
          <a:noFill/>
        </p:spPr>
        <p:txBody>
          <a:bodyPr wrap="none" rtlCol="0">
            <a:spAutoFit/>
          </a:bodyPr>
          <a:lstStyle/>
          <a:p>
            <a:pPr algn="r">
              <a:lnSpc>
                <a:spcPts val="2000"/>
              </a:lnSpc>
            </a:pPr>
            <a:r>
              <a:rPr lang="en-US" altLang="zh-CN" dirty="0">
                <a:latin typeface="Times New Roman" panose="02020603050405020304" pitchFamily="18" charset="0"/>
                <a:cs typeface="Times New Roman" panose="02020603050405020304" pitchFamily="18" charset="0"/>
              </a:rPr>
              <a:t>Jiaming Sun 25043507g</a:t>
            </a:r>
          </a:p>
        </p:txBody>
      </p:sp>
      <p:sp>
        <p:nvSpPr>
          <p:cNvPr id="9" name="标题 1">
            <a:extLst>
              <a:ext uri="{FF2B5EF4-FFF2-40B4-BE49-F238E27FC236}">
                <a16:creationId xmlns:a16="http://schemas.microsoft.com/office/drawing/2014/main" id="{4673F8C5-ED20-7741-4948-634A33FE4E50}"/>
              </a:ext>
            </a:extLst>
          </p:cNvPr>
          <p:cNvSpPr txBox="1">
            <a:spLocks/>
          </p:cNvSpPr>
          <p:nvPr/>
        </p:nvSpPr>
        <p:spPr>
          <a:xfrm>
            <a:off x="6573795" y="3461714"/>
            <a:ext cx="1075544" cy="512125"/>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Part V</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5541135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表格 6">
            <a:extLst>
              <a:ext uri="{FF2B5EF4-FFF2-40B4-BE49-F238E27FC236}">
                <a16:creationId xmlns:a16="http://schemas.microsoft.com/office/drawing/2014/main" id="{2293E846-63CF-0FB8-ABF0-0522BDFB55AF}"/>
              </a:ext>
            </a:extLst>
          </p:cNvPr>
          <p:cNvGraphicFramePr>
            <a:graphicFrameLocks noGrp="1"/>
          </p:cNvGraphicFramePr>
          <p:nvPr>
            <p:extLst>
              <p:ext uri="{D42A27DB-BD31-4B8C-83A1-F6EECF244321}">
                <p14:modId xmlns:p14="http://schemas.microsoft.com/office/powerpoint/2010/main" val="2397215251"/>
              </p:ext>
            </p:extLst>
          </p:nvPr>
        </p:nvGraphicFramePr>
        <p:xfrm>
          <a:off x="442912" y="2779302"/>
          <a:ext cx="10953398" cy="3486745"/>
        </p:xfrm>
        <a:graphic>
          <a:graphicData uri="http://schemas.openxmlformats.org/drawingml/2006/table">
            <a:tbl>
              <a:tblPr firstRow="1" firstCol="1" bandRow="1">
                <a:tableStyleId>{5C22544A-7EE6-4342-B048-85BDC9FD1C3A}</a:tableStyleId>
              </a:tblPr>
              <a:tblGrid>
                <a:gridCol w="3023031">
                  <a:extLst>
                    <a:ext uri="{9D8B030D-6E8A-4147-A177-3AD203B41FA5}">
                      <a16:colId xmlns:a16="http://schemas.microsoft.com/office/drawing/2014/main" val="1950336017"/>
                    </a:ext>
                  </a:extLst>
                </a:gridCol>
                <a:gridCol w="1920971">
                  <a:extLst>
                    <a:ext uri="{9D8B030D-6E8A-4147-A177-3AD203B41FA5}">
                      <a16:colId xmlns:a16="http://schemas.microsoft.com/office/drawing/2014/main" val="4257137406"/>
                    </a:ext>
                  </a:extLst>
                </a:gridCol>
                <a:gridCol w="1918933">
                  <a:extLst>
                    <a:ext uri="{9D8B030D-6E8A-4147-A177-3AD203B41FA5}">
                      <a16:colId xmlns:a16="http://schemas.microsoft.com/office/drawing/2014/main" val="2843784408"/>
                    </a:ext>
                  </a:extLst>
                </a:gridCol>
                <a:gridCol w="1918933">
                  <a:extLst>
                    <a:ext uri="{9D8B030D-6E8A-4147-A177-3AD203B41FA5}">
                      <a16:colId xmlns:a16="http://schemas.microsoft.com/office/drawing/2014/main" val="3780710905"/>
                    </a:ext>
                  </a:extLst>
                </a:gridCol>
                <a:gridCol w="2171530">
                  <a:extLst>
                    <a:ext uri="{9D8B030D-6E8A-4147-A177-3AD203B41FA5}">
                      <a16:colId xmlns:a16="http://schemas.microsoft.com/office/drawing/2014/main" val="2090791663"/>
                    </a:ext>
                  </a:extLst>
                </a:gridCol>
              </a:tblGrid>
              <a:tr h="336182">
                <a:tc gridSpan="5">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SAIL Determination</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184420159"/>
                  </a:ext>
                </a:extLst>
              </a:tr>
              <a:tr h="336182">
                <a:tc>
                  <a:txBody>
                    <a:bodyPr/>
                    <a:lstStyle/>
                    <a:p>
                      <a:pPr algn="ctr">
                        <a:buNone/>
                      </a:pPr>
                      <a:r>
                        <a:rPr lang="zh-CN" sz="2000" kern="0" dirty="0">
                          <a:solidFill>
                            <a:schemeClr val="tx1"/>
                          </a:solidFill>
                          <a:effectLst/>
                          <a:latin typeface="Times New Roman" panose="02020603050405020304" pitchFamily="18" charset="0"/>
                          <a:cs typeface="Times New Roman" panose="02020603050405020304" pitchFamily="18" charset="0"/>
                        </a:rPr>
                        <a:t>　</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Residual ARC</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56987742"/>
                  </a:ext>
                </a:extLst>
              </a:tr>
              <a:tr h="336182">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Final GRC</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a</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b</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c</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d</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9516921"/>
                  </a:ext>
                </a:extLst>
              </a:tr>
              <a:tr h="461107">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≤2</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IV</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VI</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2602060"/>
                  </a:ext>
                </a:extLst>
              </a:tr>
              <a:tr h="336182">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3</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IV</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VI</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1083614"/>
                  </a:ext>
                </a:extLst>
              </a:tr>
              <a:tr h="336182">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4</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III</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III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IV</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VI</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85564341"/>
                  </a:ext>
                </a:extLst>
              </a:tr>
              <a:tr h="336182">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5</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IV</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IV</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IV</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VI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18927410"/>
                  </a:ext>
                </a:extLst>
              </a:tr>
              <a:tr h="336182">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6</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V</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V</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V</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VI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15968474"/>
                  </a:ext>
                </a:extLst>
              </a:tr>
              <a:tr h="336182">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7</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VI</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VI</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VI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VI</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08719256"/>
                  </a:ext>
                </a:extLst>
              </a:tr>
              <a:tr h="336182">
                <a:tc>
                  <a:txBody>
                    <a:bodyPr/>
                    <a:lstStyle/>
                    <a:p>
                      <a:pPr algn="ctr">
                        <a:buNone/>
                      </a:pPr>
                      <a:r>
                        <a:rPr lang="en-US" sz="2000" kern="0">
                          <a:solidFill>
                            <a:schemeClr val="tx1"/>
                          </a:solidFill>
                          <a:effectLst/>
                          <a:latin typeface="Times New Roman" panose="02020603050405020304" pitchFamily="18" charset="0"/>
                          <a:cs typeface="Times New Roman" panose="02020603050405020304" pitchFamily="18" charset="0"/>
                        </a:rPr>
                        <a:t>&gt;7</a:t>
                      </a:r>
                      <a:endParaRPr lang="zh-CN" sz="2000" kern="1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4">
                  <a:txBody>
                    <a:bodyPr/>
                    <a:lstStyle/>
                    <a:p>
                      <a:pPr algn="ctr">
                        <a:buNone/>
                      </a:pPr>
                      <a:r>
                        <a:rPr lang="en-US" sz="2000" kern="0" dirty="0">
                          <a:solidFill>
                            <a:schemeClr val="tx1"/>
                          </a:solidFill>
                          <a:effectLst/>
                          <a:latin typeface="Times New Roman" panose="02020603050405020304" pitchFamily="18" charset="0"/>
                          <a:cs typeface="Times New Roman" panose="02020603050405020304" pitchFamily="18" charset="0"/>
                        </a:rPr>
                        <a:t>Category C (Certified) operation</a:t>
                      </a:r>
                      <a:endParaRPr lang="zh-CN" sz="2000" kern="1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49884145"/>
                  </a:ext>
                </a:extLst>
              </a:tr>
            </a:tbl>
          </a:graphicData>
        </a:graphic>
      </p:graphicFrame>
      <p:sp>
        <p:nvSpPr>
          <p:cNvPr id="8" name="标题 1">
            <a:extLst>
              <a:ext uri="{FF2B5EF4-FFF2-40B4-BE49-F238E27FC236}">
                <a16:creationId xmlns:a16="http://schemas.microsoft.com/office/drawing/2014/main" id="{0D553C84-7E14-EFA7-C2A0-1AC5B43AA74C}"/>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5.1 SAIL Level Identification</a:t>
            </a:r>
            <a:endParaRPr lang="en-GB" altLang="zh-CN" dirty="0"/>
          </a:p>
        </p:txBody>
      </p:sp>
      <p:sp>
        <p:nvSpPr>
          <p:cNvPr id="9" name="文本框 8">
            <a:extLst>
              <a:ext uri="{FF2B5EF4-FFF2-40B4-BE49-F238E27FC236}">
                <a16:creationId xmlns:a16="http://schemas.microsoft.com/office/drawing/2014/main" id="{7E0DD87C-6F3A-D617-7402-B0E471D44922}"/>
              </a:ext>
            </a:extLst>
          </p:cNvPr>
          <p:cNvSpPr txBox="1"/>
          <p:nvPr/>
        </p:nvSpPr>
        <p:spPr>
          <a:xfrm>
            <a:off x="372798" y="982133"/>
            <a:ext cx="11819202" cy="1631216"/>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According to Table 7 of the SORA 2.5 framework, with a Final GRC of 1 and Residual ARC of b, the operation is classified as SAIL II. This low-risk category requires only basic robustness in organizational, technical, and operational areas. Operators must establish an SMF and SOPs, ensure personnel are properly qualified, and maintain verifiable safety records. No third-party assessment is required, but compliance must be demonstrable to authorities.</a:t>
            </a:r>
          </a:p>
        </p:txBody>
      </p:sp>
    </p:spTree>
    <p:extLst>
      <p:ext uri="{BB962C8B-B14F-4D97-AF65-F5344CB8AC3E}">
        <p14:creationId xmlns:p14="http://schemas.microsoft.com/office/powerpoint/2010/main" val="34233284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790E01BA-4047-AF39-03C7-F04A6439266C}"/>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5.2 Implications of SAIL II</a:t>
            </a:r>
            <a:endParaRPr lang="en-GB" altLang="zh-CN" dirty="0"/>
          </a:p>
        </p:txBody>
      </p:sp>
      <p:sp>
        <p:nvSpPr>
          <p:cNvPr id="7" name="文本框 6">
            <a:extLst>
              <a:ext uri="{FF2B5EF4-FFF2-40B4-BE49-F238E27FC236}">
                <a16:creationId xmlns:a16="http://schemas.microsoft.com/office/drawing/2014/main" id="{D1E286C8-C495-B75F-1D5E-BC281D53F035}"/>
              </a:ext>
            </a:extLst>
          </p:cNvPr>
          <p:cNvSpPr txBox="1"/>
          <p:nvPr/>
        </p:nvSpPr>
        <p:spPr>
          <a:xfrm>
            <a:off x="442913" y="1016000"/>
            <a:ext cx="10783887" cy="4708981"/>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(1) Organizational Level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Establish a basic Safety Management Framework (SMF) defining safety roles and risk control.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Appoint a Safety Focal Point to maintain the Risk Register and training records.</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(2) Technical Level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Ensure basic system redundancy, geofencing, and Return-to-Home (RTH) functions.</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Test critical safety features internally under expected operational conditions.</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(3) Operational Level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Develop mission-specific SOPs and conduct simple pre-flight risk assessments.</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Record and review anomalies; perform regular internal safety reviews.</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(4) Impact on OSO</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Meet Basic Robustness requirements; third-party certification not required.</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Demonstrate compliance through clear documentation and consistent implementation.</a:t>
            </a:r>
          </a:p>
        </p:txBody>
      </p:sp>
    </p:spTree>
    <p:extLst>
      <p:ext uri="{BB962C8B-B14F-4D97-AF65-F5344CB8AC3E}">
        <p14:creationId xmlns:p14="http://schemas.microsoft.com/office/powerpoint/2010/main" val="4055335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地图&#10;&#10;AI 生成的内容可能不正确。">
            <a:extLst>
              <a:ext uri="{FF2B5EF4-FFF2-40B4-BE49-F238E27FC236}">
                <a16:creationId xmlns:a16="http://schemas.microsoft.com/office/drawing/2014/main" id="{6906F849-62DE-BF32-EFF3-02464B7B7F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44488" y="914400"/>
            <a:ext cx="4063865" cy="5418862"/>
          </a:xfrm>
          <a:prstGeom prst="rect">
            <a:avLst/>
          </a:prstGeom>
        </p:spPr>
      </p:pic>
      <p:sp>
        <p:nvSpPr>
          <p:cNvPr id="7" name="标题 1">
            <a:extLst>
              <a:ext uri="{FF2B5EF4-FFF2-40B4-BE49-F238E27FC236}">
                <a16:creationId xmlns:a16="http://schemas.microsoft.com/office/drawing/2014/main" id="{E701FB76-8AB7-3162-7E59-F5FC9675FF78}"/>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5.3 Adjacent Area Assessment</a:t>
            </a:r>
            <a:endParaRPr lang="en-GB" altLang="zh-CN" dirty="0"/>
          </a:p>
        </p:txBody>
      </p:sp>
      <p:sp>
        <p:nvSpPr>
          <p:cNvPr id="8" name="文本框 7">
            <a:extLst>
              <a:ext uri="{FF2B5EF4-FFF2-40B4-BE49-F238E27FC236}">
                <a16:creationId xmlns:a16="http://schemas.microsoft.com/office/drawing/2014/main" id="{C46161A9-7164-603D-54A0-52C8447F6DE7}"/>
              </a:ext>
            </a:extLst>
          </p:cNvPr>
          <p:cNvSpPr txBox="1"/>
          <p:nvPr/>
        </p:nvSpPr>
        <p:spPr>
          <a:xfrm>
            <a:off x="383647" y="1016000"/>
            <a:ext cx="7146157" cy="4093428"/>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Adjacent Area Determination (SORA 2.5)</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Adjacent Area: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Region the drone can reach within 3 minutes after loss of control.</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For </a:t>
            </a:r>
            <a:r>
              <a:rPr lang="en-US" altLang="zh-CN" sz="2000" b="1" kern="0" dirty="0" err="1">
                <a:latin typeface="Times New Roman" panose="02020603050405020304" pitchFamily="18" charset="0"/>
                <a:ea typeface="宋体" panose="02010600030101010101" pitchFamily="2" charset="-122"/>
                <a:cs typeface="Times New Roman" panose="02020603050405020304" pitchFamily="18" charset="0"/>
              </a:rPr>
              <a:t>Antwork</a:t>
            </a: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 RA3 (max speed 50 km/h):</a:t>
            </a:r>
            <a:b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b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50 km/h × 0.05 h = 2.5 km → Radius ≈ 5 km</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Population Density (Hong Kong Route)</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Departure (Tseung Kwan O Hospital):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20,000–25,000 persons/km²</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Mid-route: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&lt;3,000 persons/km²</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Arrival (Sai Kung Pier):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~10,000 persons/km²</a:t>
            </a: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Weighted average: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~3,000 persons/km² → Low-to-medium density risk zone</a:t>
            </a:r>
          </a:p>
        </p:txBody>
      </p:sp>
      <p:sp>
        <p:nvSpPr>
          <p:cNvPr id="2" name="标题 1">
            <a:extLst>
              <a:ext uri="{FF2B5EF4-FFF2-40B4-BE49-F238E27FC236}">
                <a16:creationId xmlns:a16="http://schemas.microsoft.com/office/drawing/2014/main" id="{4C46F593-F44B-24EE-9AC4-8953B7B0DB93}"/>
              </a:ext>
            </a:extLst>
          </p:cNvPr>
          <p:cNvSpPr txBox="1">
            <a:spLocks/>
          </p:cNvSpPr>
          <p:nvPr/>
        </p:nvSpPr>
        <p:spPr>
          <a:xfrm>
            <a:off x="6654424" y="6280261"/>
            <a:ext cx="5156201" cy="577739"/>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algn="r"/>
            <a:r>
              <a:rPr lang="en-US" altLang="zh-CN" sz="1600" b="0" dirty="0">
                <a:solidFill>
                  <a:schemeClr val="tx1"/>
                </a:solidFill>
                <a:latin typeface="Times New Roman" panose="02020603050405020304" pitchFamily="18" charset="0"/>
                <a:cs typeface="Times New Roman" panose="02020603050405020304" pitchFamily="18" charset="0"/>
              </a:rPr>
              <a:t>Schematic diagram of flight routes and adjacent areas</a:t>
            </a:r>
          </a:p>
          <a:p>
            <a:pPr algn="r"/>
            <a:r>
              <a:rPr lang="en-US" altLang="zh-CN" sz="1600" b="0" dirty="0">
                <a:solidFill>
                  <a:schemeClr val="tx1"/>
                </a:solidFill>
                <a:cs typeface="Times New Roman" panose="02020603050405020304" pitchFamily="18" charset="0"/>
              </a:rPr>
              <a:t>Source: https://www.google.com/maps</a:t>
            </a:r>
            <a:endParaRPr lang="en-GB" altLang="zh-CN" sz="1600" b="0" dirty="0">
              <a:solidFill>
                <a:schemeClr val="tx1"/>
              </a:solidFill>
            </a:endParaRPr>
          </a:p>
        </p:txBody>
      </p:sp>
    </p:spTree>
    <p:extLst>
      <p:ext uri="{BB962C8B-B14F-4D97-AF65-F5344CB8AC3E}">
        <p14:creationId xmlns:p14="http://schemas.microsoft.com/office/powerpoint/2010/main" val="26481575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7F26A388-8513-DE82-B40B-7637C7017132}"/>
              </a:ext>
            </a:extLst>
          </p:cNvPr>
          <p:cNvGraphicFramePr>
            <a:graphicFrameLocks noGrp="1"/>
          </p:cNvGraphicFramePr>
          <p:nvPr>
            <p:extLst>
              <p:ext uri="{D42A27DB-BD31-4B8C-83A1-F6EECF244321}">
                <p14:modId xmlns:p14="http://schemas.microsoft.com/office/powerpoint/2010/main" val="3810952761"/>
              </p:ext>
            </p:extLst>
          </p:nvPr>
        </p:nvGraphicFramePr>
        <p:xfrm>
          <a:off x="442913" y="2319692"/>
          <a:ext cx="10927821" cy="2861907"/>
        </p:xfrm>
        <a:graphic>
          <a:graphicData uri="http://schemas.openxmlformats.org/drawingml/2006/table">
            <a:tbl>
              <a:tblPr firstRow="1" firstCol="1" bandRow="1">
                <a:tableStyleId>{5C22544A-7EE6-4342-B048-85BDC9FD1C3A}</a:tableStyleId>
              </a:tblPr>
              <a:tblGrid>
                <a:gridCol w="2588154">
                  <a:extLst>
                    <a:ext uri="{9D8B030D-6E8A-4147-A177-3AD203B41FA5}">
                      <a16:colId xmlns:a16="http://schemas.microsoft.com/office/drawing/2014/main" val="3893254344"/>
                    </a:ext>
                  </a:extLst>
                </a:gridCol>
                <a:gridCol w="4697060">
                  <a:extLst>
                    <a:ext uri="{9D8B030D-6E8A-4147-A177-3AD203B41FA5}">
                      <a16:colId xmlns:a16="http://schemas.microsoft.com/office/drawing/2014/main" val="2392843746"/>
                    </a:ext>
                  </a:extLst>
                </a:gridCol>
                <a:gridCol w="3642607">
                  <a:extLst>
                    <a:ext uri="{9D8B030D-6E8A-4147-A177-3AD203B41FA5}">
                      <a16:colId xmlns:a16="http://schemas.microsoft.com/office/drawing/2014/main" val="3905586249"/>
                    </a:ext>
                  </a:extLst>
                </a:gridCol>
              </a:tblGrid>
              <a:tr h="317990">
                <a:tc>
                  <a:txBody>
                    <a:bodyPr/>
                    <a:lstStyle/>
                    <a:p>
                      <a:pPr algn="ctr">
                        <a:buNone/>
                      </a:pPr>
                      <a:r>
                        <a:rPr lang="en-US" sz="1800" kern="100" dirty="0">
                          <a:effectLst/>
                        </a:rPr>
                        <a:t>Containment Type</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800" kern="100" dirty="0">
                          <a:effectLst/>
                        </a:rPr>
                        <a:t>Robust Level</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800" kern="100" dirty="0">
                          <a:effectLst/>
                        </a:rPr>
                        <a:t>Primary Measures</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extLst>
                  <a:ext uri="{0D108BD9-81ED-4DB2-BD59-A6C34878D82A}">
                    <a16:rowId xmlns:a16="http://schemas.microsoft.com/office/drawing/2014/main" val="3950518197"/>
                  </a:ext>
                </a:extLst>
              </a:tr>
              <a:tr h="953969">
                <a:tc>
                  <a:txBody>
                    <a:bodyPr/>
                    <a:lstStyle/>
                    <a:p>
                      <a:pPr algn="ctr">
                        <a:buNone/>
                      </a:pPr>
                      <a:r>
                        <a:rPr lang="en-US" sz="1800" kern="100" dirty="0">
                          <a:effectLst/>
                        </a:rPr>
                        <a:t>Technical Containment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800" kern="100" dirty="0">
                          <a:effectLst/>
                        </a:rPr>
                        <a:t>Low (Basic Robustness)</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1800" kern="100">
                          <a:effectLst/>
                        </a:rPr>
                        <a:t>Geofencing, Single-Link Communication, RTH, Visual Line-of-Sight Backup</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6943780"/>
                  </a:ext>
                </a:extLst>
              </a:tr>
              <a:tr h="1589948">
                <a:tc>
                  <a:txBody>
                    <a:bodyPr/>
                    <a:lstStyle/>
                    <a:p>
                      <a:pPr algn="ctr">
                        <a:buNone/>
                      </a:pPr>
                      <a:r>
                        <a:rPr lang="en-US" sz="1800" kern="100" dirty="0">
                          <a:effectLst/>
                        </a:rPr>
                        <a:t>Operational Containment</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800" kern="100" dirty="0">
                          <a:effectLst/>
                        </a:rPr>
                        <a:t>Low (Basic Robustness)</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buNone/>
                      </a:pPr>
                      <a:r>
                        <a:rPr lang="en-US" sz="1800" kern="100" dirty="0">
                          <a:effectLst/>
                        </a:rPr>
                        <a:t>Standard operating procedures (SOPs), pre- Pre-Flight Risk Assessment, Post-Flight Data Review and Logging, Weather Constraints</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3201349"/>
                  </a:ext>
                </a:extLst>
              </a:tr>
            </a:tbl>
          </a:graphicData>
        </a:graphic>
      </p:graphicFrame>
      <p:sp>
        <p:nvSpPr>
          <p:cNvPr id="7" name="标题 1">
            <a:extLst>
              <a:ext uri="{FF2B5EF4-FFF2-40B4-BE49-F238E27FC236}">
                <a16:creationId xmlns:a16="http://schemas.microsoft.com/office/drawing/2014/main" id="{88F9A5B4-B39F-F37E-A9F2-BF70D5EC4633}"/>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5.4 Containment Robustness Level</a:t>
            </a:r>
            <a:endParaRPr lang="en-GB" altLang="zh-CN" dirty="0"/>
          </a:p>
        </p:txBody>
      </p:sp>
      <p:sp>
        <p:nvSpPr>
          <p:cNvPr id="8" name="文本框 7">
            <a:extLst>
              <a:ext uri="{FF2B5EF4-FFF2-40B4-BE49-F238E27FC236}">
                <a16:creationId xmlns:a16="http://schemas.microsoft.com/office/drawing/2014/main" id="{DCC7EF7F-B8CF-3252-981A-026D31D9B1C4}"/>
              </a:ext>
            </a:extLst>
          </p:cNvPr>
          <p:cNvSpPr txBox="1"/>
          <p:nvPr/>
        </p:nvSpPr>
        <p:spPr>
          <a:xfrm>
            <a:off x="372798" y="982133"/>
            <a:ext cx="11819202" cy="707886"/>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According to Tables 8–13 of SORA 2.5, and in alignment with the requirements of SAIL II, the containment requirement of the route is low.</a:t>
            </a:r>
          </a:p>
        </p:txBody>
      </p:sp>
    </p:spTree>
    <p:extLst>
      <p:ext uri="{BB962C8B-B14F-4D97-AF65-F5344CB8AC3E}">
        <p14:creationId xmlns:p14="http://schemas.microsoft.com/office/powerpoint/2010/main" val="39023285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19A3A-6509-FDA3-E73E-AAEA02FF2F80}"/>
            </a:ext>
          </a:extLst>
        </p:cNvPr>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C0B1005E-E4E8-3767-6E90-DE7BC905A3EC}"/>
              </a:ext>
            </a:extLst>
          </p:cNvPr>
          <p:cNvGraphicFramePr>
            <a:graphicFrameLocks noGrp="1"/>
          </p:cNvGraphicFramePr>
          <p:nvPr>
            <p:ph idx="4294967295"/>
            <p:extLst>
              <p:ext uri="{D42A27DB-BD31-4B8C-83A1-F6EECF244321}">
                <p14:modId xmlns:p14="http://schemas.microsoft.com/office/powerpoint/2010/main" val="4252157053"/>
              </p:ext>
            </p:extLst>
          </p:nvPr>
        </p:nvGraphicFramePr>
        <p:xfrm>
          <a:off x="475861" y="1008027"/>
          <a:ext cx="10758196" cy="5326120"/>
        </p:xfrm>
        <a:graphic>
          <a:graphicData uri="http://schemas.openxmlformats.org/drawingml/2006/table">
            <a:tbl>
              <a:tblPr firstRow="1" firstCol="1" bandRow="1">
                <a:tableStyleId>{5C22544A-7EE6-4342-B048-85BDC9FD1C3A}</a:tableStyleId>
              </a:tblPr>
              <a:tblGrid>
                <a:gridCol w="2748602">
                  <a:extLst>
                    <a:ext uri="{9D8B030D-6E8A-4147-A177-3AD203B41FA5}">
                      <a16:colId xmlns:a16="http://schemas.microsoft.com/office/drawing/2014/main" val="2233005825"/>
                    </a:ext>
                  </a:extLst>
                </a:gridCol>
                <a:gridCol w="8009594">
                  <a:extLst>
                    <a:ext uri="{9D8B030D-6E8A-4147-A177-3AD203B41FA5}">
                      <a16:colId xmlns:a16="http://schemas.microsoft.com/office/drawing/2014/main" val="3117964653"/>
                    </a:ext>
                  </a:extLst>
                </a:gridCol>
              </a:tblGrid>
              <a:tr h="198526">
                <a:tc>
                  <a:txBody>
                    <a:bodyPr/>
                    <a:lstStyle/>
                    <a:p>
                      <a:pPr algn="ctr">
                        <a:buNone/>
                      </a:pPr>
                      <a:r>
                        <a:rPr lang="en-US" sz="1600" kern="0" dirty="0">
                          <a:effectLst/>
                          <a:latin typeface="Times New Roman" panose="02020603050405020304" pitchFamily="18" charset="0"/>
                          <a:cs typeface="Times New Roman" panose="02020603050405020304" pitchFamily="18" charset="0"/>
                        </a:rPr>
                        <a:t>Safety Measure</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Description</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extLst>
                  <a:ext uri="{0D108BD9-81ED-4DB2-BD59-A6C34878D82A}">
                    <a16:rowId xmlns:a16="http://schemas.microsoft.com/office/drawing/2014/main" val="1777712442"/>
                  </a:ext>
                </a:extLst>
              </a:tr>
              <a:tr h="1270570">
                <a:tc>
                  <a:txBody>
                    <a:bodyPr/>
                    <a:lstStyle/>
                    <a:p>
                      <a:pPr algn="ctr">
                        <a:buNone/>
                      </a:pPr>
                      <a:r>
                        <a:rPr lang="en-US" sz="1600" kern="0" dirty="0">
                          <a:effectLst/>
                          <a:latin typeface="Times New Roman" panose="02020603050405020304" pitchFamily="18" charset="0"/>
                          <a:cs typeface="Times New Roman" panose="02020603050405020304" pitchFamily="18" charset="0"/>
                        </a:rPr>
                        <a:t>GNSS Geofencing</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a:effectLst/>
                          <a:latin typeface="Times New Roman" panose="02020603050405020304" pitchFamily="18" charset="0"/>
                          <a:cs typeface="Times New Roman" panose="02020603050405020304" pitchFamily="18" charset="0"/>
                        </a:rPr>
                        <a:t>Establishes a 50 m horizontal geofence corridor along the mission route using GNSS. If the aircraft approaches or crosses the boundary, the ground control station triggers sound and light alarms. If deviation continues, the system automatically executes the Return-to-Home (RTH) procedure to maintain control.</a:t>
                      </a:r>
                      <a:endParaRPr lang="zh-CN" sz="16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9846115"/>
                  </a:ext>
                </a:extLst>
              </a:tr>
              <a:tr h="907550">
                <a:tc>
                  <a:txBody>
                    <a:bodyPr/>
                    <a:lstStyle/>
                    <a:p>
                      <a:pPr algn="ctr">
                        <a:buNone/>
                      </a:pPr>
                      <a:r>
                        <a:rPr lang="en-US" sz="1600" kern="0" dirty="0">
                          <a:effectLst/>
                          <a:latin typeface="Times New Roman" panose="02020603050405020304" pitchFamily="18" charset="0"/>
                          <a:cs typeface="Times New Roman" panose="02020603050405020304" pitchFamily="18" charset="0"/>
                        </a:rPr>
                        <a:t>Single Link Communication with Health Monitoring</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Uses a single-frequency control link (2.4G / 5.8G) with real-time signal strength monitoring. When signal attenuation or interruption is detected, the system automatically executes hover or RTH procedures to maintain safe control.</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3984622"/>
                  </a:ext>
                </a:extLst>
              </a:tr>
              <a:tr h="907550">
                <a:tc>
                  <a:txBody>
                    <a:bodyPr/>
                    <a:lstStyle/>
                    <a:p>
                      <a:pPr algn="ctr">
                        <a:buNone/>
                      </a:pPr>
                      <a:r>
                        <a:rPr lang="en-US" sz="1600" kern="0" dirty="0">
                          <a:effectLst/>
                          <a:latin typeface="Times New Roman" panose="02020603050405020304" pitchFamily="18" charset="0"/>
                          <a:cs typeface="Times New Roman" panose="02020603050405020304" pitchFamily="18" charset="0"/>
                        </a:rPr>
                        <a:t>Automatic RTH and Emergency Landing</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In case of communication loss, low battery, or navigation anomaly, the aircraft automatically performs RTH or emergency landing. Landing points are prioritized in low-risk areas (e.g., parking lots, beaches, sports fields).</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4769141"/>
                  </a:ext>
                </a:extLst>
              </a:tr>
              <a:tr h="1089060">
                <a:tc>
                  <a:txBody>
                    <a:bodyPr/>
                    <a:lstStyle/>
                    <a:p>
                      <a:pPr algn="ctr">
                        <a:buNone/>
                      </a:pPr>
                      <a:r>
                        <a:rPr lang="en-US" sz="1600" kern="0">
                          <a:effectLst/>
                          <a:latin typeface="Times New Roman" panose="02020603050405020304" pitchFamily="18" charset="0"/>
                          <a:cs typeface="Times New Roman" panose="02020603050405020304" pitchFamily="18" charset="0"/>
                        </a:rPr>
                        <a:t>Basic Health Monitoring</a:t>
                      </a:r>
                      <a:endParaRPr lang="zh-CN" sz="16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The flight control system continuously monitors key parameters (battery level, GPS signal, communication link). Upon detecting abnormal values, the ground control station issues an immediate alarm, allowing the operator to take timely corrective actions.</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91621658"/>
                  </a:ext>
                </a:extLst>
              </a:tr>
              <a:tr h="907550">
                <a:tc>
                  <a:txBody>
                    <a:bodyPr/>
                    <a:lstStyle/>
                    <a:p>
                      <a:pPr algn="ctr">
                        <a:buNone/>
                      </a:pPr>
                      <a:r>
                        <a:rPr lang="en-US" sz="1600" kern="0" dirty="0">
                          <a:effectLst/>
                          <a:latin typeface="Times New Roman" panose="02020603050405020304" pitchFamily="18" charset="0"/>
                          <a:cs typeface="Times New Roman" panose="02020603050405020304" pitchFamily="18" charset="0"/>
                        </a:rPr>
                        <a:t>Visual Line of Sight Backup</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A Visual Observer (VO) assists in monitoring the operational environment and detecting potential hazards around the flight path, especially during takeoff and landing, providing additional safety assurance.</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086" marR="5608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2690928"/>
                  </a:ext>
                </a:extLst>
              </a:tr>
            </a:tbl>
          </a:graphicData>
        </a:graphic>
      </p:graphicFrame>
      <p:sp>
        <p:nvSpPr>
          <p:cNvPr id="6" name="标题 1">
            <a:extLst>
              <a:ext uri="{FF2B5EF4-FFF2-40B4-BE49-F238E27FC236}">
                <a16:creationId xmlns:a16="http://schemas.microsoft.com/office/drawing/2014/main" id="{11E8A0B4-A6B9-EAA8-2C3A-F72C1CE0A344}"/>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5.5 Technical Measures</a:t>
            </a:r>
            <a:endParaRPr lang="en-GB" altLang="zh-CN" dirty="0"/>
          </a:p>
        </p:txBody>
      </p:sp>
    </p:spTree>
    <p:extLst>
      <p:ext uri="{BB962C8B-B14F-4D97-AF65-F5344CB8AC3E}">
        <p14:creationId xmlns:p14="http://schemas.microsoft.com/office/powerpoint/2010/main" val="28605990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26EB9-423A-3DB8-1EC1-6701E84A9FD9}"/>
            </a:ext>
          </a:extLst>
        </p:cNvPr>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D746007D-CF6E-9469-3704-FF0CED419349}"/>
              </a:ext>
            </a:extLst>
          </p:cNvPr>
          <p:cNvGraphicFramePr>
            <a:graphicFrameLocks noGrp="1"/>
          </p:cNvGraphicFramePr>
          <p:nvPr>
            <p:ph idx="4294967295"/>
            <p:extLst>
              <p:ext uri="{D42A27DB-BD31-4B8C-83A1-F6EECF244321}">
                <p14:modId xmlns:p14="http://schemas.microsoft.com/office/powerpoint/2010/main" val="1080146025"/>
              </p:ext>
            </p:extLst>
          </p:nvPr>
        </p:nvGraphicFramePr>
        <p:xfrm>
          <a:off x="485192" y="945459"/>
          <a:ext cx="10767526" cy="5609346"/>
        </p:xfrm>
        <a:graphic>
          <a:graphicData uri="http://schemas.openxmlformats.org/drawingml/2006/table">
            <a:tbl>
              <a:tblPr firstRow="1" firstCol="1" bandRow="1">
                <a:tableStyleId>{5C22544A-7EE6-4342-B048-85BDC9FD1C3A}</a:tableStyleId>
              </a:tblPr>
              <a:tblGrid>
                <a:gridCol w="2450513">
                  <a:extLst>
                    <a:ext uri="{9D8B030D-6E8A-4147-A177-3AD203B41FA5}">
                      <a16:colId xmlns:a16="http://schemas.microsoft.com/office/drawing/2014/main" val="3860964233"/>
                    </a:ext>
                  </a:extLst>
                </a:gridCol>
                <a:gridCol w="8317013">
                  <a:extLst>
                    <a:ext uri="{9D8B030D-6E8A-4147-A177-3AD203B41FA5}">
                      <a16:colId xmlns:a16="http://schemas.microsoft.com/office/drawing/2014/main" val="4292806202"/>
                    </a:ext>
                  </a:extLst>
                </a:gridCol>
              </a:tblGrid>
              <a:tr h="686604">
                <a:tc>
                  <a:txBody>
                    <a:bodyPr/>
                    <a:lstStyle/>
                    <a:p>
                      <a:pPr algn="ctr">
                        <a:buNone/>
                      </a:pPr>
                      <a:r>
                        <a:rPr lang="en-US" sz="1600" kern="0" dirty="0">
                          <a:effectLst/>
                          <a:latin typeface="Times New Roman" panose="02020603050405020304" pitchFamily="18" charset="0"/>
                          <a:cs typeface="Times New Roman" panose="02020603050405020304" pitchFamily="18" charset="0"/>
                        </a:rPr>
                        <a:t>Operational Measure</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Description</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extLst>
                  <a:ext uri="{0D108BD9-81ED-4DB2-BD59-A6C34878D82A}">
                    <a16:rowId xmlns:a16="http://schemas.microsoft.com/office/drawing/2014/main" val="2538246244"/>
                  </a:ext>
                </a:extLst>
              </a:tr>
              <a:tr h="1089758">
                <a:tc>
                  <a:txBody>
                    <a:bodyPr/>
                    <a:lstStyle/>
                    <a:p>
                      <a:pPr algn="ctr">
                        <a:buNone/>
                      </a:pPr>
                      <a:r>
                        <a:rPr lang="en-US" sz="1600" kern="0" dirty="0">
                          <a:effectLst/>
                          <a:latin typeface="Times New Roman" panose="02020603050405020304" pitchFamily="18" charset="0"/>
                          <a:cs typeface="Times New Roman" panose="02020603050405020304" pitchFamily="18" charset="0"/>
                        </a:rPr>
                        <a:t>SOPs and Mission Planning</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All missions follow established Standard Operating Procedures (SOPs), covering mission planning, takeoff/landing sequences, emergency actions, and post-flight reviews. Routes must be selected within low-risk corridors (e.g., coastal or sparsely populated areas) to minimize third-party exposure.</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09359749"/>
                  </a:ext>
                </a:extLst>
              </a:tr>
              <a:tr h="908131">
                <a:tc>
                  <a:txBody>
                    <a:bodyPr/>
                    <a:lstStyle/>
                    <a:p>
                      <a:pPr algn="ctr">
                        <a:buNone/>
                      </a:pPr>
                      <a:r>
                        <a:rPr lang="en-US" sz="1600" kern="0">
                          <a:effectLst/>
                          <a:latin typeface="Times New Roman" panose="02020603050405020304" pitchFamily="18" charset="0"/>
                          <a:cs typeface="Times New Roman" panose="02020603050405020304" pitchFamily="18" charset="0"/>
                        </a:rPr>
                        <a:t>Pre-Flight Risk Assessment</a:t>
                      </a:r>
                      <a:endParaRPr lang="zh-CN" sz="16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Before each mission, a simple risk assessment must evaluate weather conditions, airspace status, equipment readiness, and population distribution along the route. If potential risks are identified, operational constraints or modified procedures must be applied.</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549828"/>
                  </a:ext>
                </a:extLst>
              </a:tr>
              <a:tr h="830291">
                <a:tc>
                  <a:txBody>
                    <a:bodyPr/>
                    <a:lstStyle/>
                    <a:p>
                      <a:pPr algn="ctr">
                        <a:buNone/>
                      </a:pPr>
                      <a:r>
                        <a:rPr lang="en-US" sz="1600" kern="0">
                          <a:effectLst/>
                          <a:latin typeface="Times New Roman" panose="02020603050405020304" pitchFamily="18" charset="0"/>
                          <a:cs typeface="Times New Roman" panose="02020603050405020304" pitchFamily="18" charset="0"/>
                        </a:rPr>
                        <a:t>Weather and Environmental Constraints</a:t>
                      </a:r>
                      <a:endParaRPr lang="zh-CN" sz="16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Operations are limited to weather conditions with wind speeds </a:t>
                      </a:r>
                      <a:r>
                        <a:rPr lang="zh-CN" sz="1600" kern="0" dirty="0">
                          <a:effectLst/>
                          <a:latin typeface="Times New Roman" panose="02020603050405020304" pitchFamily="18" charset="0"/>
                          <a:cs typeface="Times New Roman" panose="02020603050405020304" pitchFamily="18" charset="0"/>
                        </a:rPr>
                        <a:t>≤</a:t>
                      </a:r>
                      <a:r>
                        <a:rPr lang="en-US" sz="1600" kern="0" dirty="0">
                          <a:effectLst/>
                          <a:latin typeface="Times New Roman" panose="02020603050405020304" pitchFamily="18" charset="0"/>
                          <a:cs typeface="Times New Roman" panose="02020603050405020304" pitchFamily="18" charset="0"/>
                        </a:rPr>
                        <a:t>10 m/s and visibility </a:t>
                      </a:r>
                      <a:r>
                        <a:rPr lang="zh-CN" sz="1600" kern="0" dirty="0">
                          <a:effectLst/>
                          <a:latin typeface="Times New Roman" panose="02020603050405020304" pitchFamily="18" charset="0"/>
                          <a:cs typeface="Times New Roman" panose="02020603050405020304" pitchFamily="18" charset="0"/>
                        </a:rPr>
                        <a:t>≥</a:t>
                      </a:r>
                      <a:r>
                        <a:rPr lang="en-US" sz="1600" kern="0" dirty="0">
                          <a:effectLst/>
                          <a:latin typeface="Times New Roman" panose="02020603050405020304" pitchFamily="18" charset="0"/>
                          <a:cs typeface="Times New Roman" panose="02020603050405020304" pitchFamily="18" charset="0"/>
                        </a:rPr>
                        <a:t>3 km. Flights must be suspended during rain, strong gusts, or poor visibility to prevent navigation and control degradation.</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14115568"/>
                  </a:ext>
                </a:extLst>
              </a:tr>
              <a:tr h="908131">
                <a:tc>
                  <a:txBody>
                    <a:bodyPr/>
                    <a:lstStyle/>
                    <a:p>
                      <a:pPr algn="ctr">
                        <a:buNone/>
                      </a:pPr>
                      <a:r>
                        <a:rPr lang="en-US" sz="1600" kern="0">
                          <a:effectLst/>
                          <a:latin typeface="Times New Roman" panose="02020603050405020304" pitchFamily="18" charset="0"/>
                          <a:cs typeface="Times New Roman" panose="02020603050405020304" pitchFamily="18" charset="0"/>
                        </a:rPr>
                        <a:t>Personnel Competence and VO Support</a:t>
                      </a:r>
                      <a:endParaRPr lang="zh-CN" sz="16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Pilots and Visual Observers (VOs) must receive internal training on communication loss, emergency landing, and RTH procedures. VOs must continuously monitor airspace during flight, providing additional safety assurance for BVLOS operations.</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2025592"/>
                  </a:ext>
                </a:extLst>
              </a:tr>
              <a:tr h="1186431">
                <a:tc>
                  <a:txBody>
                    <a:bodyPr/>
                    <a:lstStyle/>
                    <a:p>
                      <a:pPr algn="ctr">
                        <a:buNone/>
                      </a:pPr>
                      <a:r>
                        <a:rPr lang="en-US" sz="1600" kern="0" dirty="0">
                          <a:effectLst/>
                          <a:latin typeface="Times New Roman" panose="02020603050405020304" pitchFamily="18" charset="0"/>
                          <a:cs typeface="Times New Roman" panose="02020603050405020304" pitchFamily="18" charset="0"/>
                        </a:rPr>
                        <a:t>Post-Flight Data Review and Logging</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latin typeface="Times New Roman" panose="02020603050405020304" pitchFamily="18" charset="0"/>
                          <a:cs typeface="Times New Roman" panose="02020603050405020304" pitchFamily="18" charset="0"/>
                        </a:rPr>
                        <a:t>After each mission, flight logs, telemetry data, and anomaly reports must be reviewed to ensure safety and performance. All related records must be stored for a minimum of 30 days for internal safety review and traceability.</a:t>
                      </a:r>
                      <a:endParaRPr lang="zh-CN" sz="16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6146" marR="5614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4074029"/>
                  </a:ext>
                </a:extLst>
              </a:tr>
            </a:tbl>
          </a:graphicData>
        </a:graphic>
      </p:graphicFrame>
      <p:sp>
        <p:nvSpPr>
          <p:cNvPr id="6" name="标题 1">
            <a:extLst>
              <a:ext uri="{FF2B5EF4-FFF2-40B4-BE49-F238E27FC236}">
                <a16:creationId xmlns:a16="http://schemas.microsoft.com/office/drawing/2014/main" id="{42C4982D-7DE1-B355-3733-486F2D36FEFE}"/>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5.6 Operational Measures</a:t>
            </a:r>
            <a:endParaRPr lang="en-GB" altLang="zh-CN" dirty="0"/>
          </a:p>
        </p:txBody>
      </p:sp>
    </p:spTree>
    <p:extLst>
      <p:ext uri="{BB962C8B-B14F-4D97-AF65-F5344CB8AC3E}">
        <p14:creationId xmlns:p14="http://schemas.microsoft.com/office/powerpoint/2010/main" val="2243872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C18C2-AA26-B1CA-7BC5-712723035AF6}"/>
            </a:ext>
          </a:extLst>
        </p:cNvPr>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BAE7C0D8-D22D-6021-9145-2858F2F7A76C}"/>
              </a:ext>
            </a:extLst>
          </p:cNvPr>
          <p:cNvGraphicFramePr>
            <a:graphicFrameLocks noGrp="1"/>
          </p:cNvGraphicFramePr>
          <p:nvPr>
            <p:ph idx="4294967295"/>
            <p:extLst>
              <p:ext uri="{D42A27DB-BD31-4B8C-83A1-F6EECF244321}">
                <p14:modId xmlns:p14="http://schemas.microsoft.com/office/powerpoint/2010/main" val="4043118880"/>
              </p:ext>
            </p:extLst>
          </p:nvPr>
        </p:nvGraphicFramePr>
        <p:xfrm>
          <a:off x="503853" y="1066006"/>
          <a:ext cx="10683551" cy="4880280"/>
        </p:xfrm>
        <a:graphic>
          <a:graphicData uri="http://schemas.openxmlformats.org/drawingml/2006/table">
            <a:tbl>
              <a:tblPr firstRow="1" firstCol="1" bandRow="1">
                <a:tableStyleId>{5C22544A-7EE6-4342-B048-85BDC9FD1C3A}</a:tableStyleId>
              </a:tblPr>
              <a:tblGrid>
                <a:gridCol w="2855364">
                  <a:extLst>
                    <a:ext uri="{9D8B030D-6E8A-4147-A177-3AD203B41FA5}">
                      <a16:colId xmlns:a16="http://schemas.microsoft.com/office/drawing/2014/main" val="1355654910"/>
                    </a:ext>
                  </a:extLst>
                </a:gridCol>
                <a:gridCol w="7828187">
                  <a:extLst>
                    <a:ext uri="{9D8B030D-6E8A-4147-A177-3AD203B41FA5}">
                      <a16:colId xmlns:a16="http://schemas.microsoft.com/office/drawing/2014/main" val="3354103152"/>
                    </a:ext>
                  </a:extLst>
                </a:gridCol>
              </a:tblGrid>
              <a:tr h="231822">
                <a:tc>
                  <a:txBody>
                    <a:bodyPr/>
                    <a:lstStyle/>
                    <a:p>
                      <a:pPr algn="ctr">
                        <a:buNone/>
                      </a:pPr>
                      <a:r>
                        <a:rPr lang="en-US" sz="1600" kern="0" dirty="0">
                          <a:effectLst/>
                        </a:rPr>
                        <a:t>Restriction Type</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a:effectLst/>
                        </a:rPr>
                        <a:t>Description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extLst>
                  <a:ext uri="{0D108BD9-81ED-4DB2-BD59-A6C34878D82A}">
                    <a16:rowId xmlns:a16="http://schemas.microsoft.com/office/drawing/2014/main" val="2026375952"/>
                  </a:ext>
                </a:extLst>
              </a:tr>
              <a:tr h="1390932">
                <a:tc>
                  <a:txBody>
                    <a:bodyPr/>
                    <a:lstStyle/>
                    <a:p>
                      <a:pPr algn="ctr">
                        <a:buNone/>
                      </a:pPr>
                      <a:r>
                        <a:rPr lang="en-US" sz="1600" kern="0" dirty="0">
                          <a:effectLst/>
                        </a:rPr>
                        <a:t>Population Density Restriction</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rPr>
                        <a:t>BVLOS operations must be suspended if a continuous high-density area (</a:t>
                      </a:r>
                      <a:r>
                        <a:rPr lang="zh-CN" sz="1600" kern="0" dirty="0">
                          <a:effectLst/>
                        </a:rPr>
                        <a:t>≥</a:t>
                      </a:r>
                      <a:r>
                        <a:rPr lang="en-US" sz="1600" kern="0" dirty="0">
                          <a:effectLst/>
                        </a:rPr>
                        <a:t>10,000 persons/km²) exists within the 3.6 km Adjacent Area and cannot be safely avoided.</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5322294"/>
                  </a:ext>
                </a:extLst>
              </a:tr>
              <a:tr h="1159110">
                <a:tc>
                  <a:txBody>
                    <a:bodyPr/>
                    <a:lstStyle/>
                    <a:p>
                      <a:pPr algn="ctr">
                        <a:buNone/>
                      </a:pPr>
                      <a:r>
                        <a:rPr lang="en-US" sz="1600" kern="0" dirty="0">
                          <a:effectLst/>
                        </a:rPr>
                        <a:t>Public Gathering Restriction</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rPr>
                        <a:t>If large-scale public events (e.g., festivals, concerts, marathons) occur and containment margins are insufficient, the mission must be rerouted or postponed.</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481537"/>
                  </a:ext>
                </a:extLst>
              </a:tr>
              <a:tr h="927288">
                <a:tc>
                  <a:txBody>
                    <a:bodyPr/>
                    <a:lstStyle/>
                    <a:p>
                      <a:pPr algn="ctr">
                        <a:buNone/>
                      </a:pPr>
                      <a:r>
                        <a:rPr lang="en-US" sz="1600" kern="0" dirty="0">
                          <a:effectLst/>
                        </a:rPr>
                        <a:t>Airspace and Meteorological Restriction</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rPr>
                        <a:t>Operations must be immediately suspended during typhoons, thunderstorms, low visibility conditions, or when government flight restriction directives are issued.</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5889069"/>
                  </a:ext>
                </a:extLst>
              </a:tr>
              <a:tr h="1159110">
                <a:tc>
                  <a:txBody>
                    <a:bodyPr/>
                    <a:lstStyle/>
                    <a:p>
                      <a:pPr algn="ctr">
                        <a:buNone/>
                      </a:pPr>
                      <a:r>
                        <a:rPr lang="en-US" sz="1600" kern="0">
                          <a:effectLst/>
                        </a:rPr>
                        <a:t>Night Operation Restriction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B9DC6"/>
                    </a:solidFill>
                  </a:tcPr>
                </a:tc>
                <a:tc>
                  <a:txBody>
                    <a:bodyPr/>
                    <a:lstStyle/>
                    <a:p>
                      <a:pPr algn="ctr">
                        <a:buNone/>
                      </a:pPr>
                      <a:r>
                        <a:rPr lang="en-US" sz="1600" kern="0" dirty="0">
                          <a:effectLst/>
                        </a:rPr>
                        <a:t>Night operations are permitted only if adequate lighting and visual conditions are available. Ground observers must maintain continuous visual confirmation of the aircraft.</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65114476"/>
                  </a:ext>
                </a:extLst>
              </a:tr>
            </a:tbl>
          </a:graphicData>
        </a:graphic>
      </p:graphicFrame>
      <p:sp>
        <p:nvSpPr>
          <p:cNvPr id="6" name="标题 1">
            <a:extLst>
              <a:ext uri="{FF2B5EF4-FFF2-40B4-BE49-F238E27FC236}">
                <a16:creationId xmlns:a16="http://schemas.microsoft.com/office/drawing/2014/main" id="{F1CA7D7A-9EC0-7A72-3957-6FB2CA486F2C}"/>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5.7 Operational Limitations</a:t>
            </a:r>
            <a:endParaRPr lang="en-GB" altLang="zh-CN" dirty="0"/>
          </a:p>
        </p:txBody>
      </p:sp>
    </p:spTree>
    <p:extLst>
      <p:ext uri="{BB962C8B-B14F-4D97-AF65-F5344CB8AC3E}">
        <p14:creationId xmlns:p14="http://schemas.microsoft.com/office/powerpoint/2010/main" val="11027738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77D85-A22C-20FE-5CE3-F7BF7663A791}"/>
            </a:ext>
          </a:extLst>
        </p:cNvPr>
        <p:cNvGrpSpPr/>
        <p:nvPr/>
      </p:nvGrpSpPr>
      <p:grpSpPr>
        <a:xfrm>
          <a:off x="0" y="0"/>
          <a:ext cx="0" cy="0"/>
          <a:chOff x="0" y="0"/>
          <a:chExt cx="0" cy="0"/>
        </a:xfrm>
      </p:grpSpPr>
      <p:sp>
        <p:nvSpPr>
          <p:cNvPr id="6" name="标题 1">
            <a:extLst>
              <a:ext uri="{FF2B5EF4-FFF2-40B4-BE49-F238E27FC236}">
                <a16:creationId xmlns:a16="http://schemas.microsoft.com/office/drawing/2014/main" id="{FF4DBB4C-C342-93F2-36FA-77B78567055E}"/>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5.8 Conclusion</a:t>
            </a:r>
            <a:endParaRPr lang="en-GB" altLang="zh-CN" dirty="0"/>
          </a:p>
        </p:txBody>
      </p:sp>
      <p:sp>
        <p:nvSpPr>
          <p:cNvPr id="7" name="文本框 6">
            <a:extLst>
              <a:ext uri="{FF2B5EF4-FFF2-40B4-BE49-F238E27FC236}">
                <a16:creationId xmlns:a16="http://schemas.microsoft.com/office/drawing/2014/main" id="{B39892CB-1F0A-F048-17AB-8045B9CE61F3}"/>
              </a:ext>
            </a:extLst>
          </p:cNvPr>
          <p:cNvSpPr txBox="1"/>
          <p:nvPr/>
        </p:nvSpPr>
        <p:spPr>
          <a:xfrm>
            <a:off x="372798" y="982133"/>
            <a:ext cx="10657754" cy="3477875"/>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The assessment result shows that, with the condition of Final GRC = 1 and Residual ARC = b, Specific Assurance and Integrity Level of the project operation is SAIL II and the target is to achieve Basic Containment Robustness with basic technical and procedural measures.</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With the support of GNSS-based geofencing, single link communication with health monitoring, automatic RTH, basic system health check and SOPs, any deviation or malfunction shall be confined in a pre-defined and controllable volume.</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It can maintain the safety of third party on the ground in an acceptable limit of containment margin and provides sufficient basis for the OSO framework in Step 9, which is in line with the assurance requirement of SAIL Level II operation.</a:t>
            </a:r>
          </a:p>
        </p:txBody>
      </p:sp>
    </p:spTree>
    <p:extLst>
      <p:ext uri="{BB962C8B-B14F-4D97-AF65-F5344CB8AC3E}">
        <p14:creationId xmlns:p14="http://schemas.microsoft.com/office/powerpoint/2010/main" val="4906754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E50C745D-3E05-C3FE-418A-7CC64FEB3F31}"/>
              </a:ext>
            </a:extLst>
          </p:cNvPr>
          <p:cNvGrpSpPr/>
          <p:nvPr/>
        </p:nvGrpSpPr>
        <p:grpSpPr>
          <a:xfrm>
            <a:off x="7603197" y="3519982"/>
            <a:ext cx="642484" cy="377372"/>
            <a:chOff x="464459" y="324756"/>
            <a:chExt cx="642484" cy="377372"/>
          </a:xfrm>
        </p:grpSpPr>
        <p:sp>
          <p:nvSpPr>
            <p:cNvPr id="7" name="箭头: V 形 21">
              <a:extLst>
                <a:ext uri="{FF2B5EF4-FFF2-40B4-BE49-F238E27FC236}">
                  <a16:creationId xmlns:a16="http://schemas.microsoft.com/office/drawing/2014/main" id="{9CF1C7E9-884C-48C9-0C25-97205D2E6756}"/>
                </a:ext>
              </a:extLst>
            </p:cNvPr>
            <p:cNvSpPr/>
            <p:nvPr/>
          </p:nvSpPr>
          <p:spPr>
            <a:xfrm>
              <a:off x="464459" y="3247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8" name="箭头: V 形 22">
              <a:extLst>
                <a:ext uri="{FF2B5EF4-FFF2-40B4-BE49-F238E27FC236}">
                  <a16:creationId xmlns:a16="http://schemas.microsoft.com/office/drawing/2014/main" id="{FB6891CA-2A92-BA10-2A08-BD9A4EF4469C}"/>
                </a:ext>
              </a:extLst>
            </p:cNvPr>
            <p:cNvSpPr/>
            <p:nvPr/>
          </p:nvSpPr>
          <p:spPr>
            <a:xfrm>
              <a:off x="745337" y="3247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sp>
        <p:nvSpPr>
          <p:cNvPr id="9" name="标题 1">
            <a:extLst>
              <a:ext uri="{FF2B5EF4-FFF2-40B4-BE49-F238E27FC236}">
                <a16:creationId xmlns:a16="http://schemas.microsoft.com/office/drawing/2014/main" id="{08D7B6D0-7DA7-911A-0752-FFBAF99C18CE}"/>
              </a:ext>
            </a:extLst>
          </p:cNvPr>
          <p:cNvSpPr txBox="1">
            <a:spLocks/>
          </p:cNvSpPr>
          <p:nvPr/>
        </p:nvSpPr>
        <p:spPr>
          <a:xfrm>
            <a:off x="8367319" y="3429000"/>
            <a:ext cx="3824681" cy="544839"/>
          </a:xfrm>
          <a:prstGeom prst="rect">
            <a:avLst/>
          </a:prstGeom>
        </p:spPr>
        <p:txBody>
          <a:bodyPr vert="horz" lIns="91440" tIns="45721" rIns="91440" bIns="45721" rtlCol="0" anchor="ctr">
            <a:normAutofit fontScale="92500"/>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effectLst/>
                <a:latin typeface="Times New Roman" panose="02020603050405020304" pitchFamily="18" charset="0"/>
                <a:ea typeface="宋体" panose="02010600030101010101" pitchFamily="2" charset="-122"/>
              </a:rPr>
              <a:t>Operational Safety Objectives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10" name="TextBox 7">
            <a:extLst>
              <a:ext uri="{FF2B5EF4-FFF2-40B4-BE49-F238E27FC236}">
                <a16:creationId xmlns:a16="http://schemas.microsoft.com/office/drawing/2014/main" id="{BCAD6992-78D7-3A29-732D-DBF9EF700D70}"/>
              </a:ext>
            </a:extLst>
          </p:cNvPr>
          <p:cNvSpPr txBox="1"/>
          <p:nvPr/>
        </p:nvSpPr>
        <p:spPr>
          <a:xfrm>
            <a:off x="9684987" y="3973839"/>
            <a:ext cx="2428870" cy="348813"/>
          </a:xfrm>
          <a:prstGeom prst="rect">
            <a:avLst/>
          </a:prstGeom>
          <a:noFill/>
        </p:spPr>
        <p:txBody>
          <a:bodyPr wrap="none" rtlCol="0">
            <a:spAutoFit/>
          </a:bodyPr>
          <a:lstStyle/>
          <a:p>
            <a:pPr algn="r">
              <a:lnSpc>
                <a:spcPts val="2000"/>
              </a:lnSpc>
            </a:pPr>
            <a:r>
              <a:rPr lang="en-US" altLang="zh-CN" dirty="0" err="1">
                <a:latin typeface="Times New Roman" panose="02020603050405020304" pitchFamily="18" charset="0"/>
                <a:cs typeface="Times New Roman" panose="02020603050405020304" pitchFamily="18" charset="0"/>
              </a:rPr>
              <a:t>Yixuan</a:t>
            </a:r>
            <a:r>
              <a:rPr lang="en-US" altLang="zh-CN" dirty="0">
                <a:latin typeface="Times New Roman" panose="02020603050405020304" pitchFamily="18" charset="0"/>
                <a:cs typeface="Times New Roman" panose="02020603050405020304" pitchFamily="18" charset="0"/>
              </a:rPr>
              <a:t> Yan 25107505g</a:t>
            </a:r>
          </a:p>
        </p:txBody>
      </p:sp>
      <p:sp>
        <p:nvSpPr>
          <p:cNvPr id="11" name="标题 1">
            <a:extLst>
              <a:ext uri="{FF2B5EF4-FFF2-40B4-BE49-F238E27FC236}">
                <a16:creationId xmlns:a16="http://schemas.microsoft.com/office/drawing/2014/main" id="{7E2F236F-E624-1DCC-EFE2-06DAB920AB73}"/>
              </a:ext>
            </a:extLst>
          </p:cNvPr>
          <p:cNvSpPr txBox="1">
            <a:spLocks/>
          </p:cNvSpPr>
          <p:nvPr/>
        </p:nvSpPr>
        <p:spPr>
          <a:xfrm>
            <a:off x="6573795" y="3461714"/>
            <a:ext cx="1075544" cy="512125"/>
          </a:xfrm>
          <a:prstGeom prst="rect">
            <a:avLst/>
          </a:prstGeom>
        </p:spPr>
        <p:txBody>
          <a:bodyPr vert="horz" lIns="91440" tIns="45721" rIns="91440" bIns="45721" rtlCol="0" anchor="ctr">
            <a:normAutofit fontScale="85000" lnSpcReduction="10000"/>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Part VI</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45280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8159611E-38A7-0F38-440B-48CDF911AAE0}"/>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6.1 Operational Safety Objectives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8588C831-D7C2-8165-BE0C-D78612D77C7E}"/>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Core Premise</a:t>
            </a:r>
          </a:p>
        </p:txBody>
      </p:sp>
      <p:sp>
        <p:nvSpPr>
          <p:cNvPr id="8" name="椭圆 7">
            <a:extLst>
              <a:ext uri="{FF2B5EF4-FFF2-40B4-BE49-F238E27FC236}">
                <a16:creationId xmlns:a16="http://schemas.microsoft.com/office/drawing/2014/main" id="{267C3271-8BB4-D606-EB70-A002FB6974E4}"/>
              </a:ext>
            </a:extLst>
          </p:cNvPr>
          <p:cNvSpPr/>
          <p:nvPr/>
        </p:nvSpPr>
        <p:spPr>
          <a:xfrm>
            <a:off x="1072706" y="2384454"/>
            <a:ext cx="3162744" cy="3190845"/>
          </a:xfrm>
          <a:prstGeom prst="ellipse">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kern="0" dirty="0">
                <a:solidFill>
                  <a:schemeClr val="bg1"/>
                </a:solidFill>
                <a:latin typeface="Times New Roman" panose="02020603050405020304" pitchFamily="18" charset="0"/>
                <a:ea typeface="宋体" panose="02010600030101010101" pitchFamily="2" charset="-122"/>
                <a:cs typeface="Arial" panose="020B0604020202020204" pitchFamily="34" charset="0"/>
              </a:rPr>
              <a:t>SAIL Ⅱ</a:t>
            </a:r>
          </a:p>
          <a:p>
            <a:pPr algn="ctr"/>
            <a:endParaRPr lang="zh-CN" altLang="en-US"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椭圆 8">
            <a:extLst>
              <a:ext uri="{FF2B5EF4-FFF2-40B4-BE49-F238E27FC236}">
                <a16:creationId xmlns:a16="http://schemas.microsoft.com/office/drawing/2014/main" id="{083C4EF9-3B7C-4EF4-40FC-673E6B1069D3}"/>
              </a:ext>
            </a:extLst>
          </p:cNvPr>
          <p:cNvSpPr/>
          <p:nvPr/>
        </p:nvSpPr>
        <p:spPr>
          <a:xfrm>
            <a:off x="6044840" y="2374958"/>
            <a:ext cx="3245210" cy="3108296"/>
          </a:xfrm>
          <a:prstGeom prst="ellipse">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kern="0" dirty="0">
                <a:solidFill>
                  <a:schemeClr val="bg1"/>
                </a:solidFill>
                <a:latin typeface="Times New Roman" panose="02020603050405020304" pitchFamily="18" charset="0"/>
                <a:ea typeface="宋体" panose="02010600030101010101" pitchFamily="2" charset="-122"/>
                <a:cs typeface="Arial" panose="020B0604020202020204" pitchFamily="34" charset="0"/>
              </a:rPr>
              <a:t>Low Robustness Level</a:t>
            </a:r>
          </a:p>
          <a:p>
            <a:pPr algn="ctr"/>
            <a:endParaRPr lang="zh-CN" altLang="en-US"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3942040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4723C8C1-6B37-3517-F6FC-32FE9C21E3E4}"/>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6.1 Operational Safety Objectives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B4C4642F-0815-AF4E-7BD7-6F642FB87498}"/>
              </a:ext>
            </a:extLst>
          </p:cNvPr>
          <p:cNvSpPr txBox="1"/>
          <p:nvPr/>
        </p:nvSpPr>
        <p:spPr>
          <a:xfrm>
            <a:off x="442913" y="1016000"/>
            <a:ext cx="10657754" cy="2246769"/>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 Compliance Analysis</a:t>
            </a: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OSO#01 Ensure the Operator is competent and/or proven</a:t>
            </a:r>
          </a:p>
          <a:p>
            <a:r>
              <a:rPr lang="en-US" altLang="zh-CN" sz="2000" b="1" kern="0" dirty="0">
                <a:solidFill>
                  <a:srgbClr val="A72735"/>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Operator masters </a:t>
            </a:r>
            <a:r>
              <a:rPr lang="en-US" altLang="zh-CN" sz="2000" kern="0" dirty="0" err="1">
                <a:latin typeface="Times New Roman" panose="02020603050405020304" pitchFamily="18" charset="0"/>
                <a:ea typeface="宋体" panose="02010600030101010101" pitchFamily="2" charset="-122"/>
                <a:cs typeface="Times New Roman" panose="02020603050405020304" pitchFamily="18" charset="0"/>
              </a:rPr>
              <a:t>Antwork</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RA3 features and compiles operational procedure documents.</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Dedicated Safety Focal Point manages risk registers and training records; airworthiness/design monitoring records retained.</a:t>
            </a:r>
          </a:p>
        </p:txBody>
      </p:sp>
    </p:spTree>
    <p:extLst>
      <p:ext uri="{BB962C8B-B14F-4D97-AF65-F5344CB8AC3E}">
        <p14:creationId xmlns:p14="http://schemas.microsoft.com/office/powerpoint/2010/main" val="11479724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EAE5C73F-80FF-B0C9-EB66-1B22FBAF7C5D}"/>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6.1 Operational Safety Objectives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8" name="文本框 7">
            <a:extLst>
              <a:ext uri="{FF2B5EF4-FFF2-40B4-BE49-F238E27FC236}">
                <a16:creationId xmlns:a16="http://schemas.microsoft.com/office/drawing/2014/main" id="{E7A0C856-F79E-4989-3F70-4C584DF4C6ED}"/>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Compliance Analysis</a:t>
            </a:r>
          </a:p>
        </p:txBody>
      </p:sp>
      <p:sp>
        <p:nvSpPr>
          <p:cNvPr id="9" name="文本框 8">
            <a:extLst>
              <a:ext uri="{FF2B5EF4-FFF2-40B4-BE49-F238E27FC236}">
                <a16:creationId xmlns:a16="http://schemas.microsoft.com/office/drawing/2014/main" id="{53B48ED5-DD3D-C2B4-CF8D-B08E1AFC44F9}"/>
              </a:ext>
            </a:extLst>
          </p:cNvPr>
          <p:cNvSpPr txBox="1"/>
          <p:nvPr/>
        </p:nvSpPr>
        <p:spPr>
          <a:xfrm>
            <a:off x="442913" y="1562155"/>
            <a:ext cx="10657754" cy="1323439"/>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OSO#03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UAS maintained by competent and/or proven entity</a:t>
            </a:r>
          </a:p>
          <a:p>
            <a:r>
              <a:rPr lang="en-US" altLang="zh-CN" sz="2000" b="1" kern="0" dirty="0">
                <a:solidFill>
                  <a:srgbClr val="A72735"/>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Follows manufacturer-aligned maintenance instructions; full records of maintenance activities kept.</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Authorized maintenance personnel list and training records maintained.</a:t>
            </a:r>
          </a:p>
        </p:txBody>
      </p:sp>
      <p:sp>
        <p:nvSpPr>
          <p:cNvPr id="10" name="文本框 9">
            <a:extLst>
              <a:ext uri="{FF2B5EF4-FFF2-40B4-BE49-F238E27FC236}">
                <a16:creationId xmlns:a16="http://schemas.microsoft.com/office/drawing/2014/main" id="{7FF158FA-96FC-0DF2-FC5D-0FAC8457B74A}"/>
              </a:ext>
            </a:extLst>
          </p:cNvPr>
          <p:cNvSpPr txBox="1"/>
          <p:nvPr/>
        </p:nvSpPr>
        <p:spPr>
          <a:xfrm>
            <a:off x="442913" y="3156799"/>
            <a:ext cx="10657754" cy="1631216"/>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OSO#06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C3 link characteristics (e.g., performance, spectrum use) are appropriate for the operation</a:t>
            </a:r>
          </a:p>
          <a:p>
            <a:r>
              <a:rPr lang="en-US" altLang="zh-CN" sz="2000" b="1" kern="0" dirty="0">
                <a:solidFill>
                  <a:srgbClr val="A72735"/>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For the </a:t>
            </a:r>
            <a:r>
              <a:rPr lang="en-US" altLang="zh-CN" sz="2000" kern="0" dirty="0" err="1">
                <a:latin typeface="Times New Roman" panose="02020603050405020304" pitchFamily="18" charset="0"/>
                <a:ea typeface="宋体" panose="02010600030101010101" pitchFamily="2" charset="-122"/>
                <a:cs typeface="Times New Roman" panose="02020603050405020304" pitchFamily="18" charset="0"/>
              </a:rPr>
              <a:t>Antwork</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RA3, the C3 link, which includes the C2 link and mission data transmission link, adopts the unlicensed frequency bands of 2.4 GHz and 5.8 GHz, meets the required performance standards, complies with the requirements of HKCA 1039 (Issue 7, 2024).</a:t>
            </a:r>
          </a:p>
        </p:txBody>
      </p:sp>
      <p:sp>
        <p:nvSpPr>
          <p:cNvPr id="11" name="文本框 10">
            <a:extLst>
              <a:ext uri="{FF2B5EF4-FFF2-40B4-BE49-F238E27FC236}">
                <a16:creationId xmlns:a16="http://schemas.microsoft.com/office/drawing/2014/main" id="{17F37DA0-03B3-F377-86EA-53BD25C6E407}"/>
              </a:ext>
            </a:extLst>
          </p:cNvPr>
          <p:cNvSpPr txBox="1"/>
          <p:nvPr/>
        </p:nvSpPr>
        <p:spPr>
          <a:xfrm>
            <a:off x="442913" y="5059220"/>
            <a:ext cx="10657754" cy="1323439"/>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OSO#07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Conformity check of the UAS configuration</a:t>
            </a:r>
          </a:p>
          <a:p>
            <a:r>
              <a:rPr lang="en-US" altLang="zh-CN" sz="2000" b="1" kern="0" dirty="0">
                <a:solidFill>
                  <a:srgbClr val="A72735"/>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Periodic checks verify payload ≤4kg and correct geofencing; trained staff self-declare status.</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Special checks after payload changes/system upgrades.</a:t>
            </a:r>
          </a:p>
        </p:txBody>
      </p:sp>
    </p:spTree>
    <p:extLst>
      <p:ext uri="{BB962C8B-B14F-4D97-AF65-F5344CB8AC3E}">
        <p14:creationId xmlns:p14="http://schemas.microsoft.com/office/powerpoint/2010/main" val="743471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5940CC5-DE67-A001-2657-26757B326E63}"/>
              </a:ext>
            </a:extLst>
          </p:cNvPr>
          <p:cNvPicPr>
            <a:picLocks noChangeAspect="1"/>
          </p:cNvPicPr>
          <p:nvPr/>
        </p:nvPicPr>
        <p:blipFill>
          <a:blip r:embed="rId2"/>
          <a:stretch>
            <a:fillRect/>
          </a:stretch>
        </p:blipFill>
        <p:spPr>
          <a:xfrm>
            <a:off x="6248400" y="1015999"/>
            <a:ext cx="5362961" cy="5694985"/>
          </a:xfrm>
          <a:prstGeom prst="rect">
            <a:avLst/>
          </a:prstGeom>
        </p:spPr>
      </p:pic>
      <p:sp>
        <p:nvSpPr>
          <p:cNvPr id="7" name="标题 1">
            <a:extLst>
              <a:ext uri="{FF2B5EF4-FFF2-40B4-BE49-F238E27FC236}">
                <a16:creationId xmlns:a16="http://schemas.microsoft.com/office/drawing/2014/main" id="{5F914D15-A692-716C-14DD-A12039B943FF}"/>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6.1 Operational Safety Objectives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8" name="文本框 7">
            <a:extLst>
              <a:ext uri="{FF2B5EF4-FFF2-40B4-BE49-F238E27FC236}">
                <a16:creationId xmlns:a16="http://schemas.microsoft.com/office/drawing/2014/main" id="{4C84C5AF-20A3-AE73-3E3A-1D46D8BAD515}"/>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Compliance Analysis</a:t>
            </a:r>
          </a:p>
        </p:txBody>
      </p:sp>
      <p:sp>
        <p:nvSpPr>
          <p:cNvPr id="9" name="文本框 8">
            <a:extLst>
              <a:ext uri="{FF2B5EF4-FFF2-40B4-BE49-F238E27FC236}">
                <a16:creationId xmlns:a16="http://schemas.microsoft.com/office/drawing/2014/main" id="{A0E2DB43-6D4A-6EB6-FEF9-D07B2B60E8C1}"/>
              </a:ext>
            </a:extLst>
          </p:cNvPr>
          <p:cNvSpPr txBox="1"/>
          <p:nvPr/>
        </p:nvSpPr>
        <p:spPr>
          <a:xfrm>
            <a:off x="442913" y="1562154"/>
            <a:ext cx="5564187" cy="2246769"/>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OSO#08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Operational procedures are defined, validated and adhered to</a:t>
            </a:r>
          </a:p>
          <a:p>
            <a:r>
              <a:rPr lang="en-US" altLang="zh-CN" sz="2000" b="1" kern="0" dirty="0">
                <a:solidFill>
                  <a:srgbClr val="A72735"/>
                </a:solidFill>
                <a:latin typeface="Times New Roman" panose="02020603050405020304" pitchFamily="18" charset="0"/>
                <a:ea typeface="宋体" panose="02010600030101010101" pitchFamily="2" charset="-122"/>
                <a:cs typeface="Times New Roman" panose="02020603050405020304" pitchFamily="18" charset="0"/>
              </a:rPr>
              <a:t>Robustness Level: Medium (M)</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Comprehensive Standard Operating Procedures have been established</a:t>
            </a: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covering flight planning</a:t>
            </a: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pre/post-flight </a:t>
            </a:r>
            <a:r>
              <a:rPr lang="en-US" altLang="zh-CN" sz="2000" kern="0" dirty="0" err="1">
                <a:latin typeface="Times New Roman" panose="02020603050405020304" pitchFamily="18" charset="0"/>
                <a:ea typeface="宋体" panose="02010600030101010101" pitchFamily="2" charset="-122"/>
                <a:cs typeface="Times New Roman" panose="02020603050405020304" pitchFamily="18" charset="0"/>
              </a:rPr>
              <a:t>inspections,emergency</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procedures.</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The emergency test records retained</a:t>
            </a:r>
          </a:p>
        </p:txBody>
      </p:sp>
    </p:spTree>
    <p:extLst>
      <p:ext uri="{BB962C8B-B14F-4D97-AF65-F5344CB8AC3E}">
        <p14:creationId xmlns:p14="http://schemas.microsoft.com/office/powerpoint/2010/main" val="411602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a:extLst>
              <a:ext uri="{FF2B5EF4-FFF2-40B4-BE49-F238E27FC236}">
                <a16:creationId xmlns:a16="http://schemas.microsoft.com/office/drawing/2014/main" id="{BE34BD9D-DDB8-4346-ECF7-7066E3F2E618}"/>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6.1 Operational Safety Objectives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8" name="文本框 7">
            <a:extLst>
              <a:ext uri="{FF2B5EF4-FFF2-40B4-BE49-F238E27FC236}">
                <a16:creationId xmlns:a16="http://schemas.microsoft.com/office/drawing/2014/main" id="{6B13D084-C8CE-A66B-9CE5-CE05281D77DB}"/>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Compliance Analysis</a:t>
            </a:r>
          </a:p>
        </p:txBody>
      </p:sp>
      <p:sp>
        <p:nvSpPr>
          <p:cNvPr id="13" name="矩形: 圆角 12">
            <a:extLst>
              <a:ext uri="{FF2B5EF4-FFF2-40B4-BE49-F238E27FC236}">
                <a16:creationId xmlns:a16="http://schemas.microsoft.com/office/drawing/2014/main" id="{C23B1216-0F2F-F7E2-1613-03A8339DC1ED}"/>
              </a:ext>
            </a:extLst>
          </p:cNvPr>
          <p:cNvSpPr/>
          <p:nvPr/>
        </p:nvSpPr>
        <p:spPr>
          <a:xfrm>
            <a:off x="442912" y="1416110"/>
            <a:ext cx="5424487" cy="2374779"/>
          </a:xfrm>
          <a:prstGeom prst="roundRect">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OSO#09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Remote crew trained and current</a:t>
            </a:r>
          </a:p>
          <a:p>
            <a:r>
              <a:rPr lang="en-US" altLang="zh-CN" sz="2000" b="1" kern="0"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Theoretical and practical training plans have been formulated.</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Training/assessment/recertification records retained</a:t>
            </a: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圆角 13">
            <a:extLst>
              <a:ext uri="{FF2B5EF4-FFF2-40B4-BE49-F238E27FC236}">
                <a16:creationId xmlns:a16="http://schemas.microsoft.com/office/drawing/2014/main" id="{74956929-B074-5229-3598-D8846F79A9B6}"/>
              </a:ext>
            </a:extLst>
          </p:cNvPr>
          <p:cNvSpPr/>
          <p:nvPr/>
        </p:nvSpPr>
        <p:spPr>
          <a:xfrm>
            <a:off x="6096000" y="1416110"/>
            <a:ext cx="5653087" cy="2374779"/>
          </a:xfrm>
          <a:prstGeom prst="roundRect">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 #13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External services supporting UAS operations are adequate to the operation</a:t>
            </a:r>
          </a:p>
          <a:p>
            <a:r>
              <a:rPr lang="en-US" altLang="zh-CN" sz="2000" b="1" kern="0"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 Service Level Agreement has been signed with the UTM service provider to ensure real-time air traffic data updates and conflict alerts, with clear roles and responsibilities defined. </a:t>
            </a: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圆角 14">
            <a:extLst>
              <a:ext uri="{FF2B5EF4-FFF2-40B4-BE49-F238E27FC236}">
                <a16:creationId xmlns:a16="http://schemas.microsoft.com/office/drawing/2014/main" id="{EFED3A87-D86D-1FD7-5ED2-ED92B32A092A}"/>
              </a:ext>
            </a:extLst>
          </p:cNvPr>
          <p:cNvSpPr/>
          <p:nvPr/>
        </p:nvSpPr>
        <p:spPr>
          <a:xfrm>
            <a:off x="354013" y="4013199"/>
            <a:ext cx="5424487" cy="2485935"/>
          </a:xfrm>
          <a:prstGeom prst="roundRect">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OSO#16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Multi crew coordination</a:t>
            </a:r>
          </a:p>
          <a:p>
            <a:r>
              <a:rPr lang="en-US" altLang="zh-CN" sz="2000" b="1" kern="0"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Coordination procedures between the remote pilot and Visual Observer have been established, including real-time airspace condition reporting, emergency situation notification, and standard communication phraseology. </a:t>
            </a: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矩形: 圆角 15">
            <a:extLst>
              <a:ext uri="{FF2B5EF4-FFF2-40B4-BE49-F238E27FC236}">
                <a16:creationId xmlns:a16="http://schemas.microsoft.com/office/drawing/2014/main" id="{8D73D294-C37B-304C-376F-58A943D9DBBD}"/>
              </a:ext>
            </a:extLst>
          </p:cNvPr>
          <p:cNvSpPr/>
          <p:nvPr/>
        </p:nvSpPr>
        <p:spPr>
          <a:xfrm>
            <a:off x="6096001" y="4013199"/>
            <a:ext cx="5564188" cy="2485936"/>
          </a:xfrm>
          <a:prstGeom prst="roundRect">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OSO#17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Remote crew is fit to operate</a:t>
            </a:r>
          </a:p>
          <a:p>
            <a:r>
              <a:rPr lang="en-US" altLang="zh-CN" sz="2000" b="1" kern="0"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Pre-mission health self-declarations; drug/alcohol prohibited; duty ≤8hrs/day.</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Random tests conducted; failures result in immediate suspension.</a:t>
            </a: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889521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7B33930-30BC-F63B-827B-AFA7CB02D20F}"/>
              </a:ext>
            </a:extLst>
          </p:cNvPr>
          <p:cNvPicPr>
            <a:picLocks noChangeAspect="1"/>
          </p:cNvPicPr>
          <p:nvPr/>
        </p:nvPicPr>
        <p:blipFill>
          <a:blip r:embed="rId2"/>
          <a:stretch>
            <a:fillRect/>
          </a:stretch>
        </p:blipFill>
        <p:spPr>
          <a:xfrm>
            <a:off x="6794500" y="1016000"/>
            <a:ext cx="5014262" cy="5696201"/>
          </a:xfrm>
          <a:prstGeom prst="rect">
            <a:avLst/>
          </a:prstGeom>
        </p:spPr>
      </p:pic>
      <p:sp>
        <p:nvSpPr>
          <p:cNvPr id="7" name="标题 1">
            <a:extLst>
              <a:ext uri="{FF2B5EF4-FFF2-40B4-BE49-F238E27FC236}">
                <a16:creationId xmlns:a16="http://schemas.microsoft.com/office/drawing/2014/main" id="{455769F5-F219-4AFA-F285-27240E3D5EE5}"/>
              </a:ext>
            </a:extLst>
          </p:cNvPr>
          <p:cNvSpPr txBox="1">
            <a:spLocks/>
          </p:cNvSpPr>
          <p:nvPr/>
        </p:nvSpPr>
        <p:spPr>
          <a:xfrm>
            <a:off x="1199706" y="202094"/>
            <a:ext cx="7443779" cy="7123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marL="0" indent="0">
              <a:buNone/>
            </a:pPr>
            <a:r>
              <a:rPr lang="en-US" altLang="zh-CN" dirty="0">
                <a:effectLst/>
                <a:latin typeface="Times New Roman" panose="02020603050405020304" pitchFamily="18" charset="0"/>
                <a:ea typeface="宋体" panose="02010600030101010101" pitchFamily="2" charset="-122"/>
              </a:rPr>
              <a:t>6.1 Operational Safety Objectives</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8" name="文本框 7">
            <a:extLst>
              <a:ext uri="{FF2B5EF4-FFF2-40B4-BE49-F238E27FC236}">
                <a16:creationId xmlns:a16="http://schemas.microsoft.com/office/drawing/2014/main" id="{BDACCF0D-55CD-279A-899E-165060951E00}"/>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Compliance Analysis</a:t>
            </a:r>
          </a:p>
        </p:txBody>
      </p:sp>
      <p:sp>
        <p:nvSpPr>
          <p:cNvPr id="9" name="文本框 8">
            <a:extLst>
              <a:ext uri="{FF2B5EF4-FFF2-40B4-BE49-F238E27FC236}">
                <a16:creationId xmlns:a16="http://schemas.microsoft.com/office/drawing/2014/main" id="{010D10A3-DB34-BA78-0F90-AADC7AC76F6D}"/>
              </a:ext>
            </a:extLst>
          </p:cNvPr>
          <p:cNvSpPr txBox="1"/>
          <p:nvPr/>
        </p:nvSpPr>
        <p:spPr>
          <a:xfrm>
            <a:off x="442913" y="1416110"/>
            <a:ext cx="6351587" cy="5324535"/>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OSO#20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A Human Factors evaluation has been performed and the Human-Machine Interface (HMI) found appropriate for the mission</a:t>
            </a:r>
          </a:p>
          <a:p>
            <a:r>
              <a:rPr lang="en-US" altLang="zh-CN" sz="2000" b="1" kern="0" dirty="0">
                <a:solidFill>
                  <a:srgbClr val="A72735"/>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HMI evaluated as intuitive, error-free; tests verify target identification/state switching efficiency.</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Supports position monitoring without compromising airspace scanning/communication.</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OSO#23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Environmental conditions for safe operations defined, measurable and adhered to</a:t>
            </a:r>
          </a:p>
          <a:p>
            <a:r>
              <a:rPr lang="en-US" altLang="zh-CN" sz="2000" b="1" kern="0" dirty="0">
                <a:solidFill>
                  <a:srgbClr val="A72735"/>
                </a:solidFill>
                <a:latin typeface="Times New Roman" panose="02020603050405020304" pitchFamily="18" charset="0"/>
                <a:ea typeface="宋体" panose="02010600030101010101" pitchFamily="2" charset="-122"/>
                <a:cs typeface="Times New Roman" panose="02020603050405020304" pitchFamily="18" charset="0"/>
              </a:rPr>
              <a:t>Robustness Level: Low (L)</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Operational limits: Beaufort ≤6 winds, moderate rain/snow; pre-flight evaluation using HK Observatory data.</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Flights suspended if conditions exceed limits; records retained.</a:t>
            </a:r>
          </a:p>
          <a:p>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21861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2336BBE-0405-09AB-DCE2-6D400C6B7E70}"/>
              </a:ext>
            </a:extLst>
          </p:cNvPr>
          <p:cNvGrpSpPr/>
          <p:nvPr/>
        </p:nvGrpSpPr>
        <p:grpSpPr>
          <a:xfrm>
            <a:off x="7603197" y="3519982"/>
            <a:ext cx="642484" cy="377372"/>
            <a:chOff x="464459" y="324756"/>
            <a:chExt cx="642484" cy="377372"/>
          </a:xfrm>
        </p:grpSpPr>
        <p:sp>
          <p:nvSpPr>
            <p:cNvPr id="3" name="箭头: V 形 21">
              <a:extLst>
                <a:ext uri="{FF2B5EF4-FFF2-40B4-BE49-F238E27FC236}">
                  <a16:creationId xmlns:a16="http://schemas.microsoft.com/office/drawing/2014/main" id="{8E8B4C3B-9DED-618F-AE0C-8AB7B751358B}"/>
                </a:ext>
              </a:extLst>
            </p:cNvPr>
            <p:cNvSpPr/>
            <p:nvPr/>
          </p:nvSpPr>
          <p:spPr>
            <a:xfrm>
              <a:off x="464459" y="324756"/>
              <a:ext cx="361606" cy="377372"/>
            </a:xfrm>
            <a:prstGeom prst="chevron">
              <a:avLst/>
            </a:prstGeom>
            <a:solidFill>
              <a:srgbClr val="9B1E23"/>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sp>
          <p:nvSpPr>
            <p:cNvPr id="4" name="箭头: V 形 22">
              <a:extLst>
                <a:ext uri="{FF2B5EF4-FFF2-40B4-BE49-F238E27FC236}">
                  <a16:creationId xmlns:a16="http://schemas.microsoft.com/office/drawing/2014/main" id="{02BA7770-CC08-85B5-E8FF-3B57FAB63FAB}"/>
                </a:ext>
              </a:extLst>
            </p:cNvPr>
            <p:cNvSpPr/>
            <p:nvPr/>
          </p:nvSpPr>
          <p:spPr>
            <a:xfrm>
              <a:off x="745337" y="324756"/>
              <a:ext cx="361606" cy="377372"/>
            </a:xfrm>
            <a:prstGeom prst="chevron">
              <a:avLst/>
            </a:prstGeom>
            <a:solidFill>
              <a:srgbClr val="1B2F47"/>
            </a:solidFill>
            <a:ln>
              <a:noFill/>
            </a:ln>
            <a:effectLst>
              <a:outerShdw blurRad="406400" dist="2413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spc="300" dirty="0">
                <a:solidFill>
                  <a:prstClr val="white"/>
                </a:solidFill>
                <a:latin typeface="Times New Roman" panose="02020603050405020304" pitchFamily="18" charset="0"/>
                <a:ea typeface="字魂105号-简雅黑" panose="00000500000000000000" pitchFamily="2" charset="-122"/>
                <a:sym typeface="字魂105号-简雅黑" panose="00000500000000000000" pitchFamily="2" charset="-122"/>
              </a:endParaRPr>
            </a:p>
          </p:txBody>
        </p:sp>
      </p:grpSp>
      <p:sp>
        <p:nvSpPr>
          <p:cNvPr id="5" name="标题 1">
            <a:extLst>
              <a:ext uri="{FF2B5EF4-FFF2-40B4-BE49-F238E27FC236}">
                <a16:creationId xmlns:a16="http://schemas.microsoft.com/office/drawing/2014/main" id="{6F37DF5C-AD95-A11D-CB06-3640EE7BF74C}"/>
              </a:ext>
            </a:extLst>
          </p:cNvPr>
          <p:cNvSpPr txBox="1">
            <a:spLocks/>
          </p:cNvSpPr>
          <p:nvPr/>
        </p:nvSpPr>
        <p:spPr>
          <a:xfrm>
            <a:off x="8367319" y="3429000"/>
            <a:ext cx="3824681" cy="544839"/>
          </a:xfrm>
          <a:prstGeom prst="rect">
            <a:avLst/>
          </a:prstGeom>
        </p:spPr>
        <p:txBody>
          <a:bodyPr vert="horz" lIns="91440" tIns="45721" rIns="91440" bIns="45721" rtlCol="0" anchor="ctr">
            <a:normAutofit fontScale="85000" lnSpcReduction="10000"/>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Comprehensive Safety Portfolio</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
        <p:nvSpPr>
          <p:cNvPr id="6" name="TextBox 7">
            <a:extLst>
              <a:ext uri="{FF2B5EF4-FFF2-40B4-BE49-F238E27FC236}">
                <a16:creationId xmlns:a16="http://schemas.microsoft.com/office/drawing/2014/main" id="{6B6CD5FC-0BE9-5EDB-3FFC-542D933AE62E}"/>
              </a:ext>
            </a:extLst>
          </p:cNvPr>
          <p:cNvSpPr txBox="1"/>
          <p:nvPr/>
        </p:nvSpPr>
        <p:spPr>
          <a:xfrm>
            <a:off x="9524564" y="3973839"/>
            <a:ext cx="2512291" cy="348813"/>
          </a:xfrm>
          <a:prstGeom prst="rect">
            <a:avLst/>
          </a:prstGeom>
          <a:noFill/>
        </p:spPr>
        <p:txBody>
          <a:bodyPr wrap="none" rtlCol="0">
            <a:spAutoFit/>
          </a:bodyPr>
          <a:lstStyle/>
          <a:p>
            <a:pPr algn="r">
              <a:lnSpc>
                <a:spcPts val="2000"/>
              </a:lnSpc>
            </a:pPr>
            <a:r>
              <a:rPr lang="en-US" altLang="zh-CN" dirty="0" err="1">
                <a:latin typeface="Times New Roman" panose="02020603050405020304" pitchFamily="18" charset="0"/>
                <a:cs typeface="Times New Roman" panose="02020603050405020304" pitchFamily="18" charset="0"/>
              </a:rPr>
              <a:t>Yuwen</a:t>
            </a:r>
            <a:r>
              <a:rPr lang="en-US" altLang="zh-CN" dirty="0">
                <a:latin typeface="Times New Roman" panose="02020603050405020304" pitchFamily="18" charset="0"/>
                <a:cs typeface="Times New Roman" panose="02020603050405020304" pitchFamily="18" charset="0"/>
              </a:rPr>
              <a:t> Zeng  25050497g</a:t>
            </a:r>
          </a:p>
        </p:txBody>
      </p:sp>
      <p:sp>
        <p:nvSpPr>
          <p:cNvPr id="7" name="标题 1">
            <a:extLst>
              <a:ext uri="{FF2B5EF4-FFF2-40B4-BE49-F238E27FC236}">
                <a16:creationId xmlns:a16="http://schemas.microsoft.com/office/drawing/2014/main" id="{8CA1C273-CE84-E95E-8108-F5EA79CE120A}"/>
              </a:ext>
            </a:extLst>
          </p:cNvPr>
          <p:cNvSpPr txBox="1">
            <a:spLocks/>
          </p:cNvSpPr>
          <p:nvPr/>
        </p:nvSpPr>
        <p:spPr>
          <a:xfrm>
            <a:off x="6573795" y="3461714"/>
            <a:ext cx="1075544" cy="512125"/>
          </a:xfrm>
          <a:prstGeom prst="rect">
            <a:avLst/>
          </a:prstGeom>
        </p:spPr>
        <p:txBody>
          <a:bodyPr vert="horz" lIns="91440" tIns="45721" rIns="91440" bIns="45721" rtlCol="0" anchor="ctr">
            <a:normAutofit fontScale="77500" lnSpcReduction="20000"/>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Part VII</a:t>
            </a:r>
            <a:endParaRPr lang="zh-CN" altLang="en-US" b="1" kern="0" dirty="0">
              <a:solidFill>
                <a:srgbClr val="000000"/>
              </a:solidFill>
              <a:latin typeface="Times New Roman" panose="02020603050405020304" pitchFamily="18"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42192628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B6AC3E5E-94F1-17F4-BA1A-810997C69DDB}"/>
              </a:ext>
            </a:extLst>
          </p:cNvPr>
          <p:cNvSpPr txBox="1">
            <a:spLocks/>
          </p:cNvSpPr>
          <p:nvPr/>
        </p:nvSpPr>
        <p:spPr>
          <a:xfrm>
            <a:off x="1199706" y="202094"/>
            <a:ext cx="5429694" cy="7631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7.1 Comprehensive Safety Portfolio</a:t>
            </a:r>
            <a:endParaRPr lang="en-GB" dirty="0"/>
          </a:p>
        </p:txBody>
      </p:sp>
      <p:graphicFrame>
        <p:nvGraphicFramePr>
          <p:cNvPr id="5" name="表格 4">
            <a:extLst>
              <a:ext uri="{FF2B5EF4-FFF2-40B4-BE49-F238E27FC236}">
                <a16:creationId xmlns:a16="http://schemas.microsoft.com/office/drawing/2014/main" id="{336124B5-BD2E-F82B-E829-74086E36B54D}"/>
              </a:ext>
            </a:extLst>
          </p:cNvPr>
          <p:cNvGraphicFramePr>
            <a:graphicFrameLocks noGrp="1"/>
          </p:cNvGraphicFramePr>
          <p:nvPr>
            <p:extLst>
              <p:ext uri="{D42A27DB-BD31-4B8C-83A1-F6EECF244321}">
                <p14:modId xmlns:p14="http://schemas.microsoft.com/office/powerpoint/2010/main" val="844015736"/>
              </p:ext>
            </p:extLst>
          </p:nvPr>
        </p:nvGraphicFramePr>
        <p:xfrm>
          <a:off x="442912" y="1466910"/>
          <a:ext cx="5332245" cy="4710130"/>
        </p:xfrm>
        <a:graphic>
          <a:graphicData uri="http://schemas.openxmlformats.org/drawingml/2006/table">
            <a:tbl>
              <a:tblPr firstRow="1" firstCol="1" bandRow="1"/>
              <a:tblGrid>
                <a:gridCol w="1046671">
                  <a:extLst>
                    <a:ext uri="{9D8B030D-6E8A-4147-A177-3AD203B41FA5}">
                      <a16:colId xmlns:a16="http://schemas.microsoft.com/office/drawing/2014/main" val="2781203961"/>
                    </a:ext>
                  </a:extLst>
                </a:gridCol>
                <a:gridCol w="1747479">
                  <a:extLst>
                    <a:ext uri="{9D8B030D-6E8A-4147-A177-3AD203B41FA5}">
                      <a16:colId xmlns:a16="http://schemas.microsoft.com/office/drawing/2014/main" val="2572858985"/>
                    </a:ext>
                  </a:extLst>
                </a:gridCol>
                <a:gridCol w="1046671">
                  <a:extLst>
                    <a:ext uri="{9D8B030D-6E8A-4147-A177-3AD203B41FA5}">
                      <a16:colId xmlns:a16="http://schemas.microsoft.com/office/drawing/2014/main" val="2201177920"/>
                    </a:ext>
                  </a:extLst>
                </a:gridCol>
                <a:gridCol w="745712">
                  <a:extLst>
                    <a:ext uri="{9D8B030D-6E8A-4147-A177-3AD203B41FA5}">
                      <a16:colId xmlns:a16="http://schemas.microsoft.com/office/drawing/2014/main" val="3800659428"/>
                    </a:ext>
                  </a:extLst>
                </a:gridCol>
                <a:gridCol w="745712">
                  <a:extLst>
                    <a:ext uri="{9D8B030D-6E8A-4147-A177-3AD203B41FA5}">
                      <a16:colId xmlns:a16="http://schemas.microsoft.com/office/drawing/2014/main" val="3248378598"/>
                    </a:ext>
                  </a:extLst>
                </a:gridCol>
              </a:tblGrid>
              <a:tr h="238864">
                <a:tc gridSpan="5">
                  <a:txBody>
                    <a:bodyPr/>
                    <a:lstStyle/>
                    <a:p>
                      <a:pPr algn="ctr"/>
                      <a:r>
                        <a:rPr lang="en-US" sz="900" b="1" kern="0" dirty="0">
                          <a:solidFill>
                            <a:srgbClr val="000000"/>
                          </a:solidFill>
                          <a:effectLst/>
                          <a:highlight>
                            <a:srgbClr val="D9D9D9"/>
                          </a:highlight>
                          <a:latin typeface="Times New Roman" panose="02020603050405020304" pitchFamily="18" charset="0"/>
                          <a:ea typeface="宋体" panose="02010600030101010101" pitchFamily="2" charset="-122"/>
                          <a:cs typeface="Times New Roman" panose="02020603050405020304" pitchFamily="18" charset="0"/>
                        </a:rPr>
                        <a:t>Step #1 Operations manual</a:t>
                      </a:r>
                      <a:endParaRPr lang="zh-CN" sz="900" kern="100" dirty="0">
                        <a:effectLst/>
                        <a:highlight>
                          <a:srgbClr val="D9D9D9"/>
                        </a:highlight>
                        <a:latin typeface="Times New Roman" panose="02020603050405020304" pitchFamily="18" charset="0"/>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53841558"/>
                  </a:ext>
                </a:extLst>
              </a:tr>
              <a:tr h="642393">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#1.1</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Description of proposed operation including the locations</a:t>
                      </a:r>
                      <a:endParaRPr lang="zh-CN" sz="900" kern="100" dirty="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gridSpan="3">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BVLOS emergency AED delivery from Tseung Kwan Hospital to Sai Kung Public Pier. Route primarily over coastal waters and sparsely populated areas.</a:t>
                      </a:r>
                      <a:endParaRPr lang="zh-CN" sz="9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59889568"/>
                  </a:ext>
                </a:extLst>
              </a:tr>
              <a:tr h="1345097">
                <a:tc rowSpan="2">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#1.2</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rowSpan="2">
                  <a:txBody>
                    <a:bodyPr/>
                    <a:lstStyle/>
                    <a:p>
                      <a:pPr algn="l"/>
                      <a: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Dimensions of the operational volume and the adjacent volume</a:t>
                      </a:r>
                      <a:b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br>
                      <a: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(Rounded up to first decimal place)</a:t>
                      </a:r>
                      <a:endParaRPr lang="zh-CN" sz="900" kern="100" dirty="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Height of the flight geography </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Height of the contingency volume </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Width of the contingency volume</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Width of the ground risk buffer</a:t>
                      </a:r>
                      <a:endParaRPr lang="zh-CN" sz="9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HFGmax</a:t>
                      </a:r>
                      <a:b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HCVmax </a:t>
                      </a:r>
                      <a:b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SCVmax </a:t>
                      </a:r>
                      <a:b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SGRBmax</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91 m</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91 m</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100m</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93m</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8806603"/>
                  </a:ext>
                </a:extLst>
              </a:tr>
              <a:tr h="607673">
                <a:tc vMerge="1">
                  <a:txBody>
                    <a:bodyPr/>
                    <a:lstStyle/>
                    <a:p>
                      <a:endParaRPr lang="zh-CN" altLang="en-US"/>
                    </a:p>
                  </a:txBody>
                  <a:tcPr/>
                </a:tc>
                <a:tc vMerge="1">
                  <a:txBody>
                    <a:bodyPr/>
                    <a:lstStyle/>
                    <a:p>
                      <a:endParaRPr lang="zh-CN" altLang="en-US"/>
                    </a:p>
                  </a:txBody>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Height of the adjacent volume </a:t>
                      </a:r>
                      <a:b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Width of the adjacent volume</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HAV</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SAV</a:t>
                      </a:r>
                      <a:endParaRPr lang="zh-CN" sz="9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91m</a:t>
                      </a:r>
                      <a:b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2500m</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684013"/>
                  </a:ext>
                </a:extLst>
              </a:tr>
              <a:tr h="238864">
                <a:tc gridSpan="5">
                  <a:txBody>
                    <a:bodyPr/>
                    <a:lstStyle/>
                    <a:p>
                      <a:pPr algn="ctr"/>
                      <a:r>
                        <a:rPr lang="en-US" sz="9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#2 UAS intrinsic ground risk class</a:t>
                      </a:r>
                      <a:endParaRPr lang="zh-CN" sz="900" kern="100">
                        <a:effectLst/>
                        <a:highlight>
                          <a:srgbClr val="BFBFBF"/>
                        </a:highlight>
                        <a:latin typeface="Times New Roman" panose="02020603050405020304" pitchFamily="18" charset="0"/>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53657792"/>
                  </a:ext>
                </a:extLst>
              </a:tr>
              <a:tr h="1321775">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#2.1</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Type of operational areas on the ground</a:t>
                      </a:r>
                      <a:b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br>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(including flight geography, contingency volume and ground risk buffer)</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gridSpan="3">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Controlled ground area</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 5 People/km2 (remote)</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 50 People/km2 (lightly populated)</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 500 People/km2 (sparsely populated)</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 5000 People/km2 (suburban/low density metropolitan)</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☐&lt; 50.000 People/km2 (high density metropolitan)</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☐&gt; 50.000 People/km2 (assemblies of people)</a:t>
                      </a:r>
                      <a:endParaRPr lang="zh-CN" sz="9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373696787"/>
                  </a:ext>
                </a:extLst>
              </a:tr>
              <a:tr h="269019">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#2.2</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Specify the intrinsic ground risk class</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52045" marR="5204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gridSpan="3">
                  <a:txBody>
                    <a:bodyPr/>
                    <a:lstStyle/>
                    <a:p>
                      <a:pPr algn="ctr"/>
                      <a:r>
                        <a:rPr lang="en-US" sz="900" kern="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iGRC</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a:t>
                      </a:r>
                      <a:endParaRPr lang="zh-CN" sz="9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640399612"/>
                  </a:ext>
                </a:extLst>
              </a:tr>
            </a:tbl>
          </a:graphicData>
        </a:graphic>
      </p:graphicFrame>
      <p:graphicFrame>
        <p:nvGraphicFramePr>
          <p:cNvPr id="6" name="表格 5">
            <a:extLst>
              <a:ext uri="{FF2B5EF4-FFF2-40B4-BE49-F238E27FC236}">
                <a16:creationId xmlns:a16="http://schemas.microsoft.com/office/drawing/2014/main" id="{13637375-62AA-9716-47BD-15C27834E98A}"/>
              </a:ext>
            </a:extLst>
          </p:cNvPr>
          <p:cNvGraphicFramePr>
            <a:graphicFrameLocks noGrp="1"/>
          </p:cNvGraphicFramePr>
          <p:nvPr>
            <p:extLst>
              <p:ext uri="{D42A27DB-BD31-4B8C-83A1-F6EECF244321}">
                <p14:modId xmlns:p14="http://schemas.microsoft.com/office/powerpoint/2010/main" val="3520209186"/>
              </p:ext>
            </p:extLst>
          </p:nvPr>
        </p:nvGraphicFramePr>
        <p:xfrm>
          <a:off x="5906577" y="1466910"/>
          <a:ext cx="5966351" cy="4710132"/>
        </p:xfrm>
        <a:graphic>
          <a:graphicData uri="http://schemas.openxmlformats.org/drawingml/2006/table">
            <a:tbl>
              <a:tblPr firstRow="1" firstCol="1" bandRow="1"/>
              <a:tblGrid>
                <a:gridCol w="568408">
                  <a:extLst>
                    <a:ext uri="{9D8B030D-6E8A-4147-A177-3AD203B41FA5}">
                      <a16:colId xmlns:a16="http://schemas.microsoft.com/office/drawing/2014/main" val="1684257353"/>
                    </a:ext>
                  </a:extLst>
                </a:gridCol>
                <a:gridCol w="1183964">
                  <a:extLst>
                    <a:ext uri="{9D8B030D-6E8A-4147-A177-3AD203B41FA5}">
                      <a16:colId xmlns:a16="http://schemas.microsoft.com/office/drawing/2014/main" val="2070616518"/>
                    </a:ext>
                  </a:extLst>
                </a:gridCol>
                <a:gridCol w="724708">
                  <a:extLst>
                    <a:ext uri="{9D8B030D-6E8A-4147-A177-3AD203B41FA5}">
                      <a16:colId xmlns:a16="http://schemas.microsoft.com/office/drawing/2014/main" val="1098004284"/>
                    </a:ext>
                  </a:extLst>
                </a:gridCol>
                <a:gridCol w="447497">
                  <a:extLst>
                    <a:ext uri="{9D8B030D-6E8A-4147-A177-3AD203B41FA5}">
                      <a16:colId xmlns:a16="http://schemas.microsoft.com/office/drawing/2014/main" val="403115575"/>
                    </a:ext>
                  </a:extLst>
                </a:gridCol>
                <a:gridCol w="3041774">
                  <a:extLst>
                    <a:ext uri="{9D8B030D-6E8A-4147-A177-3AD203B41FA5}">
                      <a16:colId xmlns:a16="http://schemas.microsoft.com/office/drawing/2014/main" val="3937998067"/>
                    </a:ext>
                  </a:extLst>
                </a:gridCol>
              </a:tblGrid>
              <a:tr h="245996">
                <a:tc gridSpan="5">
                  <a:txBody>
                    <a:bodyPr/>
                    <a:lstStyle/>
                    <a:p>
                      <a:pPr algn="ctr"/>
                      <a:r>
                        <a:rPr lang="en-US" sz="9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#3 Final ground risk class determination</a:t>
                      </a:r>
                      <a:endParaRPr lang="zh-CN" sz="800" kern="10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734994634"/>
                  </a:ext>
                </a:extLst>
              </a:tr>
              <a:tr h="566959">
                <a:tc rowSpan="8">
                  <a:txBody>
                    <a:bodyPr/>
                    <a:lstStyle/>
                    <a:p>
                      <a:pPr algn="l"/>
                      <a:r>
                        <a:rPr lang="en-US" altLang="zh-CN"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#3.1</a:t>
                      </a:r>
                      <a:endParaRPr lang="zh-CN" altLang="zh-CN" sz="800" kern="100" dirty="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rowSpan="8">
                  <a:txBody>
                    <a:bodyPr/>
                    <a:lstStyle/>
                    <a:p>
                      <a:pPr algn="l"/>
                      <a: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Specify the applied ground risk mitigations</a:t>
                      </a:r>
                      <a:b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br>
                      <a: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(if applicable)</a:t>
                      </a:r>
                      <a:endParaRPr lang="zh-CN" sz="800" kern="100" dirty="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gridSpan="3">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M1 (A) strategic mitigation - sheltering Specify the level of robustness:</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54946596"/>
                  </a:ext>
                </a:extLst>
              </a:tr>
              <a:tr h="593574">
                <a:tc vMerge="1">
                  <a:txBody>
                    <a:bodyPr/>
                    <a:lstStyle/>
                    <a:p>
                      <a:endParaRPr lang="zh-CN" altLang="en-US"/>
                    </a:p>
                  </a:txBody>
                  <a:tcPr/>
                </a:tc>
                <a:tc vMerge="1">
                  <a:txBody>
                    <a:bodyPr/>
                    <a:lstStyle/>
                    <a:p>
                      <a:endParaRPr lang="zh-CN" altLang="en-US"/>
                    </a:p>
                  </a:txBody>
                  <a:tcPr/>
                </a:tc>
                <a:tc>
                  <a:txBody>
                    <a:bodyPr/>
                    <a:lstStyle/>
                    <a:p>
                      <a:pPr algn="l"/>
                      <a:r>
                        <a:rPr lang="en-US" sz="9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Medium</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dirty="0">
                          <a:solidFill>
                            <a:srgbClr val="000000"/>
                          </a:solidFill>
                          <a:effectLst/>
                          <a:latin typeface="Segoe UI Symbol" panose="020B0502040204020203" pitchFamily="34" charset="0"/>
                          <a:ea typeface="宋体" panose="02010600030101010101" pitchFamily="2" charset="-122"/>
                          <a:cs typeface="Segoe UI Symbol" panose="020B0502040204020203" pitchFamily="34" charset="0"/>
                        </a:rPr>
                        <a:t>☑</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High</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22699753"/>
                  </a:ext>
                </a:extLst>
              </a:tr>
              <a:tr h="566959">
                <a:tc vMerge="1">
                  <a:txBody>
                    <a:bodyPr/>
                    <a:lstStyle/>
                    <a:p>
                      <a:endParaRPr lang="zh-CN" altLang="en-US"/>
                    </a:p>
                  </a:txBody>
                  <a:tcPr/>
                </a:tc>
                <a:tc vMerge="1">
                  <a:txBody>
                    <a:bodyPr/>
                    <a:lstStyle/>
                    <a:p>
                      <a:endParaRPr lang="zh-CN" altLang="en-US"/>
                    </a:p>
                  </a:txBody>
                  <a:tcPr/>
                </a:tc>
                <a:tc gridSpan="3">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M1 (B) strategic mitigation – operational restrictions Specify the level of robustness:</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56411168"/>
                  </a:ext>
                </a:extLst>
              </a:tr>
              <a:tr h="593574">
                <a:tc vMerge="1">
                  <a:txBody>
                    <a:bodyPr/>
                    <a:lstStyle/>
                    <a:p>
                      <a:endParaRPr lang="zh-CN" altLang="en-US"/>
                    </a:p>
                  </a:txBody>
                  <a:tcPr/>
                </a:tc>
                <a:tc vMerge="1">
                  <a:txBody>
                    <a:bodyPr/>
                    <a:lstStyle/>
                    <a:p>
                      <a:endParaRPr lang="zh-CN" altLang="en-US"/>
                    </a:p>
                  </a:txBody>
                  <a:tcPr/>
                </a:tc>
                <a:tc>
                  <a:txBody>
                    <a:bodyPr/>
                    <a:lstStyle/>
                    <a:p>
                      <a:pPr algn="l"/>
                      <a:r>
                        <a:rPr lang="en-US" sz="9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dirty="0">
                          <a:solidFill>
                            <a:srgbClr val="000000"/>
                          </a:solidFill>
                          <a:effectLst/>
                          <a:latin typeface="Segoe UI Symbol" panose="020B0502040204020203" pitchFamily="34" charset="0"/>
                          <a:ea typeface="宋体" panose="02010600030101010101" pitchFamily="2" charset="-122"/>
                          <a:cs typeface="Segoe UI Symbol" panose="020B0502040204020203" pitchFamily="34" charset="0"/>
                        </a:rPr>
                        <a:t>☑</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Medium</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dirty="0">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dirty="0">
                          <a:effectLst/>
                          <a:latin typeface="Calibri" panose="020F0502020204030204" pitchFamily="34" charset="0"/>
                          <a:ea typeface="宋体" panose="02010600030101010101" pitchFamily="2" charset="-122"/>
                          <a:cs typeface="Times New Roman" panose="02020603050405020304" pitchFamily="18" charset="0"/>
                        </a:rPr>
                        <a:t>High</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8937969"/>
                  </a:ext>
                </a:extLst>
              </a:tr>
              <a:tr h="566959">
                <a:tc vMerge="1">
                  <a:txBody>
                    <a:bodyPr/>
                    <a:lstStyle/>
                    <a:p>
                      <a:endParaRPr lang="zh-CN" altLang="en-US"/>
                    </a:p>
                  </a:txBody>
                  <a:tcPr/>
                </a:tc>
                <a:tc vMerge="1">
                  <a:txBody>
                    <a:bodyPr/>
                    <a:lstStyle/>
                    <a:p>
                      <a:endParaRPr lang="zh-CN" altLang="en-US"/>
                    </a:p>
                  </a:txBody>
                  <a:tcPr/>
                </a:tc>
                <a:tc gridSpan="3">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M1 (C) tactical mitigation – ground observation Specify the level of robustness:</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371806356"/>
                  </a:ext>
                </a:extLst>
              </a:tr>
              <a:tr h="138526">
                <a:tc vMerge="1">
                  <a:txBody>
                    <a:bodyPr/>
                    <a:lstStyle/>
                    <a:p>
                      <a:endParaRPr lang="zh-CN" altLang="en-US"/>
                    </a:p>
                  </a:txBody>
                  <a:tcPr/>
                </a:tc>
                <a:tc vMerge="1">
                  <a:txBody>
                    <a:bodyPr/>
                    <a:lstStyle/>
                    <a:p>
                      <a:endParaRPr lang="zh-CN" altLang="en-US"/>
                    </a:p>
                  </a:txBody>
                  <a:tcPr/>
                </a:tc>
                <a:tc>
                  <a:txBody>
                    <a:bodyPr/>
                    <a:lstStyle/>
                    <a:p>
                      <a:pPr algn="l"/>
                      <a:r>
                        <a:rPr lang="en-US" sz="9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9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Low</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zh-CN"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3796698"/>
                  </a:ext>
                </a:extLst>
              </a:tr>
              <a:tr h="566959">
                <a:tc vMerge="1">
                  <a:txBody>
                    <a:bodyPr/>
                    <a:lstStyle/>
                    <a:p>
                      <a:endParaRPr lang="zh-CN" altLang="en-US"/>
                    </a:p>
                  </a:txBody>
                  <a:tcPr/>
                </a:tc>
                <a:tc vMerge="1">
                  <a:txBody>
                    <a:bodyPr/>
                    <a:lstStyle/>
                    <a:p>
                      <a:endParaRPr lang="zh-CN" altLang="en-US"/>
                    </a:p>
                  </a:txBody>
                  <a:tcPr/>
                </a:tc>
                <a:tc gridSpan="3">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M2 Effects on UA impact dynamics are reduced Specify the level of robustness:</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52148882"/>
                  </a:ext>
                </a:extLst>
              </a:tr>
              <a:tr h="593574">
                <a:tc vMerge="1">
                  <a:txBody>
                    <a:bodyPr/>
                    <a:lstStyle/>
                    <a:p>
                      <a:endParaRPr lang="zh-CN" altLang="en-US"/>
                    </a:p>
                  </a:txBody>
                  <a:tcPr/>
                </a:tc>
                <a:tc vMerge="1">
                  <a:txBody>
                    <a:bodyPr/>
                    <a:lstStyle/>
                    <a:p>
                      <a:endParaRPr lang="zh-CN" altLang="en-US"/>
                    </a:p>
                  </a:txBody>
                  <a:tcPr/>
                </a:tc>
                <a:tc>
                  <a:txBody>
                    <a:bodyPr/>
                    <a:lstStyle/>
                    <a:p>
                      <a:pPr algn="l"/>
                      <a:r>
                        <a:rPr lang="en-US" sz="9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None</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900" kern="0" dirty="0">
                          <a:solidFill>
                            <a:srgbClr val="000000"/>
                          </a:solidFill>
                          <a:effectLst/>
                          <a:latin typeface="Segoe UI Symbol" panose="020B0502040204020203" pitchFamily="34" charset="0"/>
                          <a:ea typeface="宋体" panose="02010600030101010101" pitchFamily="2" charset="-122"/>
                          <a:cs typeface="Segoe UI Symbol" panose="020B0502040204020203" pitchFamily="34" charset="0"/>
                        </a:rPr>
                        <a:t>☑</a:t>
                      </a: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Medium</a:t>
                      </a:r>
                      <a:endParaRPr lang="zh-CN" altLang="en-US" dirty="0"/>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r>
                        <a:rPr lang="en-US" sz="900" kern="0" dirty="0">
                          <a:effectLst/>
                          <a:latin typeface="Segoe UI Symbol" panose="020B0502040204020203" pitchFamily="34" charset="0"/>
                          <a:ea typeface="宋体" panose="02010600030101010101" pitchFamily="2" charset="-122"/>
                          <a:cs typeface="Times New Roman" panose="02020603050405020304" pitchFamily="18" charset="0"/>
                        </a:rPr>
                        <a:t>☐</a:t>
                      </a:r>
                      <a:r>
                        <a:rPr lang="en-US" sz="900" kern="0" dirty="0">
                          <a:effectLst/>
                          <a:latin typeface="Calibri" panose="020F0502020204030204" pitchFamily="34" charset="0"/>
                          <a:ea typeface="宋体" panose="02010600030101010101" pitchFamily="2" charset="-122"/>
                          <a:cs typeface="Times New Roman" panose="02020603050405020304" pitchFamily="18" charset="0"/>
                        </a:rPr>
                        <a:t>High</a:t>
                      </a:r>
                      <a:endParaRPr lang="zh-CN" altLang="en-US" dirty="0"/>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14147211"/>
                  </a:ext>
                </a:extLst>
              </a:tr>
              <a:tr h="277052">
                <a:tc>
                  <a:txBody>
                    <a:bodyPr/>
                    <a:lstStyle/>
                    <a:p>
                      <a:pPr algn="l"/>
                      <a:r>
                        <a:rPr lang="en-US" sz="9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#3.2</a:t>
                      </a:r>
                      <a:endParaRPr lang="zh-CN" sz="800" kern="100" dirty="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Specify the final ground risk class</a:t>
                      </a:r>
                      <a:endParaRPr lang="zh-CN" sz="80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55515" marR="555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gridSpan="3">
                  <a:txBody>
                    <a:bodyPr/>
                    <a:lstStyle/>
                    <a:p>
                      <a:pPr algn="ct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Final GRC = 2</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106411" marR="106411" marT="53205" marB="5320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54656660"/>
                  </a:ext>
                </a:extLst>
              </a:tr>
            </a:tbl>
          </a:graphicData>
        </a:graphic>
      </p:graphicFrame>
      <p:sp>
        <p:nvSpPr>
          <p:cNvPr id="9" name="文本框 8">
            <a:extLst>
              <a:ext uri="{FF2B5EF4-FFF2-40B4-BE49-F238E27FC236}">
                <a16:creationId xmlns:a16="http://schemas.microsoft.com/office/drawing/2014/main" id="{8900F1A2-B3D6-53EE-E690-DCD7FF994690}"/>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Ground Risk Assessment Results</a:t>
            </a:r>
          </a:p>
        </p:txBody>
      </p:sp>
      <p:sp>
        <p:nvSpPr>
          <p:cNvPr id="10" name="文本框 9">
            <a:extLst>
              <a:ext uri="{FF2B5EF4-FFF2-40B4-BE49-F238E27FC236}">
                <a16:creationId xmlns:a16="http://schemas.microsoft.com/office/drawing/2014/main" id="{CC1F793B-803D-03CA-407A-A9A097398D23}"/>
              </a:ext>
            </a:extLst>
          </p:cNvPr>
          <p:cNvSpPr txBox="1"/>
          <p:nvPr/>
        </p:nvSpPr>
        <p:spPr>
          <a:xfrm>
            <a:off x="442913" y="6253238"/>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Final Ground Risk Class: 2</a:t>
            </a:r>
          </a:p>
        </p:txBody>
      </p:sp>
    </p:spTree>
    <p:extLst>
      <p:ext uri="{BB962C8B-B14F-4D97-AF65-F5344CB8AC3E}">
        <p14:creationId xmlns:p14="http://schemas.microsoft.com/office/powerpoint/2010/main" val="1764729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3D63B977-72A5-1E37-232E-6330017D20B9}"/>
              </a:ext>
            </a:extLst>
          </p:cNvPr>
          <p:cNvGraphicFramePr>
            <a:graphicFrameLocks noGrp="1"/>
          </p:cNvGraphicFramePr>
          <p:nvPr/>
        </p:nvGraphicFramePr>
        <p:xfrm>
          <a:off x="516449" y="1411605"/>
          <a:ext cx="7357551" cy="2017395"/>
        </p:xfrm>
        <a:graphic>
          <a:graphicData uri="http://schemas.openxmlformats.org/drawingml/2006/table">
            <a:tbl>
              <a:tblPr firstRow="1" firstCol="1" bandRow="1"/>
              <a:tblGrid>
                <a:gridCol w="1280626">
                  <a:extLst>
                    <a:ext uri="{9D8B030D-6E8A-4147-A177-3AD203B41FA5}">
                      <a16:colId xmlns:a16="http://schemas.microsoft.com/office/drawing/2014/main" val="3489962234"/>
                    </a:ext>
                  </a:extLst>
                </a:gridCol>
                <a:gridCol w="2138078">
                  <a:extLst>
                    <a:ext uri="{9D8B030D-6E8A-4147-A177-3AD203B41FA5}">
                      <a16:colId xmlns:a16="http://schemas.microsoft.com/office/drawing/2014/main" val="4284764667"/>
                    </a:ext>
                  </a:extLst>
                </a:gridCol>
                <a:gridCol w="1280626">
                  <a:extLst>
                    <a:ext uri="{9D8B030D-6E8A-4147-A177-3AD203B41FA5}">
                      <a16:colId xmlns:a16="http://schemas.microsoft.com/office/drawing/2014/main" val="3268311146"/>
                    </a:ext>
                  </a:extLst>
                </a:gridCol>
                <a:gridCol w="912395">
                  <a:extLst>
                    <a:ext uri="{9D8B030D-6E8A-4147-A177-3AD203B41FA5}">
                      <a16:colId xmlns:a16="http://schemas.microsoft.com/office/drawing/2014/main" val="2859390906"/>
                    </a:ext>
                  </a:extLst>
                </a:gridCol>
                <a:gridCol w="1745826">
                  <a:extLst>
                    <a:ext uri="{9D8B030D-6E8A-4147-A177-3AD203B41FA5}">
                      <a16:colId xmlns:a16="http://schemas.microsoft.com/office/drawing/2014/main" val="1988535052"/>
                    </a:ext>
                  </a:extLst>
                </a:gridCol>
              </a:tblGrid>
              <a:tr h="198755">
                <a:tc gridSpan="5">
                  <a:txBody>
                    <a:bodyPr/>
                    <a:lstStyle/>
                    <a:p>
                      <a:pPr algn="ctr"/>
                      <a:r>
                        <a:rPr lang="en-US" sz="900" b="1" kern="0" dirty="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#4 Initial air risk class</a:t>
                      </a:r>
                      <a:endParaRPr lang="zh-CN" sz="900" kern="100" dirty="0">
                        <a:effectLst/>
                        <a:highlight>
                          <a:srgbClr val="BFBFBF"/>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7895931"/>
                  </a:ext>
                </a:extLst>
              </a:tr>
              <a:tr h="340995">
                <a:tc rowSpan="3">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#4.1</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rowSpan="3">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Classification of the airspace where the operation is intended to be conducted</a:t>
                      </a:r>
                      <a:b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br>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(multiple answers possible)</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gridSpan="3">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 ☐</a:t>
                      </a:r>
                      <a:r>
                        <a:rPr lang="en-US" sz="9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B </a:t>
                      </a: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sz="9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r>
                        <a:rPr lang="en-US" sz="9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a:t>
                      </a:r>
                      <a:r>
                        <a:rPr lang="en-US" sz="9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sz="900" kern="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 </a:t>
                      </a: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☑G</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557286762"/>
                  </a:ext>
                </a:extLst>
              </a:tr>
              <a:tr h="340995">
                <a:tc vMerge="1">
                  <a:txBody>
                    <a:bodyPr/>
                    <a:lstStyle/>
                    <a:p>
                      <a:endParaRPr lang="zh-CN" altLang="en-US"/>
                    </a:p>
                  </a:txBody>
                  <a:tcPr/>
                </a:tc>
                <a:tc vMerge="1">
                  <a:txBody>
                    <a:bodyPr/>
                    <a:lstStyle/>
                    <a:p>
                      <a:endParaRPr lang="zh-CN" altLang="en-US"/>
                    </a:p>
                  </a:txBody>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☐Restricted area (ED-R)</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noFill/>
                  </a:tcPr>
                </a:tc>
                <a:tc gridSpan="2">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☐Danger area (ED-D)</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noFill/>
                  </a:tcPr>
                </a:tc>
                <a:tc hMerge="1">
                  <a:txBody>
                    <a:bodyPr/>
                    <a:lstStyle/>
                    <a:p>
                      <a:endParaRPr lang="zh-CN" altLang="en-US"/>
                    </a:p>
                  </a:txBody>
                  <a:tcPr/>
                </a:tc>
                <a:extLst>
                  <a:ext uri="{0D108BD9-81ED-4DB2-BD59-A6C34878D82A}">
                    <a16:rowId xmlns:a16="http://schemas.microsoft.com/office/drawing/2014/main" val="3257693979"/>
                  </a:ext>
                </a:extLst>
              </a:tr>
              <a:tr h="340995">
                <a:tc vMerge="1">
                  <a:txBody>
                    <a:bodyPr/>
                    <a:lstStyle/>
                    <a:p>
                      <a:endParaRPr lang="zh-CN" altLang="en-US"/>
                    </a:p>
                  </a:txBody>
                  <a:tcPr/>
                </a:tc>
                <a:tc vMerge="1">
                  <a:txBody>
                    <a:bodyPr/>
                    <a:lstStyle/>
                    <a:p>
                      <a:endParaRPr lang="zh-CN" altLang="en-US"/>
                    </a:p>
                  </a:txBody>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☐TMZ</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☐RMZ</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ATZ</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5669327"/>
                  </a:ext>
                </a:extLst>
              </a:tr>
              <a:tr h="340995">
                <a:tc rowSpan="2">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#4.2</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rowSpan="2">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Specify the initial air risk class and the reasoning for choosing it</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Operational volume</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gridSpan="2">
                  <a:txBody>
                    <a:bodyPr/>
                    <a:lstStyle/>
                    <a:p>
                      <a:pPr algn="ct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Adjacent airspace</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hMerge="1">
                  <a:txBody>
                    <a:bodyPr/>
                    <a:lstStyle/>
                    <a:p>
                      <a:endParaRPr lang="zh-CN" altLang="en-US"/>
                    </a:p>
                  </a:txBody>
                  <a:tcPr/>
                </a:tc>
                <a:extLst>
                  <a:ext uri="{0D108BD9-81ED-4DB2-BD59-A6C34878D82A}">
                    <a16:rowId xmlns:a16="http://schemas.microsoft.com/office/drawing/2014/main" val="1513101573"/>
                  </a:ext>
                </a:extLst>
              </a:tr>
              <a:tr h="454660">
                <a:tc vMerge="1">
                  <a:txBody>
                    <a:bodyPr/>
                    <a:lstStyle/>
                    <a:p>
                      <a:endParaRPr lang="zh-CN" altLang="en-US"/>
                    </a:p>
                  </a:txBody>
                  <a:tcPr/>
                </a:tc>
                <a:tc vMerge="1">
                  <a:txBody>
                    <a:bodyPr/>
                    <a:lstStyle/>
                    <a:p>
                      <a:endParaRPr lang="zh-CN" altLang="en-US"/>
                    </a:p>
                  </a:txBody>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☐ARC-a  ☐ARC-b</a:t>
                      </a:r>
                      <a:b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☑ARC-c  ☐ARC-d</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gridSpan="2">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☐ARC-a  ☐ARC-b</a:t>
                      </a:r>
                      <a:b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☑ARC-c  ☐ARC-d</a:t>
                      </a:r>
                      <a:endParaRPr lang="zh-CN" sz="9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a16="http://schemas.microsoft.com/office/drawing/2014/main" val="4265887474"/>
                  </a:ext>
                </a:extLst>
              </a:tr>
            </a:tbl>
          </a:graphicData>
        </a:graphic>
      </p:graphicFrame>
      <p:graphicFrame>
        <p:nvGraphicFramePr>
          <p:cNvPr id="10" name="表格 9">
            <a:extLst>
              <a:ext uri="{FF2B5EF4-FFF2-40B4-BE49-F238E27FC236}">
                <a16:creationId xmlns:a16="http://schemas.microsoft.com/office/drawing/2014/main" id="{D8D5612F-94FF-608D-F345-93DADEAE23B0}"/>
              </a:ext>
            </a:extLst>
          </p:cNvPr>
          <p:cNvGraphicFramePr>
            <a:graphicFrameLocks noGrp="1"/>
          </p:cNvGraphicFramePr>
          <p:nvPr/>
        </p:nvGraphicFramePr>
        <p:xfrm>
          <a:off x="516449" y="3547207"/>
          <a:ext cx="7357551" cy="1216194"/>
        </p:xfrm>
        <a:graphic>
          <a:graphicData uri="http://schemas.openxmlformats.org/drawingml/2006/table">
            <a:tbl>
              <a:tblPr firstRow="1" firstCol="1" bandRow="1"/>
              <a:tblGrid>
                <a:gridCol w="551492">
                  <a:extLst>
                    <a:ext uri="{9D8B030D-6E8A-4147-A177-3AD203B41FA5}">
                      <a16:colId xmlns:a16="http://schemas.microsoft.com/office/drawing/2014/main" val="1050819340"/>
                    </a:ext>
                  </a:extLst>
                </a:gridCol>
                <a:gridCol w="2966703">
                  <a:extLst>
                    <a:ext uri="{9D8B030D-6E8A-4147-A177-3AD203B41FA5}">
                      <a16:colId xmlns:a16="http://schemas.microsoft.com/office/drawing/2014/main" val="3166728031"/>
                    </a:ext>
                  </a:extLst>
                </a:gridCol>
                <a:gridCol w="3839356">
                  <a:extLst>
                    <a:ext uri="{9D8B030D-6E8A-4147-A177-3AD203B41FA5}">
                      <a16:colId xmlns:a16="http://schemas.microsoft.com/office/drawing/2014/main" val="998220085"/>
                    </a:ext>
                  </a:extLst>
                </a:gridCol>
              </a:tblGrid>
              <a:tr h="207097">
                <a:tc gridSpan="3">
                  <a:txBody>
                    <a:bodyPr/>
                    <a:lstStyle/>
                    <a:p>
                      <a:pPr algn="ctr"/>
                      <a:r>
                        <a:rPr lang="en-US" sz="9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#5 Strategic air risk mitigations and final air risk class</a:t>
                      </a:r>
                      <a:endParaRPr lang="zh-CN" sz="900" kern="100">
                        <a:effectLst/>
                        <a:highlight>
                          <a:srgbClr val="BFBFBF"/>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821794765"/>
                  </a:ext>
                </a:extLst>
              </a:tr>
              <a:tr h="429386">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#5.1</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Specify, if strategic mitigations of the air risk class were applied</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☑Yes   ☐No</a:t>
                      </a:r>
                      <a:endParaRPr lang="zh-CN" sz="900" kern="10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25790232"/>
                  </a:ext>
                </a:extLst>
              </a:tr>
              <a:tr h="579711">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#5.2</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Residual air risk class</a:t>
                      </a:r>
                      <a:b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br>
                      <a:r>
                        <a:rPr lang="en-US" sz="9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(after strategic mitigation)</a:t>
                      </a:r>
                      <a:endParaRPr lang="zh-CN" sz="900" kern="100">
                        <a:effectLst/>
                        <a:highlight>
                          <a:srgbClr val="DCE6F1"/>
                        </a:highligh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9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☐ARC-a   ☑ARC-b   ☐ARC-c   ☐ARC-d</a:t>
                      </a:r>
                      <a:endParaRPr lang="zh-CN" sz="900" kern="100" dirty="0">
                        <a:effectLst/>
                        <a:latin typeface="Times New Roman" panose="02020603050405020304" pitchFamily="18" charset="0"/>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6778054"/>
                  </a:ext>
                </a:extLst>
              </a:tr>
            </a:tbl>
          </a:graphicData>
        </a:graphic>
      </p:graphicFrame>
      <p:sp>
        <p:nvSpPr>
          <p:cNvPr id="6" name="标题 1">
            <a:extLst>
              <a:ext uri="{FF2B5EF4-FFF2-40B4-BE49-F238E27FC236}">
                <a16:creationId xmlns:a16="http://schemas.microsoft.com/office/drawing/2014/main" id="{62227FE1-3212-227A-6C60-ED537D2F704F}"/>
              </a:ext>
            </a:extLst>
          </p:cNvPr>
          <p:cNvSpPr txBox="1">
            <a:spLocks/>
          </p:cNvSpPr>
          <p:nvPr/>
        </p:nvSpPr>
        <p:spPr>
          <a:xfrm>
            <a:off x="1199706" y="202094"/>
            <a:ext cx="5429694" cy="7631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7.1 Comprehensive Safety Portfolio</a:t>
            </a:r>
            <a:endParaRPr lang="en-GB" dirty="0"/>
          </a:p>
        </p:txBody>
      </p:sp>
      <p:sp>
        <p:nvSpPr>
          <p:cNvPr id="7" name="文本框 6">
            <a:extLst>
              <a:ext uri="{FF2B5EF4-FFF2-40B4-BE49-F238E27FC236}">
                <a16:creationId xmlns:a16="http://schemas.microsoft.com/office/drawing/2014/main" id="{27A1D7D8-6A99-AACE-046A-123C030998FF}"/>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Air Risk Assessment Results</a:t>
            </a:r>
          </a:p>
        </p:txBody>
      </p:sp>
      <p:sp>
        <p:nvSpPr>
          <p:cNvPr id="9" name="文本框 8">
            <a:extLst>
              <a:ext uri="{FF2B5EF4-FFF2-40B4-BE49-F238E27FC236}">
                <a16:creationId xmlns:a16="http://schemas.microsoft.com/office/drawing/2014/main" id="{0E1921A6-5646-50A8-8816-0B658F329272}"/>
              </a:ext>
            </a:extLst>
          </p:cNvPr>
          <p:cNvSpPr txBox="1"/>
          <p:nvPr/>
        </p:nvSpPr>
        <p:spPr>
          <a:xfrm>
            <a:off x="442913" y="5046285"/>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Final Air Risk Class: ARC-B</a:t>
            </a:r>
          </a:p>
        </p:txBody>
      </p:sp>
    </p:spTree>
    <p:extLst>
      <p:ext uri="{BB962C8B-B14F-4D97-AF65-F5344CB8AC3E}">
        <p14:creationId xmlns:p14="http://schemas.microsoft.com/office/powerpoint/2010/main" val="7712762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66100AA3-DDD6-C8CA-3AB9-2F85467D9DAB}"/>
              </a:ext>
            </a:extLst>
          </p:cNvPr>
          <p:cNvGraphicFramePr>
            <a:graphicFrameLocks noGrp="1"/>
          </p:cNvGraphicFramePr>
          <p:nvPr>
            <p:extLst>
              <p:ext uri="{D42A27DB-BD31-4B8C-83A1-F6EECF244321}">
                <p14:modId xmlns:p14="http://schemas.microsoft.com/office/powerpoint/2010/main" val="1226744569"/>
              </p:ext>
            </p:extLst>
          </p:nvPr>
        </p:nvGraphicFramePr>
        <p:xfrm>
          <a:off x="442913" y="1531431"/>
          <a:ext cx="8502545" cy="4238042"/>
        </p:xfrm>
        <a:graphic>
          <a:graphicData uri="http://schemas.openxmlformats.org/drawingml/2006/table">
            <a:tbl>
              <a:tblPr firstRow="1" firstCol="1" bandRow="1"/>
              <a:tblGrid>
                <a:gridCol w="637317">
                  <a:extLst>
                    <a:ext uri="{9D8B030D-6E8A-4147-A177-3AD203B41FA5}">
                      <a16:colId xmlns:a16="http://schemas.microsoft.com/office/drawing/2014/main" val="3326027335"/>
                    </a:ext>
                  </a:extLst>
                </a:gridCol>
                <a:gridCol w="3428385">
                  <a:extLst>
                    <a:ext uri="{9D8B030D-6E8A-4147-A177-3AD203B41FA5}">
                      <a16:colId xmlns:a16="http://schemas.microsoft.com/office/drawing/2014/main" val="3239662209"/>
                    </a:ext>
                  </a:extLst>
                </a:gridCol>
                <a:gridCol w="4436843">
                  <a:extLst>
                    <a:ext uri="{9D8B030D-6E8A-4147-A177-3AD203B41FA5}">
                      <a16:colId xmlns:a16="http://schemas.microsoft.com/office/drawing/2014/main" val="2310358894"/>
                    </a:ext>
                  </a:extLst>
                </a:gridCol>
              </a:tblGrid>
              <a:tr h="324271">
                <a:tc gridSpan="3">
                  <a:txBody>
                    <a:bodyPr/>
                    <a:lstStyle/>
                    <a:p>
                      <a:pPr algn="ctr"/>
                      <a:r>
                        <a:rPr lang="en-US" sz="1200" b="1" kern="0" dirty="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#6 TMPR and robustness level</a:t>
                      </a:r>
                      <a:endParaRPr lang="zh-CN" sz="1050" kern="100" dirty="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942276694"/>
                  </a:ext>
                </a:extLst>
              </a:tr>
              <a:tr h="972813">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#6</a:t>
                      </a:r>
                      <a:endParaRPr lang="zh-CN" sz="105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Tactical mitigations performance Requirements</a:t>
                      </a:r>
                      <a:endParaRPr lang="zh-CN" sz="105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VLOS  </a:t>
                      </a:r>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BVLOS  </a:t>
                      </a:r>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No requirement (ARC-a)  </a:t>
                      </a:r>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Low (ARC-b)</a:t>
                      </a:r>
                      <a:b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Medium (ARC-c)  </a:t>
                      </a:r>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High (ARC-d)</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9206332"/>
                  </a:ext>
                </a:extLst>
              </a:tr>
              <a:tr h="332153">
                <a:tc gridSpan="3">
                  <a:txBody>
                    <a:bodyPr/>
                    <a:lstStyle/>
                    <a:p>
                      <a:pPr algn="ctr"/>
                      <a:r>
                        <a:rPr lang="en-US" sz="12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#7 SAIL determination</a:t>
                      </a:r>
                      <a:endParaRPr lang="zh-CN" sz="1050" kern="10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53971176"/>
                  </a:ext>
                </a:extLst>
              </a:tr>
              <a:tr h="648542">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#7</a:t>
                      </a:r>
                      <a:endParaRPr lang="zh-CN" sz="105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Specific Assurance and Integrity Level</a:t>
                      </a:r>
                      <a:endParaRPr lang="zh-CN" sz="105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12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SAIL I  </a:t>
                      </a:r>
                      <a:r>
                        <a:rPr lang="en-US" sz="12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SAIL II  </a:t>
                      </a:r>
                      <a:r>
                        <a:rPr lang="en-US" sz="12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SAIL III  </a:t>
                      </a:r>
                      <a:r>
                        <a:rPr lang="en-US" sz="12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SAIL IV</a:t>
                      </a:r>
                      <a:b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br>
                      <a:r>
                        <a:rPr lang="en-US" sz="12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SAIL V  </a:t>
                      </a:r>
                      <a:r>
                        <a:rPr lang="en-US" sz="1200" kern="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SAIL VI</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05850578"/>
                  </a:ext>
                </a:extLst>
              </a:tr>
              <a:tr h="324271">
                <a:tc gridSpan="3">
                  <a:txBody>
                    <a:bodyPr/>
                    <a:lstStyle/>
                    <a:p>
                      <a:pPr algn="ctr"/>
                      <a:r>
                        <a:rPr lang="en-US" sz="12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#8 Determination of containment requirements</a:t>
                      </a:r>
                      <a:endParaRPr lang="zh-CN" sz="1050" kern="10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86890913"/>
                  </a:ext>
                </a:extLst>
              </a:tr>
              <a:tr h="604630">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#8</a:t>
                      </a:r>
                      <a:endParaRPr lang="zh-CN" sz="105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Containment</a:t>
                      </a:r>
                      <a:endParaRPr lang="zh-CN" sz="105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Low   </a:t>
                      </a:r>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Medium    </a:t>
                      </a:r>
                      <a:r>
                        <a:rPr lang="en-US" sz="1200" kern="0" dirty="0">
                          <a:solidFill>
                            <a:srgbClr val="000000"/>
                          </a:solidFill>
                          <a:effectLst/>
                          <a:latin typeface="Segoe UI Symbol" panose="020B0502040204020203" pitchFamily="34" charset="0"/>
                          <a:ea typeface="宋体" panose="02010600030101010101" pitchFamily="2" charset="-122"/>
                          <a:cs typeface="Times New Roman" panose="02020603050405020304" pitchFamily="18" charset="0"/>
                        </a:rPr>
                        <a:t>☐</a:t>
                      </a: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High</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72570013"/>
                  </a:ext>
                </a:extLst>
              </a:tr>
              <a:tr h="382820">
                <a:tc gridSpan="3">
                  <a:txBody>
                    <a:bodyPr/>
                    <a:lstStyle/>
                    <a:p>
                      <a:pPr algn="ctr"/>
                      <a:r>
                        <a:rPr lang="en-US" sz="12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Step #9 Identification of operational safety objectives (OSOs)</a:t>
                      </a:r>
                      <a:endParaRPr lang="zh-CN" sz="1050" kern="10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46442213"/>
                  </a:ext>
                </a:extLst>
              </a:tr>
              <a:tr h="648542">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#9</a:t>
                      </a:r>
                      <a:endParaRPr lang="zh-CN" sz="1050"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l"/>
                      <a:r>
                        <a:rPr lang="en-US" sz="12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Operational safety objectives</a:t>
                      </a:r>
                      <a:endParaRPr lang="zh-CN" sz="1050" kern="100" dirty="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ct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As per SAIL II requirements. OSOs defined in section 10.</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32109557"/>
                  </a:ext>
                </a:extLst>
              </a:tr>
            </a:tbl>
          </a:graphicData>
        </a:graphic>
      </p:graphicFrame>
      <p:sp>
        <p:nvSpPr>
          <p:cNvPr id="7" name="标题 1">
            <a:extLst>
              <a:ext uri="{FF2B5EF4-FFF2-40B4-BE49-F238E27FC236}">
                <a16:creationId xmlns:a16="http://schemas.microsoft.com/office/drawing/2014/main" id="{651F3B4D-5360-4563-3B61-A09915A1909F}"/>
              </a:ext>
            </a:extLst>
          </p:cNvPr>
          <p:cNvSpPr txBox="1">
            <a:spLocks/>
          </p:cNvSpPr>
          <p:nvPr/>
        </p:nvSpPr>
        <p:spPr>
          <a:xfrm>
            <a:off x="1199706" y="202094"/>
            <a:ext cx="5429694" cy="7631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7.1 Comprehensive Safety Portfolio</a:t>
            </a:r>
            <a:endParaRPr lang="en-GB" dirty="0"/>
          </a:p>
        </p:txBody>
      </p:sp>
      <p:sp>
        <p:nvSpPr>
          <p:cNvPr id="9" name="文本框 8">
            <a:extLst>
              <a:ext uri="{FF2B5EF4-FFF2-40B4-BE49-F238E27FC236}">
                <a16:creationId xmlns:a16="http://schemas.microsoft.com/office/drawing/2014/main" id="{D7A78D86-AC5A-869E-E51C-4FC4276C404D}"/>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Safety Level &amp; Compliance</a:t>
            </a:r>
          </a:p>
        </p:txBody>
      </p:sp>
      <p:sp>
        <p:nvSpPr>
          <p:cNvPr id="10" name="文本框 9">
            <a:extLst>
              <a:ext uri="{FF2B5EF4-FFF2-40B4-BE49-F238E27FC236}">
                <a16:creationId xmlns:a16="http://schemas.microsoft.com/office/drawing/2014/main" id="{FD5D96E8-A620-96D4-0AEF-84543AEEB28A}"/>
              </a:ext>
            </a:extLst>
          </p:cNvPr>
          <p:cNvSpPr txBox="1"/>
          <p:nvPr/>
        </p:nvSpPr>
        <p:spPr>
          <a:xfrm>
            <a:off x="442913" y="5884794"/>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Compliance Confirmation: All safety requirements have been described and met</a:t>
            </a:r>
          </a:p>
        </p:txBody>
      </p:sp>
    </p:spTree>
    <p:extLst>
      <p:ext uri="{BB962C8B-B14F-4D97-AF65-F5344CB8AC3E}">
        <p14:creationId xmlns:p14="http://schemas.microsoft.com/office/powerpoint/2010/main" val="17830242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1561AC-27BA-62F4-C45B-18895A8DCDE0}"/>
              </a:ext>
            </a:extLst>
          </p:cNvPr>
          <p:cNvSpPr txBox="1">
            <a:spLocks/>
          </p:cNvSpPr>
          <p:nvPr/>
        </p:nvSpPr>
        <p:spPr>
          <a:xfrm>
            <a:off x="1199706" y="202094"/>
            <a:ext cx="5429694" cy="7631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7.1 Comprehensive Safety Portfolio</a:t>
            </a:r>
            <a:endParaRPr lang="en-GB" dirty="0"/>
          </a:p>
        </p:txBody>
      </p:sp>
      <p:graphicFrame>
        <p:nvGraphicFramePr>
          <p:cNvPr id="4" name="表格 3">
            <a:extLst>
              <a:ext uri="{FF2B5EF4-FFF2-40B4-BE49-F238E27FC236}">
                <a16:creationId xmlns:a16="http://schemas.microsoft.com/office/drawing/2014/main" id="{016F9A58-1371-11DA-73CB-69D1CC3117BB}"/>
              </a:ext>
            </a:extLst>
          </p:cNvPr>
          <p:cNvGraphicFramePr>
            <a:graphicFrameLocks noGrp="1"/>
          </p:cNvGraphicFramePr>
          <p:nvPr>
            <p:extLst>
              <p:ext uri="{D42A27DB-BD31-4B8C-83A1-F6EECF244321}">
                <p14:modId xmlns:p14="http://schemas.microsoft.com/office/powerpoint/2010/main" val="4251849043"/>
              </p:ext>
            </p:extLst>
          </p:nvPr>
        </p:nvGraphicFramePr>
        <p:xfrm>
          <a:off x="442913" y="1649783"/>
          <a:ext cx="8963555" cy="4022884"/>
        </p:xfrm>
        <a:graphic>
          <a:graphicData uri="http://schemas.openxmlformats.org/drawingml/2006/table">
            <a:tbl>
              <a:tblPr firstRow="1" firstCol="1" bandRow="1"/>
              <a:tblGrid>
                <a:gridCol w="1530031">
                  <a:extLst>
                    <a:ext uri="{9D8B030D-6E8A-4147-A177-3AD203B41FA5}">
                      <a16:colId xmlns:a16="http://schemas.microsoft.com/office/drawing/2014/main" val="2293345820"/>
                    </a:ext>
                  </a:extLst>
                </a:gridCol>
                <a:gridCol w="1840801">
                  <a:extLst>
                    <a:ext uri="{9D8B030D-6E8A-4147-A177-3AD203B41FA5}">
                      <a16:colId xmlns:a16="http://schemas.microsoft.com/office/drawing/2014/main" val="1417945617"/>
                    </a:ext>
                  </a:extLst>
                </a:gridCol>
                <a:gridCol w="2574627">
                  <a:extLst>
                    <a:ext uri="{9D8B030D-6E8A-4147-A177-3AD203B41FA5}">
                      <a16:colId xmlns:a16="http://schemas.microsoft.com/office/drawing/2014/main" val="3478997562"/>
                    </a:ext>
                  </a:extLst>
                </a:gridCol>
                <a:gridCol w="3018096">
                  <a:extLst>
                    <a:ext uri="{9D8B030D-6E8A-4147-A177-3AD203B41FA5}">
                      <a16:colId xmlns:a16="http://schemas.microsoft.com/office/drawing/2014/main" val="520372900"/>
                    </a:ext>
                  </a:extLst>
                </a:gridCol>
              </a:tblGrid>
              <a:tr h="485173">
                <a:tc>
                  <a:txBody>
                    <a:bodyPr/>
                    <a:lstStyle/>
                    <a:p>
                      <a:pPr algn="l"/>
                      <a:r>
                        <a:rPr lang="en-US" sz="12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Claim / Risk Area</a:t>
                      </a:r>
                      <a:endParaRPr lang="zh-CN" sz="1050" b="1" kern="10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r>
                        <a:rPr lang="en-US" sz="12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Robustness Level</a:t>
                      </a:r>
                      <a:endParaRPr lang="zh-CN" sz="1050" b="1" kern="10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r>
                        <a:rPr lang="en-US" sz="1200" b="1" kern="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Key requirement</a:t>
                      </a:r>
                      <a:endParaRPr lang="zh-CN" sz="1050" b="1" kern="10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algn="ctr"/>
                      <a:r>
                        <a:rPr lang="en-US" sz="1200" b="1" kern="0" dirty="0">
                          <a:solidFill>
                            <a:srgbClr val="000000"/>
                          </a:solidFill>
                          <a:effectLst/>
                          <a:highlight>
                            <a:srgbClr val="BFBFBF"/>
                          </a:highlight>
                          <a:latin typeface="Times New Roman" panose="02020603050405020304" pitchFamily="18" charset="0"/>
                          <a:ea typeface="宋体" panose="02010600030101010101" pitchFamily="2" charset="-122"/>
                          <a:cs typeface="Times New Roman" panose="02020603050405020304" pitchFamily="18" charset="0"/>
                        </a:rPr>
                        <a:t>Core Supporting Evidence </a:t>
                      </a:r>
                      <a:endParaRPr lang="zh-CN" sz="1050" b="1" kern="100" dirty="0">
                        <a:effectLst/>
                        <a:highlight>
                          <a:srgbClr val="BFBFBF"/>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239094077"/>
                  </a:ext>
                </a:extLst>
              </a:tr>
              <a:tr h="711697">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GRC Reduction</a:t>
                      </a:r>
                      <a:endParaRPr lang="zh-CN" sz="1050" b="1"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ct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High (M1A)</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Route planning strictly avoids densely populated areas.</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Route Map, Route Planning SOP.</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7651456"/>
                  </a:ext>
                </a:extLst>
              </a:tr>
              <a:tr h="1186161">
                <a:tc>
                  <a:txBody>
                    <a:bodyPr/>
                    <a:lstStyle/>
                    <a:p>
                      <a:pPr algn="l"/>
                      <a:r>
                        <a:rPr lang="en-US" sz="12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ARC Reduction</a:t>
                      </a:r>
                      <a:endParaRPr lang="zh-CN" sz="1050" b="1" kern="100" dirty="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ct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Medium/High (Strategic Mitigation)</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Flight plan must be submitted to Air Traffic Management (CAD/ANSP), utilize UTM system.</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Flight Permit, UTM System Integration Proof.</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77823330"/>
                  </a:ext>
                </a:extLst>
              </a:tr>
              <a:tr h="1037891">
                <a:tc>
                  <a:txBody>
                    <a:bodyPr/>
                    <a:lstStyle/>
                    <a:p>
                      <a:pPr algn="l"/>
                      <a:r>
                        <a:rPr lang="en-US" sz="1200" b="1" kern="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Technical Assurance</a:t>
                      </a:r>
                      <a:endParaRPr lang="zh-CN" sz="1050" b="1" kern="10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ctr"/>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Basic (SAIL II)</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Key systems (power supply, C3 Link) require backup, implement geofencing.</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Manufacturer Design Documents, C3 Link Compliance Records, Geofencing Test.</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464699"/>
                  </a:ext>
                </a:extLst>
              </a:tr>
              <a:tr h="601962">
                <a:tc>
                  <a:txBody>
                    <a:bodyPr/>
                    <a:lstStyle/>
                    <a:p>
                      <a:pPr algn="l"/>
                      <a:r>
                        <a:rPr lang="en-US" sz="1200" b="1" kern="0" dirty="0">
                          <a:solidFill>
                            <a:srgbClr val="000000"/>
                          </a:solidFill>
                          <a:effectLst/>
                          <a:highlight>
                            <a:srgbClr val="DCE6F1"/>
                          </a:highlight>
                          <a:latin typeface="Times New Roman" panose="02020603050405020304" pitchFamily="18" charset="0"/>
                          <a:ea typeface="宋体" panose="02010600030101010101" pitchFamily="2" charset="-122"/>
                          <a:cs typeface="Times New Roman" panose="02020603050405020304" pitchFamily="18" charset="0"/>
                        </a:rPr>
                        <a:t>Operational Capability</a:t>
                      </a:r>
                      <a:endParaRPr lang="zh-CN" sz="1050" b="1" kern="100" dirty="0">
                        <a:effectLst/>
                        <a:highlight>
                          <a:srgbClr val="DCE6F1"/>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CE6F1"/>
                    </a:solidFill>
                  </a:tcPr>
                </a:tc>
                <a:tc>
                  <a:txBody>
                    <a:bodyPr/>
                    <a:lstStyle/>
                    <a:p>
                      <a:pPr algn="ctr"/>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Low (L)</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Operator/VO receive sufficient training, define safe environmental conditions.</a:t>
                      </a: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r>
                        <a:rPr lang="en-US" sz="1200" kern="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Training Records, Flight Manual (Wind speed limit &lt; 10.8 m/s).</a:t>
                      </a: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02367393"/>
                  </a:ext>
                </a:extLst>
              </a:tr>
            </a:tbl>
          </a:graphicData>
        </a:graphic>
      </p:graphicFrame>
      <p:sp>
        <p:nvSpPr>
          <p:cNvPr id="5" name="文本框 4">
            <a:extLst>
              <a:ext uri="{FF2B5EF4-FFF2-40B4-BE49-F238E27FC236}">
                <a16:creationId xmlns:a16="http://schemas.microsoft.com/office/drawing/2014/main" id="{2E2959A4-38EE-F4BE-F2C2-011E25705470}"/>
              </a:ext>
            </a:extLst>
          </p:cNvPr>
          <p:cNvSpPr txBox="1"/>
          <p:nvPr/>
        </p:nvSpPr>
        <p:spPr>
          <a:xfrm>
            <a:off x="442913" y="1016000"/>
            <a:ext cx="10657754" cy="400110"/>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Safety Claims and Derived Requirements</a:t>
            </a:r>
          </a:p>
        </p:txBody>
      </p:sp>
    </p:spTree>
    <p:extLst>
      <p:ext uri="{BB962C8B-B14F-4D97-AF65-F5344CB8AC3E}">
        <p14:creationId xmlns:p14="http://schemas.microsoft.com/office/powerpoint/2010/main" val="13293261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5D8897D6-3E62-C7F8-2BB3-8F72374C5003}"/>
              </a:ext>
            </a:extLst>
          </p:cNvPr>
          <p:cNvSpPr txBox="1">
            <a:spLocks/>
          </p:cNvSpPr>
          <p:nvPr/>
        </p:nvSpPr>
        <p:spPr>
          <a:xfrm>
            <a:off x="1199706" y="202094"/>
            <a:ext cx="5429694" cy="763106"/>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r>
              <a:rPr lang="en-US" altLang="zh-CN" dirty="0"/>
              <a:t>7.2 Conclusion</a:t>
            </a:r>
            <a:endParaRPr lang="en-GB" dirty="0"/>
          </a:p>
        </p:txBody>
      </p:sp>
      <p:sp>
        <p:nvSpPr>
          <p:cNvPr id="8" name="文本框 7">
            <a:extLst>
              <a:ext uri="{FF2B5EF4-FFF2-40B4-BE49-F238E27FC236}">
                <a16:creationId xmlns:a16="http://schemas.microsoft.com/office/drawing/2014/main" id="{8347FB0B-CAF0-2D50-9AB4-46481CD028B0}"/>
              </a:ext>
            </a:extLst>
          </p:cNvPr>
          <p:cNvSpPr txBox="1"/>
          <p:nvPr/>
        </p:nvSpPr>
        <p:spPr>
          <a:xfrm>
            <a:off x="442913" y="1016000"/>
            <a:ext cx="10657754" cy="1631216"/>
          </a:xfrm>
          <a:prstGeom prst="rect">
            <a:avLst/>
          </a:prstGeom>
          <a:noFill/>
        </p:spPr>
        <p:txBody>
          <a:bodyPr wrap="square" rtlCol="0">
            <a:spAutoFit/>
          </a:bodyPr>
          <a:lstStyle/>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Safety Conclusion:</a:t>
            </a:r>
          </a:p>
          <a:p>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The proposed BVLOS operation for AED delivery is safe and compliant with JARUS SORA 2.5 and HK CAD regulations.</a:t>
            </a:r>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2000" b="1" kern="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Future Outlook:</a:t>
            </a:r>
          </a:p>
        </p:txBody>
      </p:sp>
      <p:sp>
        <p:nvSpPr>
          <p:cNvPr id="9" name="矩形: 圆角 8">
            <a:extLst>
              <a:ext uri="{FF2B5EF4-FFF2-40B4-BE49-F238E27FC236}">
                <a16:creationId xmlns:a16="http://schemas.microsoft.com/office/drawing/2014/main" id="{F94EB8A0-06AA-B2B5-FDD4-778E00C87A09}"/>
              </a:ext>
            </a:extLst>
          </p:cNvPr>
          <p:cNvSpPr/>
          <p:nvPr/>
        </p:nvSpPr>
        <p:spPr>
          <a:xfrm>
            <a:off x="442913" y="3019893"/>
            <a:ext cx="2993306" cy="2405693"/>
          </a:xfrm>
          <a:prstGeom prst="roundRect">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Model Replication:</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 Expand this proven safety model to other coastal and suburban emergency logistics networks in Hong Kong.</a:t>
            </a: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圆角 11">
            <a:extLst>
              <a:ext uri="{FF2B5EF4-FFF2-40B4-BE49-F238E27FC236}">
                <a16:creationId xmlns:a16="http://schemas.microsoft.com/office/drawing/2014/main" id="{3A428F8B-518A-9A2B-3385-26944D9302F6}"/>
              </a:ext>
            </a:extLst>
          </p:cNvPr>
          <p:cNvSpPr/>
          <p:nvPr/>
        </p:nvSpPr>
        <p:spPr>
          <a:xfrm>
            <a:off x="4004260" y="3019894"/>
            <a:ext cx="2993306" cy="2405693"/>
          </a:xfrm>
          <a:prstGeom prst="roundRect">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Service Expansion: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Extend from AED delivery to other critical medical supplies (e.g., blood, vaccines, essential drugs).</a:t>
            </a:r>
          </a:p>
          <a:p>
            <a:pPr algn="ctr"/>
            <a:endParaRPr lang="zh-CN" altLang="en-US" sz="2000" kern="0" dirty="0" err="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矩形: 圆角 12">
            <a:extLst>
              <a:ext uri="{FF2B5EF4-FFF2-40B4-BE49-F238E27FC236}">
                <a16:creationId xmlns:a16="http://schemas.microsoft.com/office/drawing/2014/main" id="{43E03485-D5D0-EBAC-5AC4-699C28D3B83F}"/>
              </a:ext>
            </a:extLst>
          </p:cNvPr>
          <p:cNvSpPr/>
          <p:nvPr/>
        </p:nvSpPr>
        <p:spPr>
          <a:xfrm>
            <a:off x="7565607" y="3024743"/>
            <a:ext cx="2993306" cy="2405693"/>
          </a:xfrm>
          <a:prstGeom prst="roundRect">
            <a:avLst/>
          </a:prstGeom>
          <a:solidFill>
            <a:srgbClr val="EDBA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kern="0" dirty="0">
                <a:latin typeface="Times New Roman" panose="02020603050405020304" pitchFamily="18" charset="0"/>
                <a:ea typeface="宋体" panose="02010600030101010101" pitchFamily="2" charset="-122"/>
                <a:cs typeface="Times New Roman" panose="02020603050405020304" pitchFamily="18" charset="0"/>
              </a:rPr>
              <a:t>Technology Evolution: </a:t>
            </a:r>
            <a:r>
              <a:rPr lang="en-US" altLang="zh-CN" sz="2000" kern="0" dirty="0">
                <a:latin typeface="Times New Roman" panose="02020603050405020304" pitchFamily="18" charset="0"/>
                <a:ea typeface="宋体" panose="02010600030101010101" pitchFamily="2" charset="-122"/>
                <a:cs typeface="Times New Roman" panose="02020603050405020304" pitchFamily="18" charset="0"/>
              </a:rPr>
              <a:t>Integrate AI-based trajectory planning and UTM interaction for higher-density, autonomous urban air operations</a:t>
            </a:r>
          </a:p>
          <a:p>
            <a:pPr algn="ctr"/>
            <a:endParaRPr lang="zh-CN" altLang="en-US" sz="2000" b="1" dirty="0" err="1">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6730462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7A0736F-FF9B-61A4-990B-ED573A1D54CB}"/>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66000"/>
                    </a14:imgEffect>
                    <a14:imgEffect>
                      <a14:brightnessContrast bright="20000" contrast="-40000"/>
                    </a14:imgEffect>
                  </a14:imgLayer>
                </a14:imgProps>
              </a:ext>
              <a:ext uri="{28A0092B-C50C-407E-A947-70E740481C1C}">
                <a14:useLocalDpi xmlns:a14="http://schemas.microsoft.com/office/drawing/2010/main" val="0"/>
              </a:ext>
            </a:extLst>
          </a:blip>
          <a:srcRect l="870" t="6143" r="870" b="38587"/>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86A2771F-1914-A6B3-6561-8DD8E13DFA47}"/>
              </a:ext>
            </a:extLst>
          </p:cNvPr>
          <p:cNvSpPr/>
          <p:nvPr/>
        </p:nvSpPr>
        <p:spPr>
          <a:xfrm>
            <a:off x="0" y="0"/>
            <a:ext cx="12192000" cy="6858000"/>
          </a:xfrm>
          <a:prstGeom prst="rect">
            <a:avLst/>
          </a:prstGeom>
          <a:solidFill>
            <a:schemeClr val="tx1">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1">
            <a:extLst>
              <a:ext uri="{FF2B5EF4-FFF2-40B4-BE49-F238E27FC236}">
                <a16:creationId xmlns:a16="http://schemas.microsoft.com/office/drawing/2014/main" id="{51B7D940-C4BE-A7FB-CF06-40D774AC7262}"/>
              </a:ext>
            </a:extLst>
          </p:cNvPr>
          <p:cNvSpPr txBox="1">
            <a:spLocks/>
          </p:cNvSpPr>
          <p:nvPr/>
        </p:nvSpPr>
        <p:spPr>
          <a:xfrm>
            <a:off x="0" y="5835546"/>
            <a:ext cx="12192000" cy="727804"/>
          </a:xfrm>
          <a:prstGeom prst="rect">
            <a:avLst/>
          </a:prstGeom>
        </p:spPr>
        <p:txBody>
          <a:bodyPr vert="horz" lIns="91440" tIns="45721" rIns="91440" bIns="45721" rtlCol="0" anchor="ctr">
            <a:normAutofit/>
          </a:bodyPr>
          <a:lstStyle>
            <a:defPPr>
              <a:defRPr lang="en-US"/>
            </a:defPPr>
            <a:lvl1pPr defTabSz="914422">
              <a:lnSpc>
                <a:spcPct val="90000"/>
              </a:lnSpc>
              <a:spcBef>
                <a:spcPct val="0"/>
              </a:spcBef>
              <a:buNone/>
              <a:defRPr sz="2400" b="1">
                <a:solidFill>
                  <a:srgbClr val="9B1E23"/>
                </a:solidFill>
                <a:latin typeface="Times New Roman" panose="02020603050405020304" pitchFamily="18" charset="0"/>
                <a:ea typeface="字魂105号-简雅黑" panose="00000500000000000000" pitchFamily="2" charset="-122"/>
              </a:defRPr>
            </a:lvl1pPr>
          </a:lstStyle>
          <a:p>
            <a:pPr algn="ctr"/>
            <a:r>
              <a:rPr lang="en-US" altLang="zh-CN" sz="3200" dirty="0">
                <a:solidFill>
                  <a:schemeClr val="bg1"/>
                </a:solidFill>
              </a:rPr>
              <a:t>Thanks for watching</a:t>
            </a:r>
            <a:endParaRPr lang="en-GB" sz="3200" dirty="0">
              <a:solidFill>
                <a:schemeClr val="bg1"/>
              </a:solidFill>
            </a:endParaRPr>
          </a:p>
        </p:txBody>
      </p:sp>
    </p:spTree>
    <p:extLst>
      <p:ext uri="{BB962C8B-B14F-4D97-AF65-F5344CB8AC3E}">
        <p14:creationId xmlns:p14="http://schemas.microsoft.com/office/powerpoint/2010/main" val="40292152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07*337"/>
  <p:tag name="TABLE_ENDDRAG_RECT" val="495*130*407*337"/>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DBA7D"/>
        </a:solidFill>
        <a:ln>
          <a:noFill/>
        </a:ln>
      </a:spPr>
      <a:bodyPr rtlCol="0" anchor="ctr"/>
      <a:lstStyle>
        <a:defPPr algn="ctr">
          <a:defRPr sz="2000" b="1" dirty="0" err="1" smtClean="0">
            <a:latin typeface="Times New Roman" panose="02020603050405020304" pitchFamily="18" charset="0"/>
            <a:ea typeface="微软雅黑" panose="020B0503020204020204" pitchFamily="34" charset="-122"/>
            <a:cs typeface="Times New Roman" panose="020206030504050203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473</TotalTime>
  <Words>5734</Words>
  <Application>Microsoft Office PowerPoint</Application>
  <PresentationFormat>宽屏</PresentationFormat>
  <Paragraphs>677</Paragraphs>
  <Slides>61</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61</vt:i4>
      </vt:variant>
    </vt:vector>
  </HeadingPairs>
  <TitlesOfParts>
    <vt:vector size="71" baseType="lpstr">
      <vt:lpstr>quote-cjk-patch</vt:lpstr>
      <vt:lpstr>等线</vt:lpstr>
      <vt:lpstr>等线 Light</vt:lpstr>
      <vt:lpstr>微软雅黑</vt:lpstr>
      <vt:lpstr>Arial</vt:lpstr>
      <vt:lpstr>Calibri</vt:lpstr>
      <vt:lpstr>Segoe UI Symbol</vt:lpstr>
      <vt:lpstr>Times New Roman</vt:lpstr>
      <vt:lpstr>Wingdings</vt:lpstr>
      <vt:lpstr>WPS</vt:lpstr>
      <vt:lpstr>SORA 2.5 for Emergency BVLOS SUA Operations between  Tseung Kwun O Hospital and Sai Kung Area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SORA 2.5 for Emergency BVLOS SUA Operations between Tseung Kwun O Hospital and Sai Kung Area</dc:title>
  <dc:creator>ziyi huang</dc:creator>
  <cp:lastModifiedBy>怡萱 颜</cp:lastModifiedBy>
  <cp:revision>51</cp:revision>
  <dcterms:created xsi:type="dcterms:W3CDTF">2023-08-09T12:44:00Z</dcterms:created>
  <dcterms:modified xsi:type="dcterms:W3CDTF">2025-11-10T04:09:56Z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37A0D49BFF9448D0A5860BDFDCB6AD28_13</vt:lpwstr>
  </property>
</Properties>
</file>